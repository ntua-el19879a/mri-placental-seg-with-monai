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595" r:id="rId1"/>
  </p:sldMasterIdLst>
  <p:notesMasterIdLst>
    <p:notesMasterId r:id="rId30"/>
  </p:notesMasterIdLst>
  <p:sldIdLst>
    <p:sldId id="256" r:id="rId2"/>
    <p:sldId id="282" r:id="rId3"/>
    <p:sldId id="283" r:id="rId4"/>
    <p:sldId id="259" r:id="rId5"/>
    <p:sldId id="257" r:id="rId6"/>
    <p:sldId id="258" r:id="rId7"/>
    <p:sldId id="284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80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1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Dice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UNETR</c:v>
                </c:pt>
                <c:pt idx="1">
                  <c:v>U-Net</c:v>
                </c:pt>
                <c:pt idx="2">
                  <c:v>DynUNet</c:v>
                </c:pt>
                <c:pt idx="3">
                  <c:v>Swin (L)</c:v>
                </c:pt>
                <c:pt idx="4">
                  <c:v>Swin (H)</c:v>
                </c:pt>
                <c:pt idx="5">
                  <c:v>Att U-Net</c:v>
                </c:pt>
                <c:pt idx="6">
                  <c:v>SegRes (L)</c:v>
                </c:pt>
                <c:pt idx="7">
                  <c:v>SegRes (H)</c:v>
                </c:pt>
                <c:pt idx="8">
                  <c:v>SegMamba (L)</c:v>
                </c:pt>
                <c:pt idx="9">
                  <c:v>SegMamba (H)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0.77200000000000002</c:v>
                </c:pt>
                <c:pt idx="1">
                  <c:v>0.82299999999999995</c:v>
                </c:pt>
                <c:pt idx="2">
                  <c:v>0.84599999999999997</c:v>
                </c:pt>
                <c:pt idx="3">
                  <c:v>0.84899999999999998</c:v>
                </c:pt>
                <c:pt idx="4">
                  <c:v>0.84970000000000001</c:v>
                </c:pt>
                <c:pt idx="5">
                  <c:v>0.85099999999999998</c:v>
                </c:pt>
                <c:pt idx="6">
                  <c:v>0.85899999999999999</c:v>
                </c:pt>
                <c:pt idx="7">
                  <c:v>0.86009999999999998</c:v>
                </c:pt>
                <c:pt idx="8">
                  <c:v>0.85809999999999997</c:v>
                </c:pt>
                <c:pt idx="9">
                  <c:v>0.86060000000000003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19-A943-A4E5-415F894AAA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8"/>
          <c:min val="0.7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UNETR</c:v>
                </c:pt>
                <c:pt idx="1">
                  <c:v>U-Net</c:v>
                </c:pt>
                <c:pt idx="2">
                  <c:v>DynUNet</c:v>
                </c:pt>
                <c:pt idx="3">
                  <c:v>Swin (L)</c:v>
                </c:pt>
                <c:pt idx="4">
                  <c:v>Swin (H)</c:v>
                </c:pt>
                <c:pt idx="5">
                  <c:v>Att U-Net</c:v>
                </c:pt>
                <c:pt idx="6">
                  <c:v>SegRes (L)</c:v>
                </c:pt>
                <c:pt idx="7">
                  <c:v>SegRes (H)</c:v>
                </c:pt>
                <c:pt idx="8">
                  <c:v>SegMamba (L)</c:v>
                </c:pt>
                <c:pt idx="9">
                  <c:v>SegMamba (H)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2.8946999999999998</c:v>
                </c:pt>
                <c:pt idx="1">
                  <c:v>0.76690000000000003</c:v>
                </c:pt>
                <c:pt idx="2">
                  <c:v>2.8666999999999998</c:v>
                </c:pt>
                <c:pt idx="3">
                  <c:v>6</c:v>
                </c:pt>
                <c:pt idx="4">
                  <c:v>8.6999999999999993</c:v>
                </c:pt>
                <c:pt idx="5">
                  <c:v>1.6203000000000001</c:v>
                </c:pt>
                <c:pt idx="6">
                  <c:v>4.4760999999999997</c:v>
                </c:pt>
                <c:pt idx="7">
                  <c:v>9.7786000000000008</c:v>
                </c:pt>
                <c:pt idx="8">
                  <c:v>5.1224999999999996</c:v>
                </c:pt>
                <c:pt idx="9">
                  <c:v>5.0252999999999997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D2-934D-A921-AF42BF8D39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6575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06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648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80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51639-B2D6-4652-B8C3-1B4C224A7BAF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4289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1381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961B7-6B89-48AB-966F-622E2788EECC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40936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01808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98153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5303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64066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5298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78339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8639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998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274207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68032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90943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29563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0761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94031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6111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smtClean="0"/>
              <a:t>2/20/26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2193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596" r:id="rId1"/>
    <p:sldLayoutId id="2147484597" r:id="rId2"/>
    <p:sldLayoutId id="2147484598" r:id="rId3"/>
    <p:sldLayoutId id="2147484599" r:id="rId4"/>
    <p:sldLayoutId id="2147484600" r:id="rId5"/>
    <p:sldLayoutId id="2147484601" r:id="rId6"/>
    <p:sldLayoutId id="2147484602" r:id="rId7"/>
    <p:sldLayoutId id="2147484603" r:id="rId8"/>
    <p:sldLayoutId id="2147484604" r:id="rId9"/>
    <p:sldLayoutId id="2147484605" r:id="rId10"/>
    <p:sldLayoutId id="2147484606" r:id="rId11"/>
    <p:sldLayoutId id="2147484607" r:id="rId12"/>
    <p:sldLayoutId id="2147484608" r:id="rId13"/>
    <p:sldLayoutId id="2147484609" r:id="rId14"/>
    <p:sldLayoutId id="2147484610" r:id="rId15"/>
    <p:sldLayoutId id="2147484611" r:id="rId16"/>
    <p:sldLayoutId id="2147484612" r:id="rId17"/>
    <p:sldLayoutId id="2147484613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7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e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Relationship Id="rId5" Type="http://schemas.openxmlformats.org/officeDocument/2006/relationships/chart" Target="../charts/chart2.xml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openxmlformats.org/officeDocument/2006/relationships" xmlns:ns4="http://schemas.microsoft.com/office/drawing/2010/main">
  <ns0:cSld name="Slide 1"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227004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  <ns0:txBody>
          <a:bodyPr/>
          <a:lstStyle/>
          <a:p>
            <a:endParaRPr lang="en-US" dirty="0"/>
          </a:p>
        </ns0:txBody>
      </ns0:sp>
      <ns0:sp>
        <ns0:nvSpPr>
          <ns0:cNvPr id="3" name="Shape 1"/>
          <ns0:cNvSpPr/>
          <ns0:nvPr/>
        </ns0:nvSpPr>
        <ns0:spPr>
          <a:xfrm>
            <a:off x="0" y="1170430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502920"/>
            <a:ext cx="109728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l-GR" sz="1600" dirty="0">
                <a:solidFill>
                  <a:srgbClr val="B6C2D9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Διπλωματική Εργασία</a:t>
            </a:r>
            <a:endParaRPr lang="en-US" sz="1600" dirty="0">
              <a:latin typeface="Century Gothic" panose="020B0502020202020204" pitchFamily="34" charset="0"/>
            </a:endParaRPr>
          </a:p>
        </ns0:txBody>
      </ns0:sp>
      <ns0:sp>
        <ns0:nvSpPr>
          <ns0:cNvPr id="5" name="Text 3"/>
          <ns0:cNvSpPr/>
          <ns0:nvPr/>
        </ns0:nvSpPr>
        <ns0:spPr>
          <a:xfrm>
            <a:off x="731520" y="1488453"/>
            <a:ext cx="11018520" cy="1603466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r>
              <a:rPr lang="en-US" sz="3600" b="0" i="0" u="none" strike="noStrike" dirty="0">
                <a:effectLst/>
                <a:latin typeface="+mj-lt"/>
              </a:rPr>
              <a:t>Τμηματοποίηση Πλακούντα σε MRI με τεχνικές Deep Learning</a:t>
            </a:r>
            <a:endParaRPr lang="en-US" sz="3600" dirty="0">
              <a:latin typeface="+mj-lt"/>
            </a:endParaRPr>
          </a:p>
        </ns0:txBody>
      </ns0:sp>
      <ns0:sp>
        <ns0:nvSpPr>
          <ns0:cNvPr id="7" name="Text 5"/>
          <ns0:cNvSpPr/>
          <ns0:nvPr/>
        </ns0:nvSpPr>
        <ns0:spPr>
          <a:xfrm>
            <a:off x="731520" y="6263640"/>
            <a:ext cx="1097280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l-GR" sz="1400" dirty="0">
                <a:solidFill>
                  <a:srgbClr val="B6C2D9"/>
                </a:solidFill>
                <a:ea typeface="Calibri" pitchFamily="34" charset="-122"/>
                <a:cs typeface="Calibri" pitchFamily="34" charset="-120"/>
              </a:rPr>
              <a:t>Γρηγόριος </a:t>
            </a:r>
            <a:r>
              <a:rPr lang="el-GR" sz="1400" dirty="0" err="1">
                <a:solidFill>
                  <a:srgbClr val="B6C2D9"/>
                </a:solidFill>
                <a:ea typeface="Calibri" pitchFamily="34" charset="-122"/>
                <a:cs typeface="Calibri" pitchFamily="34" charset="-120"/>
              </a:rPr>
              <a:t>Τσένος</a:t>
            </a:r>
            <a:r>
              <a:rPr lang="en-US" sz="1400" dirty="0">
                <a:solidFill>
                  <a:srgbClr val="B6C2D9"/>
                </a:solidFill>
                <a:ea typeface="Calibri" pitchFamily="34" charset="-122"/>
                <a:cs typeface="Calibri" pitchFamily="34" charset="-120"/>
              </a:rPr>
              <a:t>| </a:t>
            </a:r>
            <a:r>
              <a:rPr lang="el-GR" sz="1400" dirty="0">
                <a:solidFill>
                  <a:srgbClr val="B6C2D9"/>
                </a:solidFill>
                <a:ea typeface="Calibri" pitchFamily="34" charset="-122"/>
                <a:cs typeface="Calibri" pitchFamily="34" charset="-120"/>
              </a:rPr>
              <a:t>ΕΜΠ</a:t>
            </a:r>
            <a:r>
              <a:rPr lang="en-US" sz="1400" dirty="0">
                <a:solidFill>
                  <a:srgbClr val="B6C2D9"/>
                </a:solidFill>
                <a:ea typeface="Calibri" pitchFamily="34" charset="-122"/>
                <a:cs typeface="Calibri" pitchFamily="34" charset="-120"/>
              </a:rPr>
              <a:t> | 2026</a:t>
            </a:r>
            <a:endParaRPr lang="en-US" sz="1400" dirty="0"/>
          </a:p>
        </ns0:txBody>
      </ns0:sp>
      <ns0:sp>
        <ns0:nvSpPr>
          <ns0:cNvPr id="8" name="Text 4">
            <a:extLst>
              <a:ext uri="{FF2B5EF4-FFF2-40B4-BE49-F238E27FC236}">
                <ns2:creationId id="{89009E3B-7AF8-CE31-3698-8E8CA5A81663}"/>
              </a:ext>
            </a:extLst>
          </ns0:cNvPr>
          <ns0:cNvSpPr/>
          <ns0:nvPr/>
        </ns0:nvSpPr>
        <ns0:spPr>
          <a:xfrm>
            <a:off x="685800" y="3708542"/>
            <a:ext cx="658368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l-GR" dirty="0">
                <a:solidFill>
                  <a:srgbClr val="2DD4BF"/>
                </a:solidFill>
                <a:cs typeface="Calibri" pitchFamily="34" charset="-120"/>
              </a:rPr>
              <a:t>Επιβλέπων</a:t>
            </a:r>
            <a:r>
              <a:rPr lang="en-US" dirty="0">
                <a:solidFill>
                  <a:srgbClr val="2DD4BF"/>
                </a:solidFill>
                <a:cs typeface="Calibri" pitchFamily="34" charset="-120"/>
              </a:rPr>
              <a:t>: </a:t>
            </a:r>
            <a:r>
              <a:rPr lang="el-GR" dirty="0">
                <a:solidFill>
                  <a:srgbClr val="2DD4BF"/>
                </a:solidFill>
                <a:cs typeface="Calibri" pitchFamily="34" charset="-120"/>
              </a:rPr>
              <a:t>Γεώργιος </a:t>
            </a:r>
            <a:r>
              <a:rPr lang="el-GR" dirty="0" err="1">
                <a:solidFill>
                  <a:srgbClr val="2DD4BF"/>
                </a:solidFill>
                <a:cs typeface="Calibri" pitchFamily="34" charset="-120"/>
              </a:rPr>
              <a:t>Ματσόπουλος</a:t>
            </a:r>
            <a:r>
              <a:rPr lang="en-US" dirty="0">
                <a:solidFill>
                  <a:srgbClr val="2DD4BF"/>
                </a:solidFill>
                <a:cs typeface="Calibri" pitchFamily="34" charset="-120"/>
              </a:rPr>
              <a:t>, </a:t>
            </a:r>
            <a:r>
              <a:rPr lang="el-GR" dirty="0">
                <a:solidFill>
                  <a:srgbClr val="2DD4BF"/>
                </a:solidFill>
                <a:cs typeface="Calibri" pitchFamily="34" charset="-120"/>
              </a:rPr>
              <a:t>Καθηγητής, ΕΜΠ</a:t>
            </a:r>
          </a:p>
        </ns0:txBody>
      </ns0:sp>
      <ns0:sp>
        <ns0:nvSpPr>
          <ns0:cNvPr id="9" name="Text 4">
            <a:extLst>
              <a:ext uri="{FF2B5EF4-FFF2-40B4-BE49-F238E27FC236}">
                <ns2:creationId id="{27F2C68B-1605-C203-01ED-F312C09C9237}"/>
              </a:ext>
            </a:extLst>
          </ns0:cNvPr>
          <ns0:cNvSpPr/>
          <ns0:nvPr/>
        </ns0:nvSpPr>
        <ns0:spPr>
          <a:xfrm>
            <a:off x="685800" y="4690925"/>
            <a:ext cx="1106424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DD4BF"/>
                </a:solidFill>
                <a:cs typeface="Calibri" pitchFamily="34" charset="-120"/>
              </a:rPr>
              <a:t>Σχολή Ηλεκτρολόγων Μηχανικών και Μηχανικών Υπολογιστών, ΕΜΠ</a:t>
            </a:r>
            <a:endParaRPr lang="el-GR" dirty="0">
              <a:solidFill>
                <a:srgbClr val="2DD4BF"/>
              </a:solidFill>
              <a:cs typeface="Calibri" pitchFamily="34" charset="-120"/>
            </a:endParaRPr>
          </a:p>
        </ns0:txBody>
      </ns0:sp>
      <ns0:sp>
        <ns0:nvSpPr>
          <ns0:cNvPr id="10" name="TextBox 9">
            <a:extLst>
              <a:ext uri="{FF2B5EF4-FFF2-40B4-BE49-F238E27FC236}">
                <ns2:creationId id="{D6641AE4-7DC4-66E4-7BDD-DC20DB3D1EF9}"/>
              </a:ext>
            </a:extLst>
          </ns0:cNvPr>
          <ns0:cNvSpPr txBox="1"/>
          <ns0:nvPr/>
        </ns0:nvSpPr>
        <ns0:spPr>
          <a:xfrm>
            <a:off x="8028000" y="5198400"/>
            <a:ext cx="184731" cy="369332"/>
          </a:xfrm>
          <a:prstGeom prst="rect">
            <a:avLst/>
          </a:prstGeom>
          <a:noFill/>
        </ns0:spPr>
        <ns0:txBody>
          <a:bodyPr wrap="none" rtlCol="0">
            <a:spAutoFit/>
          </a:bodyPr>
          <a:lstStyle/>
          <a:p>
            <a:endParaRPr lang="en-US" dirty="0"/>
          </a:p>
        </ns0:txBody>
      </ns0:sp>
      <ns0:pic>
        <ns0:nvPicPr>
          <ns0:cNvPr id="4098" name="Picture 2" descr="Literature Review] Recent Advances in Medical Imaging Segmentation: A Survey">
            <a:extLst>
              <a:ext uri="{FF2B5EF4-FFF2-40B4-BE49-F238E27FC236}">
                <ns2:creationId id="{B77A20C5-D733-2327-34C5-036575D1B3A1}"/>
              </a:ext>
            </a:extLst>
          </ns0:cNvPr>
          <ns0:cNvPicPr>
            <a:picLocks noChangeAspect="1" noChangeArrowheads="1"/>
          </ns0:cNvPicPr>
          <ns0:nvPr/>
        </ns0:nvPicPr>
        <ns0:blipFill>
          <a:blip ns3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ns0:blipFill>
        <ns0:spPr bwMode="auto">
          <a:xfrm>
            <a:off x="7038312" y="3255484"/>
            <a:ext cx="4467888" cy="2264777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ns0:spPr>
      </ns0:pic>
    </ns0:spTree>
  </ns0:cSld>
  <ns0:clrMapOvr>
    <a:masterClrMapping/>
  </ns0:clrMapOvr>
</ns0:sld>
</file>

<file path=ppt/slides/slide2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305" y="223813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  <ns0:txBody>
          <a:bodyPr/>
          <a:lstStyle/>
          <a:p>
            <a:endParaRPr lang="en-US" dirty="0"/>
          </a:p>
        </ns0:txBody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320040"/>
            <a:ext cx="10515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rtl="0"/>
            <a:r>
              <a:rPr lang="en-US" sz="2800" b="1" i="0" dirty="0">
                <a:solidFill>
                  <a:srgbClr val="F7F8FC"/>
                </a:solidFill>
                <a:effectLst/>
              </a:rPr>
              <a:t>Διάρθρωση Παρουσίασης</a:t>
            </a:r>
          </a:p>
        </ns0:txBody>
      </ns0:sp>
      <ns0:sp>
        <ns0:nvSpPr>
          <ns0:cNvPr id="5" name="Text 3"/>
          <ns0:cNvSpPr/>
          <ns0:nvPr/>
        </ns0:nvSpPr>
        <ns0:spPr>
          <a:xfrm>
            <a:off x="713232" y="822960"/>
            <a:ext cx="1060704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1247120" y="393192"/>
            <a:ext cx="822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l-GR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713232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987552" y="1737360"/>
            <a:ext cx="5394960" cy="429768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FontTx/>
              <a:buChar char="•"/>
            </a:pPr>
            <a:endParaRPr lang="en-US" sz="1800" dirty="0">
              <a:solidFill>
                <a:srgbClr val="FFFFFF"/>
              </a:solidFill>
              <a:cs typeface="Calibri" pitchFamily="34" charset="-120"/>
            </a:endParaRPr>
          </a:p>
          <a:p>
            <a:pPr marL="254000" indent="-254000">
              <a:lnSpc>
                <a:spcPct val="11200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FFFFFF"/>
                </a:solidFill>
                <a:cs typeface="Calibri" pitchFamily="34" charset="-120"/>
              </a:rPr>
              <a:t>Εισαγωγή και Κλινικό Κίνητρο</a:t>
            </a:r>
          </a:p>
          <a:p>
            <a:pPr marL="254000" indent="-254000">
              <a:lnSpc>
                <a:spcPct val="112000"/>
              </a:lnSpc>
              <a:buSzPct val="100000"/>
              <a:buFontTx/>
              <a:buChar char="•"/>
            </a:pPr>
            <a:r>
              <a:rPr lang="en-US" sz="1800" dirty="0">
                <a:solidFill>
                  <a:srgbClr val="FFFFFF"/>
                </a:solidFill>
                <a:cs typeface="Calibri" pitchFamily="34" charset="-120"/>
              </a:rPr>
              <a:t>Theoretical Background (MRI, </a:t>
            </a:r>
            <a:r>
              <a:rPr lang="en-US" dirty="0">
                <a:solidFill>
                  <a:srgbClr val="FFFFFF"/>
                </a:solidFill>
                <a:cs typeface="Calibri" pitchFamily="34" charset="-120"/>
              </a:rPr>
              <a:t>Placenta, Metrics</a:t>
            </a:r>
          </a:p>
          <a:p>
            <a:pPr marL="254000" indent="-254000">
              <a:lnSpc>
                <a:spcPct val="112000"/>
              </a:lnSpc>
              <a:buSzPct val="100000"/>
              <a:buFontTx/>
              <a:buChar char="•"/>
            </a:pPr>
            <a:r>
              <a:rPr lang="en-US" sz="1800" dirty="0">
                <a:solidFill>
                  <a:srgbClr val="FFFFFF"/>
                </a:solidFill>
                <a:cs typeface="Calibri" pitchFamily="34" charset="-120"/>
              </a:rPr>
              <a:t>Αρχιτεκτονικές Deep Learning (CNN, Transformers, Mamba)</a:t>
            </a:r>
          </a:p>
          <a:p>
            <a:pPr marL="254000" indent="-254000">
              <a:lnSpc>
                <a:spcPct val="11200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FFFFFF"/>
                </a:solidFill>
                <a:cs typeface="Calibri" pitchFamily="34" charset="-120"/>
              </a:rPr>
              <a:t>Πειραματικό Πρωτόκολλο (Δεδομένα, Προεπεξεργασία, Εκπαίδευση)</a:t>
            </a:r>
          </a:p>
          <a:p>
            <a:pPr marL="254000" indent="-254000">
              <a:lnSpc>
                <a:spcPct val="112000"/>
              </a:lnSpc>
              <a:buSzPct val="100000"/>
              <a:buFontTx/>
              <a:buChar char="•"/>
            </a:pPr>
            <a:r>
              <a:rPr lang="en-US" sz="1800" dirty="0">
                <a:solidFill>
                  <a:srgbClr val="FFFFFF"/>
                </a:solidFill>
                <a:cs typeface="Calibri" pitchFamily="34" charset="-120"/>
              </a:rPr>
              <a:t>Αποτελέσματα (Ποσοτικά, Ποιοτικά, Χρόνος)</a:t>
            </a:r>
          </a:p>
          <a:p>
            <a:pPr marL="254000" indent="-254000">
              <a:lnSpc>
                <a:spcPct val="11200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FFFFFF"/>
                </a:solidFill>
                <a:cs typeface="Calibri" pitchFamily="34" charset="-120"/>
              </a:rPr>
              <a:t>Συμπεράσματα και Μελλοντική Εργασία</a:t>
            </a:r>
            <a:endParaRPr lang="en-US" sz="1800" dirty="0">
              <a:solidFill>
                <a:srgbClr val="FFFFFF"/>
              </a:solidFill>
              <a:cs typeface="Calibri" pitchFamily="34" charset="-120"/>
            </a:endParaRPr>
          </a:p>
        </ns0:txBody>
      </ns0:sp>
      <ns0:pic>
        <ns0:nvPicPr>
          <ns0:cNvPr id="2050" name="Picture 2" descr="Nanoplastics and microplastics in the human placenta">
            <a:extLst>
              <a:ext uri="{FF2B5EF4-FFF2-40B4-BE49-F238E27FC236}">
                <ns2:creationId id="{BC5D00EB-E65D-D94A-34B5-D480E5DEDFEE}"/>
              </a:ext>
            </a:extLst>
          </ns0:cNvPr>
          <ns0:cNvPicPr>
            <a:picLocks noChangeAspect="1" noChangeArrowheads="1"/>
          </ns0:cNvPicPr>
          <ns0:nvPr/>
        </ns0:nvPicPr>
        <ns0:blipFill>
          <a:blip ns3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ns0:blipFill>
        <ns0:spPr bwMode="auto">
          <a:xfrm>
            <a:off x="7737348" y="2753360"/>
            <a:ext cx="3741420" cy="249428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ns0:spPr>
      </ns0:pic>
    </ns0:spTree>
    <ns0:extLst>
      <ns0:ext uri="{BB962C8B-B14F-4D97-AF65-F5344CB8AC3E}">
        <ns5:creationId val="598113160"/>
      </ns0:ext>
    </ns0:extLst>
  </ns0:cSld>
  <ns0:clrMapOvr>
    <a:masterClrMapping/>
  </ns0:clrMapOvr>
</ns0:sld>
</file>

<file path=ppt/slides/slide3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305" y="223815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  <ns0:txBody>
          <a:bodyPr/>
          <a:lstStyle/>
          <a:p>
            <a:endParaRPr lang="en-US" dirty="0"/>
          </a:p>
        </ns0:txBody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320040"/>
            <a:ext cx="10515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rtl="0"/>
            <a:r>
              <a:rPr lang="en-US" sz="2800" b="1" dirty="0">
                <a:solidFill>
                  <a:srgbClr val="F7F8FC"/>
                </a:solidFill>
              </a:rPr>
              <a:t>Ο Πλακούντας και η Κλινική Σημασία</a:t>
            </a:r>
            <a:endParaRPr lang="en-US" sz="2800" b="1" i="0" dirty="0">
              <a:solidFill>
                <a:srgbClr val="F7F8FC"/>
              </a:solidFill>
              <a:effectLst/>
            </a:endParaRPr>
          </a:p>
        </ns0:txBody>
      </ns0:sp>
      <ns0:sp>
        <ns0:nvSpPr>
          <ns0:cNvPr id="5" name="Text 3"/>
          <ns0:cNvSpPr/>
          <ns0:nvPr/>
        </ns0:nvSpPr>
        <ns0:spPr>
          <a:xfrm>
            <a:off x="713232" y="822960"/>
            <a:ext cx="1060704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1247120" y="393192"/>
            <a:ext cx="822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713232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941832" y="1993128"/>
            <a:ext cx="5394960" cy="4464822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FontTx/>
              <a:buChar char="•"/>
            </a:pPr>
            <a:r>
              <a:rPr lang="en-US" b="1" dirty="0">
                <a:solidFill>
                  <a:srgbClr val="F7F8FC"/>
                </a:solidFill>
                <a:cs typeface="Calibri" pitchFamily="34" charset="-120"/>
              </a:rPr>
              <a:t>Ανάπτυξη</a:t>
            </a:r>
            <a:r>
              <a:rPr lang="en-US" dirty="0">
                <a:solidFill>
                  <a:srgbClr val="F7F8FC"/>
                </a:solidFill>
                <a:cs typeface="Calibri" pitchFamily="34" charset="-120"/>
              </a:rPr>
              <a:t>: από τον τροφοβλάστη της βλαστοκύστης (~7-12 ημέρες μετά τη γονιμοποίηση)</a:t>
            </a:r>
            <a:endParaRPr lang="en-US" sz="1800" dirty="0">
              <a:solidFill>
                <a:srgbClr val="FFFFFF"/>
              </a:solidFill>
              <a:cs typeface="Calibri" pitchFamily="34" charset="-120"/>
            </a:endParaRPr>
          </a:p>
          <a:p>
            <a:pPr marL="254000" indent="-254000">
              <a:lnSpc>
                <a:spcPct val="11200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FFFFFF"/>
                </a:solidFill>
                <a:cs typeface="Calibri" pitchFamily="34" charset="-120"/>
              </a:rPr>
              <a:t>Κρίσιμο όργανο της κύησης (μητρική-εμβρυϊκή διεπιφάνεια)</a:t>
            </a:r>
          </a:p>
          <a:p>
            <a:pPr marL="254000" indent="-254000">
              <a:lnSpc>
                <a:spcPct val="11200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FFFFFF"/>
                </a:solidFill>
                <a:cs typeface="Calibri" pitchFamily="34" charset="-120"/>
              </a:rPr>
              <a:t>Λειτουργίες: ανταλλαγή αερίων, θρεπτικά συστατικά, ενδοκρινικός ρόλος</a:t>
            </a:r>
          </a:p>
          <a:p>
            <a:pPr marL="254000" indent="-254000">
              <a:lnSpc>
                <a:spcPct val="11200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FFFFFF"/>
                </a:solidFill>
                <a:cs typeface="Calibri" pitchFamily="34" charset="-120"/>
              </a:rPr>
              <a:t>Δυσλειτουργία συνδέεται με επιπλοκές (προεκλαμψία, ανώμαλη εμφύτευση, αποβολή)</a:t>
            </a:r>
          </a:p>
          <a:p>
            <a:pPr marL="254000" indent="-254000">
              <a:lnSpc>
                <a:spcPct val="11200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FFFFFF"/>
                </a:solidFill>
                <a:cs typeface="Calibri" pitchFamily="34" charset="-120"/>
              </a:rPr>
              <a:t>Η ποσοτική αξιολόγηση (όγκος, σχήμα) απαιτεί ακριβή τμηματοποίηση</a:t>
            </a:r>
          </a:p>
          <a:p>
            <a:pPr marL="254000" indent="-254000">
              <a:lnSpc>
                <a:spcPct val="112000"/>
              </a:lnSpc>
              <a:buSzPct val="100000"/>
              <a:buFontTx/>
              <a:buChar char="•"/>
            </a:pPr>
            <a:r>
              <a:rPr lang="en-US" dirty="0">
                <a:solidFill>
                  <a:srgbClr val="FFFFFF"/>
                </a:solidFill>
                <a:cs typeface="Calibri" pitchFamily="34" charset="-120"/>
              </a:rPr>
              <a:t>Η χειροκίνητη τμηματοποίηση είναι χρονοβόρα, εξαρτάται από τον παρατηρητή και δεν κλιμακώνεται</a:t>
            </a:r>
          </a:p>
          <a:p>
            <a:pPr>
              <a:lnSpc>
                <a:spcPct val="112000"/>
              </a:lnSpc>
              <a:buSzPct val="100000"/>
            </a:pPr>
            <a:endParaRPr lang="en-US" dirty="0">
              <a:solidFill>
                <a:srgbClr val="FFFFFF"/>
              </a:solidFill>
              <a:cs typeface="Calibri" pitchFamily="34" charset="-120"/>
            </a:endParaRPr>
          </a:p>
        </ns0:txBody>
      </ns0:sp>
      <ns0:sp>
        <ns0:nvSpPr>
          <ns0:cNvPr id="9" name="Shape 7"/>
          <ns0:cNvSpPr/>
          <ns0:nvPr/>
        </ns0:nvSpPr>
        <ns0:spPr>
          <a:xfrm>
            <a:off x="6903720" y="1463040"/>
            <a:ext cx="461772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pic>
        <ns0:nvPicPr>
          <ns0:cNvPr id="11" name="Image 0" descr="/mnt/data/Stages-Placenta.png">
            <a:extLst>
              <a:ext uri="{FF2B5EF4-FFF2-40B4-BE49-F238E27FC236}">
                <ns2:creationId id="{4C4BB85C-95E6-97FA-F7AE-C60E4918004F}"/>
              </a:ext>
            </a:extLst>
          </ns0:cNvPr>
          <ns0:cNvPicPr>
            <a:picLocks noChangeAspect="1"/>
          </ns0:cNvPicPr>
          <ns0:nvPr/>
        </ns0:nvPicPr>
        <ns0:blipFill>
          <a:blip ns3:embed="rId3"/>
          <a:stretch>
            <a:fillRect/>
          </a:stretch>
        </ns0:blipFill>
        <ns0:spPr>
          <a:xfrm>
            <a:off x="7244028" y="1840892"/>
            <a:ext cx="3937104" cy="2000975"/>
          </a:xfrm>
          <a:prstGeom prst="rect">
            <a:avLst/>
          </a:prstGeom>
        </ns0:spPr>
      </ns0:pic>
      <ns0:pic>
        <ns0:nvPicPr>
          <ns0:cNvPr id="12" name="Picture 2" descr="Low-lying placenta at 20 week scan - University Hospitals Sussex NHS  Foundation Trust">
            <a:extLst>
              <a:ext uri="{FF2B5EF4-FFF2-40B4-BE49-F238E27FC236}">
                <ns2:creationId id="{7847235A-EDF2-12B4-6E00-2AE1A99CF59F}"/>
              </a:ext>
            </a:extLst>
          </ns0:cNvPr>
          <ns0:cNvPicPr>
            <a:picLocks noChangeAspect="1" noChangeArrowheads="1"/>
          </ns0:cNvPicPr>
          <ns0:nvPr/>
        </ns0:nvPicPr>
        <ns0:blipFill>
          <a:blip ns3:embed="rId4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ns0:blipFill>
        <ns0:spPr bwMode="auto">
          <a:xfrm>
            <a:off x="7762575" y="4220938"/>
            <a:ext cx="2900009" cy="1814102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ns0:spPr>
      </ns0:pic>
    </ns0:spTree>
    <ns0:extLst>
      <ns0:ext uri="{BB962C8B-B14F-4D97-AF65-F5344CB8AC3E}">
        <ns5:creationId val="1566219563"/>
      </ns0:ext>
    </ns0:extLst>
  </ns0:cSld>
  <ns0:clrMapOvr>
    <a:masterClrMapping/>
  </ns0:clrMapOvr>
</ns0:sld>
</file>

<file path=ppt/slides/slide4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openxmlformats.org/officeDocument/2006/relationships" xmlns:ns4="http://schemas.microsoft.com/office/drawing/2010/main">
  <ns0:cSld name="Slide 4"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219737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320040"/>
            <a:ext cx="10515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cs typeface="Calibri" pitchFamily="34" charset="-120"/>
              </a:rPr>
              <a:t>Προκλήσεις MRI στην Απεικόνιση Πλακούντα</a:t>
            </a:r>
            <a:endParaRPr lang="en-US" sz="26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713232" y="822960"/>
            <a:ext cx="1060704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1247120" y="393192"/>
            <a:ext cx="822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525779" y="1490472"/>
            <a:ext cx="10835640" cy="237109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  <ns0:txBody>
          <a:bodyPr/>
          <a:lstStyle/>
          <a:p>
            <a:endParaRPr lang="en-US" dirty="0"/>
          </a:p>
        </ns0:txBody>
      </ns0:sp>
      <ns0:sp>
        <ns0:nvSpPr>
          <ns0:cNvPr id="8" name="Text 6"/>
          <ns0:cNvSpPr/>
          <ns0:nvPr/>
        </ns0:nvSpPr>
        <ns0:spPr>
          <a:xfrm>
            <a:off x="664311" y="1554480"/>
            <a:ext cx="10863072" cy="2298948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dirty="0"/>
              <a:t>Πλεονεκτήματα: υψηλή αντίθεση μαλακών ιστών, 3D ογκομετρικά δεδομένα, χωρίς ιονίζουσα ακτινοβολία</a:t>
            </a:r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dirty="0"/>
              <a:t>Προκλήσεις ειδικά στο placental MRI:</a:t>
            </a:r>
          </a:p>
          <a:p>
            <a:pPr marL="711200" lvl="1" indent="-254000">
              <a:lnSpc>
                <a:spcPct val="112000"/>
              </a:lnSpc>
              <a:buSzPct val="100000"/>
              <a:buChar char="•"/>
            </a:pPr>
            <a:r>
              <a:rPr lang="en-US" sz="1600" dirty="0"/>
              <a:t>Artifacts κίνησης (εμβρυϊκή/μητρική κίνηση) -&gt; θόλωση και παραμορφώσεις</a:t>
            </a:r>
          </a:p>
          <a:p>
            <a:pPr marL="711200" lvl="1" indent="-254000">
              <a:lnSpc>
                <a:spcPct val="112000"/>
              </a:lnSpc>
              <a:buSzPct val="100000"/>
              <a:buChar char="•"/>
            </a:pPr>
            <a:r>
              <a:rPr lang="en-US" sz="1600" dirty="0"/>
              <a:t>Ανομοιογένεια έντασης (bias field) -&gt; ο ίδιος ιστός εμφανίζεται με διαφορετικές εντάσεις</a:t>
            </a:r>
          </a:p>
          <a:p>
            <a:pPr marL="711200" lvl="1" indent="-254000">
              <a:lnSpc>
                <a:spcPct val="112000"/>
              </a:lnSpc>
              <a:buSzPct val="100000"/>
              <a:buChar char="•"/>
            </a:pPr>
            <a:r>
              <a:rPr lang="en-US" sz="1600" dirty="0"/>
              <a:t>Χαμηλή αντίθεση ορίων μεταξύ πλακούντα και μυομητρίου</a:t>
            </a:r>
          </a:p>
          <a:p>
            <a:pPr marL="711200" lvl="1" indent="-254000">
              <a:lnSpc>
                <a:spcPct val="112000"/>
              </a:lnSpc>
              <a:buSzPct val="100000"/>
              <a:buChar char="•"/>
            </a:pPr>
            <a:r>
              <a:rPr lang="en-US" sz="1600" dirty="0"/>
              <a:t>Class imbalance: ο πλακούντας καταλαμβάνει μικρό foreground όγκο</a:t>
            </a:r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dirty="0"/>
              <a:t>Απαιτεί ισχυρή προεπεξεργασία και κατάλληλο αρχιτεκτονικό σχεδιασμό</a:t>
            </a:r>
          </a:p>
          <a:p>
            <a:pPr lvl="1">
              <a:lnSpc>
                <a:spcPct val="112000"/>
              </a:lnSpc>
              <a:buSzPct val="100000"/>
            </a:pPr>
            <a:endParaRPr lang="en-US" sz="16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3517881" y="4117594"/>
            <a:ext cx="4851435" cy="2211064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pic>
        <ns0:nvPicPr>
          <ns0:cNvPr id="2050" name="Picture 2">
            <a:extLst>
              <a:ext uri="{FF2B5EF4-FFF2-40B4-BE49-F238E27FC236}">
                <ns2:creationId id="{83BC7B9C-01D1-CEAB-4EA3-60027B270F9D}"/>
              </a:ext>
            </a:extLst>
          </ns0:cNvPr>
          <ns0:cNvPicPr>
            <a:picLocks noChangeAspect="1" noChangeArrowheads="1"/>
          </ns0:cNvPicPr>
          <ns0:nvPr/>
        </ns0:nvPicPr>
        <ns0:blipFill>
          <a:blip ns3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ns0:blipFill>
        <ns0:spPr bwMode="auto">
          <a:xfrm>
            <a:off x="3956268" y="4337010"/>
            <a:ext cx="3974660" cy="1772231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ns0:spPr>
      </ns0:pic>
    </ns0:spTree>
  </ns0:cSld>
  <ns0:clrMapOvr>
    <a:masterClrMapping/>
  </ns0:clrMapOvr>
</ns0:sld>
</file>

<file path=ppt/slides/slide5.xml><?xml version="1.0" encoding="utf-8"?>
<ns0:sld xmlns:a="http://schemas.openxmlformats.org/drawingml/2006/main" xmlns:ns0="http://schemas.openxmlformats.org/presentationml/2006/main" xmlns:ns2="http://schemas.microsoft.com/office/drawing/2014/main">
  <ns0:cSld name="Slide 2"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219737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  <ns0:txBody>
          <a:bodyPr/>
          <a:lstStyle/>
          <a:p>
            <a:endParaRPr lang="en-US" dirty="0"/>
          </a:p>
        </ns0:txBody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320040"/>
            <a:ext cx="10515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l" rtl="0"/>
            <a:r>
              <a:rPr lang="en-US" sz="2800" b="1" i="0" dirty="0">
                <a:solidFill>
                  <a:srgbClr val="F7F8FC"/>
                </a:solidFill>
                <a:effectLst/>
              </a:rPr>
              <a:t>Ερευνητικοί Στόχοι και Μεθοδολογία</a:t>
            </a:r>
          </a:p>
        </ns0:txBody>
      </ns0:sp>
      <ns0:sp>
        <ns0:nvSpPr>
          <ns0:cNvPr id="5" name="Text 3"/>
          <ns0:cNvSpPr/>
          <ns0:nvPr/>
        </ns0:nvSpPr>
        <ns0:spPr>
          <a:xfrm>
            <a:off x="713232" y="822960"/>
            <a:ext cx="1060704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1247120" y="393192"/>
            <a:ext cx="822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778611" y="1490472"/>
            <a:ext cx="10634472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  <ns0:txBody>
          <a:bodyPr/>
          <a:lstStyle/>
          <a:p>
            <a:endParaRPr lang="en-US" dirty="0"/>
          </a:p>
        </ns0:txBody>
      </ns0:sp>
      <ns0:sp>
        <ns0:nvSpPr>
          <ns0:cNvPr id="8" name="Text 6"/>
          <ns0:cNvSpPr/>
          <ns0:nvPr/>
        </ns0:nvSpPr>
        <ns0:spPr>
          <a:xfrm>
            <a:off x="990294" y="1947672"/>
            <a:ext cx="10422789" cy="429768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b="1" dirty="0"/>
              <a:t>Κύριος στόχος</a:t>
            </a:r>
            <a:r>
              <a:rPr lang="en-US" dirty="0"/>
              <a:t>: Συστηματική συγκριτική αξιολόγηση σύγχρονων αρχιτεκτονικών Deep Learning για 3D τμηματοποίηση πλακούντα</a:t>
            </a:r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u="sng" dirty="0"/>
              <a:t>Βασικές μεθοδολογικές αρχές</a:t>
            </a:r>
            <a:r>
              <a:rPr lang="en-US" dirty="0"/>
              <a:t>:</a:t>
            </a:r>
          </a:p>
          <a:p>
            <a:pPr marL="711200" lvl="1" indent="-254000">
              <a:lnSpc>
                <a:spcPct val="112000"/>
              </a:lnSpc>
              <a:buSzPct val="100000"/>
              <a:buChar char="•"/>
            </a:pPr>
            <a:r>
              <a:rPr lang="en-US" sz="1600" b="1" dirty="0"/>
              <a:t>Ενιαίο</a:t>
            </a:r>
            <a:r>
              <a:rPr lang="en-US" sz="1600" dirty="0"/>
              <a:t> pipeline (MONAI/</a:t>
            </a:r>
            <a:r>
              <a:rPr lang="en-US" sz="1600" dirty="0" err="1"/>
              <a:t>PyTorch</a:t>
            </a:r>
            <a:r>
              <a:rPr lang="en-US" sz="1600" dirty="0"/>
              <a:t>) για προεπεξεργασία, εκπαίδευση και inference</a:t>
            </a:r>
          </a:p>
          <a:p>
            <a:pPr marL="711200" lvl="1" indent="-254000">
              <a:lnSpc>
                <a:spcPct val="112000"/>
              </a:lnSpc>
              <a:buSzPct val="100000"/>
              <a:buChar char="•"/>
            </a:pPr>
            <a:r>
              <a:rPr lang="en-US" sz="1600" b="1" dirty="0"/>
              <a:t>Αυστηρή</a:t>
            </a:r>
            <a:r>
              <a:rPr lang="en-US" sz="1600" dirty="0"/>
              <a:t> τυποποίηση υπερπαραμέτρων, augmentation και στρατηγικής δειγματοληψίας</a:t>
            </a:r>
          </a:p>
          <a:p>
            <a:pPr marL="711200" lvl="1" indent="-254000">
              <a:lnSpc>
                <a:spcPct val="112000"/>
              </a:lnSpc>
              <a:buSzPct val="100000"/>
              <a:buChar char="•"/>
            </a:pPr>
            <a:r>
              <a:rPr lang="en-US" sz="1600" b="1" dirty="0"/>
              <a:t>Δίκαιη</a:t>
            </a:r>
            <a:r>
              <a:rPr lang="en-US" sz="1600" dirty="0"/>
              <a:t> σύγκριση που απομονώνει αρχιτεκτονικές διαφορές από implementation artifacts</a:t>
            </a:r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b="1" dirty="0"/>
              <a:t>Δευτερεύων στόχος</a:t>
            </a:r>
            <a:r>
              <a:rPr lang="en-US" dirty="0"/>
              <a:t>: Εντοπισμός αρχιτεκτονικών πλεονεκτημάτων/αδυναμιών για τις ειδικές προκλήσεις του πλακούντα</a:t>
            </a:r>
          </a:p>
        </ns0:txBody>
      </ns0:sp>
      <ns0:sp>
        <ns0:nvSpPr>
          <ns0:cNvPr id="9" name="Rounded Rectangle 8">
            <a:extLst>
              <a:ext uri="{FF2B5EF4-FFF2-40B4-BE49-F238E27FC236}">
                <ns2:creationId id="{4C9B37DF-5A20-C2BF-00CE-4CAD7D3A1AF2}"/>
              </a:ext>
            </a:extLst>
          </ns0:cNvPr>
          <ns0:cNvSpPr/>
          <ns0:nvPr/>
        </ns0:nvSpPr>
        <ns0:spPr>
          <a:xfrm>
            <a:off x="1394085" y="4924269"/>
            <a:ext cx="2233535" cy="906905"/>
          </a:xfrm>
          <a:prstGeom prst="roundRect">
            <a:avLst/>
          </a:prstGeom>
          <a:solidFill>
            <a:srgbClr val="002060"/>
          </a:solidFill>
          <a:ln>
            <a:solidFill>
              <a:schemeClr val="bg1"/>
            </a:solidFill>
          </a:ln>
        </ns0:spPr>
        <ns0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  <a:r>
              <a:rPr lang="en-US" dirty="0"/>
              <a:t>MRI εικόνες + μάσκες</a:t>
            </a:r>
          </a:p>
        </ns0:txBody>
      </ns0:sp>
      <ns0:sp>
        <ns0:nvSpPr>
          <ns0:cNvPr id="10" name="Right Arrow 9">
            <a:extLst>
              <a:ext uri="{FF2B5EF4-FFF2-40B4-BE49-F238E27FC236}">
                <ns2:creationId id="{9CFD53CC-F4EA-9D51-B18D-FB757FCD94AF}"/>
              </a:ext>
            </a:extLst>
          </ns0:cNvPr>
          <ns0:cNvSpPr/>
          <ns0:nvPr/>
        </ns0:nvSpPr>
        <ns0:spPr>
          <a:xfrm>
            <a:off x="3749874" y="5107898"/>
            <a:ext cx="563074" cy="539646"/>
          </a:xfrm>
          <a:prstGeom prst="rightArrow">
            <a:avLst/>
          </a:prstGeom>
          <a:solidFill>
            <a:srgbClr val="002060"/>
          </a:solidFill>
          <a:ln>
            <a:solidFill>
              <a:schemeClr val="bg1"/>
            </a:solidFill>
          </a:ln>
        </ns0:spPr>
        <ns0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  <a:endParaRPr lang="en-US"/>
          </a:p>
        </ns0:txBody>
      </ns0:sp>
      <ns0:sp>
        <ns0:nvSpPr>
          <ns0:cNvPr id="11" name="Rectangle 10">
            <a:extLst>
              <a:ext uri="{FF2B5EF4-FFF2-40B4-BE49-F238E27FC236}">
                <ns2:creationId id="{6A9B6427-D50D-4D6F-B999-9372716472E2}"/>
              </a:ext>
            </a:extLst>
          </ns0:cNvPr>
          <ns0:cNvSpPr/>
          <ns0:nvPr/>
        </ns0:nvSpPr>
        <ns0:spPr>
          <a:xfrm>
            <a:off x="4522832" y="4376153"/>
            <a:ext cx="3672590" cy="2003136"/>
          </a:xfrm>
          <a:prstGeom prst="rect">
            <a:avLst/>
          </a:prstGeom>
        </ns0:spPr>
        <ns0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ns0:style>
        <ns0:txBody>
          <a:bodyPr rtlCol="0" anchor="t"/>
          <a:lstStyle/>
          <a:p>
            <a:pPr algn="ctr"/>
            <a:r>
              <a:rPr lang="en-US" sz="1400" dirty="0"/>
              <a:t>BLACKBOX ΠΕΙΡΑΜΑΤΙΚΟ ΠΛΑΙΣΙΟ</a:t>
            </a:r>
          </a:p>
        </ns0:txBody>
      </ns0:sp>
      <ns0:sp>
        <ns0:nvSpPr>
          <ns0:cNvPr id="13" name="Rounded Rectangle 12">
            <a:extLst>
              <a:ext uri="{FF2B5EF4-FFF2-40B4-BE49-F238E27FC236}">
                <ns2:creationId id="{DCBB5A62-211F-665B-1167-7A213F28F629}"/>
              </a:ext>
            </a:extLst>
          </ns0:cNvPr>
          <ns0:cNvSpPr/>
          <ns0:nvPr/>
        </ns0:nvSpPr>
        <ns0:spPr>
          <a:xfrm>
            <a:off x="5717398" y="4859811"/>
            <a:ext cx="1283458" cy="1035820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ns0:spPr>
        <ns0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  <a:r>
              <a:rPr lang="en-US" sz="1000" dirty="0"/>
              <a:t>Μοντέλο τμηματοποίησης</a:t>
            </a:r>
          </a:p>
        </ns0:txBody>
      </ns0:sp>
      <ns0:sp>
        <ns0:nvSpPr>
          <ns0:cNvPr id="14" name="Right Arrow 13">
            <a:extLst>
              <a:ext uri="{FF2B5EF4-FFF2-40B4-BE49-F238E27FC236}">
                <ns2:creationId id="{06B73E43-5AD9-6213-B7F2-6C03C0990E8B}"/>
              </a:ext>
            </a:extLst>
          </ns0:cNvPr>
          <ns0:cNvSpPr/>
          <ns0:nvPr/>
        </ns0:nvSpPr>
        <ns0:spPr>
          <a:xfrm>
            <a:off x="8560816" y="4654446"/>
            <a:ext cx="563074" cy="539646"/>
          </a:xfrm>
          <a:prstGeom prst="rightArrow">
            <a:avLst/>
          </a:prstGeom>
          <a:solidFill>
            <a:srgbClr val="002060"/>
          </a:solidFill>
          <a:ln>
            <a:solidFill>
              <a:schemeClr val="bg1"/>
            </a:solidFill>
          </a:ln>
        </ns0:spPr>
        <ns0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  <a:endParaRPr lang="en-US"/>
          </a:p>
        </ns0:txBody>
      </ns0:sp>
      <ns0:sp>
        <ns0:nvSpPr>
          <ns0:cNvPr id="15" name="Right Arrow 14">
            <a:extLst>
              <a:ext uri="{FF2B5EF4-FFF2-40B4-BE49-F238E27FC236}">
                <ns2:creationId id="{C05FDA45-242A-0DB8-649A-302C874F8039}"/>
              </a:ext>
            </a:extLst>
          </ns0:cNvPr>
          <ns0:cNvSpPr/>
          <ns0:nvPr/>
        </ns0:nvSpPr>
        <ns0:spPr>
          <a:xfrm>
            <a:off x="8560816" y="5625808"/>
            <a:ext cx="563074" cy="539646"/>
          </a:xfrm>
          <a:prstGeom prst="rightArrow">
            <a:avLst/>
          </a:prstGeom>
          <a:solidFill>
            <a:srgbClr val="002060"/>
          </a:solidFill>
          <a:ln>
            <a:solidFill>
              <a:schemeClr val="bg1"/>
            </a:solidFill>
          </a:ln>
        </ns0:spPr>
        <ns0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  <a:endParaRPr lang="en-US"/>
          </a:p>
        </ns0:txBody>
      </ns0:sp>
      <ns0:sp>
        <ns0:nvSpPr>
          <ns0:cNvPr id="16" name="Rounded Rectangle 15">
            <a:extLst>
              <a:ext uri="{FF2B5EF4-FFF2-40B4-BE49-F238E27FC236}">
                <ns2:creationId id="{F1EAEC63-5D58-81FD-EE97-8AD1A2300C35}"/>
              </a:ext>
            </a:extLst>
          </ns0:cNvPr>
          <ns0:cNvSpPr/>
          <ns0:nvPr/>
        </ns0:nvSpPr>
        <ns0:spPr>
          <a:xfrm>
            <a:off x="9335573" y="4594860"/>
            <a:ext cx="1385702" cy="658817"/>
          </a:xfrm>
          <a:prstGeom prst="roundRect">
            <a:avLst/>
          </a:prstGeom>
          <a:solidFill>
            <a:srgbClr val="00B050"/>
          </a:solidFill>
          <a:ln>
            <a:solidFill>
              <a:schemeClr val="bg1"/>
            </a:solidFill>
          </a:ln>
        </ns0:spPr>
        <ns0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  <a:r>
              <a:rPr lang="en-US" sz="1400" dirty="0"/>
              <a:t>Μάσκα πλακούντα</a:t>
            </a:r>
          </a:p>
        </ns0:txBody>
      </ns0:sp>
      <ns0:sp>
        <ns0:nvSpPr>
          <ns0:cNvPr id="17" name="Rounded Rectangle 16">
            <a:extLst>
              <a:ext uri="{FF2B5EF4-FFF2-40B4-BE49-F238E27FC236}">
                <ns2:creationId id="{29DFBA12-79E9-862C-62D4-97428B228E82}"/>
              </a:ext>
            </a:extLst>
          </ns0:cNvPr>
          <ns0:cNvSpPr/>
          <ns0:nvPr/>
        </ns0:nvSpPr>
        <ns0:spPr>
          <a:xfrm>
            <a:off x="9335573" y="5566222"/>
            <a:ext cx="1385702" cy="658817"/>
          </a:xfrm>
          <a:prstGeom prst="roundRect">
            <a:avLst/>
          </a:prstGeom>
          <a:solidFill>
            <a:srgbClr val="00B050"/>
          </a:solidFill>
          <a:ln>
            <a:solidFill>
              <a:schemeClr val="bg1"/>
            </a:solidFill>
          </a:ln>
        </ns0:spPr>
        <ns0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  <a:r>
              <a:rPr lang="en-US" sz="800" dirty="0"/>
              <a:t>Μετρικές όγκου/μορφολογίας</a:t>
            </a:r>
          </a:p>
        </ns0:txBody>
      </ns0:sp>
    </ns0:spTree>
  </ns0:cSld>
  <ns0:clrMapOvr>
    <a:masterClrMapping/>
  </ns0:clrMapOvr>
</ns0:sld>
</file>

<file path=ppt/slides/slide6.xml><?xml version="1.0" encoding="utf-8"?>
<ns0:sld xmlns:a="http://schemas.openxmlformats.org/drawingml/2006/main" xmlns:ns0="http://schemas.openxmlformats.org/presentationml/2006/main" xmlns:ns2="http://schemas.openxmlformats.org/markup-compatibility/2006" xmlns:ns3="http://schemas.microsoft.com/office/drawing/2010/main" xmlns:ns4="http://schemas.openxmlformats.org/officeDocument/2006/math" xmlns:ns5="http://schemas.openxmlformats.org/officeDocument/2006/relationships" xmlns:ns6="http://schemas.microsoft.com/office/drawing/2014/main">
  <ns0:cSld name="Slide 3"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219916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  <ns0:txBody>
          <a:bodyPr/>
          <a:lstStyle/>
          <a:p>
            <a:endParaRPr lang="en-US" dirty="0"/>
          </a:p>
        </ns0:txBody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320040"/>
            <a:ext cx="10515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2600" b="1" dirty="0"/>
              <a:t>Μαγνητική Τομογραφία (MRI)</a:t>
            </a:r>
          </a:p>
        </ns0:txBody>
      </ns0:sp>
      <ns0:sp>
        <ns0:nvSpPr>
          <ns0:cNvPr id="5" name="Text 3"/>
          <ns0:cNvSpPr/>
          <ns0:nvPr/>
        </ns0:nvSpPr>
        <ns0:spPr>
          <a:xfrm>
            <a:off x="713232" y="822960"/>
            <a:ext cx="1060704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1247120" y="393192"/>
            <a:ext cx="822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  <ns0:txBody>
          <a:bodyPr/>
          <a:lstStyle/>
          <a:p>
            <a:endParaRPr lang="en-US" dirty="0"/>
          </a:p>
        </ns0:txBody>
      </ns0:sp>
      <ns2:AlternateContent>
        <ns2:Choice Requires="a14">
          <ns0:sp>
            <ns0:nvSpPr>
              <ns0:cNvPr id="8" name="Text 6"/>
              <ns0:cNvSpPr/>
              <ns0:nvPr/>
            </ns0:nvSpPr>
            <ns0:spPr>
              <a:xfrm>
                <a:off x="914399" y="1549908"/>
                <a:ext cx="5394960" cy="3189557"/>
              </a:xfrm>
              <a:prstGeom prst="rect">
                <a:avLst/>
              </a:prstGeom>
              <a:noFill/>
              <a:ln/>
            </ns0:spPr>
            <ns0:txBody>
              <a:bodyPr wrap="square" rtlCol="0" anchor="t"/>
              <a:lstStyle/>
              <a:p>
                <a:pPr marL="254000" indent="-254000">
                  <a:lnSpc>
                    <a:spcPct val="112000"/>
                  </a:lnSpc>
                  <a:buSzPct val="100000"/>
                  <a:buChar char="•"/>
                </a:pPr>
                <a:endParaRPr lang="en-US" sz="1600" dirty="0">
                  <a:solidFill>
                    <a:srgbClr val="FFFFFF"/>
                  </a:solidFill>
                  <a:cs typeface="Calibri" pitchFamily="34" charset="-120"/>
                </a:endParaRPr>
              </a:p>
              <a:p>
                <a:pPr marL="254000" indent="-254000">
                  <a:lnSpc>
                    <a:spcPct val="112000"/>
                  </a:lnSpc>
                  <a:buSzPct val="100000"/>
                  <a:buFontTx/>
                  <a:buChar char="•"/>
                </a:pPr>
                <a:r>
                  <a:rPr lang="en-US" sz="1600" b="0" i="0" dirty="0">
                    <a:solidFill>
                      <a:srgbClr val="F7F8FC"/>
                    </a:solidFill>
                    <a:effectLst/>
                  </a:rPr>
                  <a:t>Τεχνική απεικόνισης που βασίζεται στον πυρηνικό μαγνητικό συντονισμό</a:t>
                </a:r>
              </a:p>
              <a:p>
                <a:pPr marL="254000" indent="-254000">
                  <a:lnSpc>
                    <a:spcPct val="112000"/>
                  </a:lnSpc>
                  <a:buSzPct val="100000"/>
                  <a:buFontTx/>
                  <a:buChar char="•"/>
                </a:pPr>
                <a:r>
                  <a:rPr lang="en-US" sz="1600" b="0" i="0" dirty="0">
                    <a:solidFill>
                      <a:srgbClr val="F7F8FC"/>
                    </a:solidFill>
                    <a:effectLst/>
                  </a:rPr>
                  <a:t>Τα πηνία βαθμίδων δημιουργούν πεδίο εξαρτώμενο από τη θέση και κάθε θέση έχει διαφορετική συχνότητα Larmor: </a:t>
                </a:r>
                <ns3:m>
                  <ns4:oMath>
                    <ns4:r>
                      <a:rPr lang="el-GR" sz="1600" b="0" i="1" smtClean="0">
                        <a:solidFill>
                          <a:srgbClr val="F7F8FC"/>
                        </a:solidFill>
                        <a:effectLst/>
                        <a:latin typeface="Cambria Math" panose="02040503050406030204" pitchFamily="18" charset="0"/>
                      </a:rPr>
                      <ns4:t>𝜔</ns4:t>
                    </ns4:r>
                    <ns4:d>
                      <ns4:dPr>
                        <ns4:ctrlPr>
                          <a:rPr lang="en-US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</a:rPr>
                        </ns4:ctrlPr>
                      </ns4:dPr>
                      <ns4:e>
                        <ns4:r>
                          <a:rPr lang="en-US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</a:rPr>
                          <ns4:t>𝑧</ns4:t>
                        </ns4:r>
                      </ns4:e>
                    </ns4:d>
                    <ns4:r>
                      <a:rPr lang="en-US" sz="1600" b="0" i="1" smtClean="0">
                        <a:solidFill>
                          <a:srgbClr val="F7F8FC"/>
                        </a:solidFill>
                        <a:effectLst/>
                        <a:latin typeface="Cambria Math" panose="02040503050406030204" pitchFamily="18" charset="0"/>
                      </a:rPr>
                      <ns4:t>=</ns4:t>
                    </ns4:r>
                    <ns4:r>
                      <a:rPr lang="el-GR" sz="1600" b="0" i="1" smtClean="0">
                        <a:solidFill>
                          <a:srgbClr val="F7F8FC"/>
                        </a:solidFill>
                        <a:effectLst/>
                        <a:latin typeface="Cambria Math" panose="02040503050406030204" pitchFamily="18" charset="0"/>
                      </a:rPr>
                      <ns4:t>𝛾</ns4:t>
                    </ns4:r>
                    <ns4:r>
                      <ns4:rPr>
                        <ns4:sty ns4:val="p"/>
                      </ns4:rPr>
                      <a:rPr lang="en-US" sz="1600" b="0" i="0" smtClean="0">
                        <a:solidFill>
                          <a:srgbClr val="F7F8FC"/>
                        </a:solidFill>
                        <a:effectLst/>
                        <a:latin typeface="Cambria Math" panose="02040503050406030204" pitchFamily="18" charset="0"/>
                      </a:rPr>
                      <ns4:t>B</ns4:t>
                    </ns4:r>
                    <ns4:r>
                      <a:rPr lang="en-US" sz="1600" b="0" i="0" smtClean="0">
                        <a:solidFill>
                          <a:srgbClr val="F7F8FC"/>
                        </a:solidFill>
                        <a:effectLst/>
                        <a:latin typeface="Cambria Math" panose="02040503050406030204" pitchFamily="18" charset="0"/>
                      </a:rPr>
                      <ns4:t>(</ns4:t>
                    </ns4:r>
                    <ns4:r>
                      <ns4:rPr>
                        <ns4:sty ns4:val="p"/>
                      </ns4:rPr>
                      <a:rPr lang="en-US" sz="1600" b="0" i="0" smtClean="0">
                        <a:solidFill>
                          <a:srgbClr val="F7F8FC"/>
                        </a:solidFill>
                        <a:effectLst/>
                        <a:latin typeface="Cambria Math" panose="02040503050406030204" pitchFamily="18" charset="0"/>
                      </a:rPr>
                      <ns4:t>z</ns4:t>
                    </ns4:r>
                    <ns4:r>
                      <a:rPr lang="en-US" sz="1600" b="0" i="0" smtClean="0">
                        <a:solidFill>
                          <a:srgbClr val="F7F8FC"/>
                        </a:solidFill>
                        <a:effectLst/>
                        <a:latin typeface="Cambria Math" panose="02040503050406030204" pitchFamily="18" charset="0"/>
                      </a:rPr>
                      <ns4:t>)</ns4:t>
                    </ns4:r>
                  </ns4:oMath>
                </ns3:m>
                <a:endParaRPr lang="en-US" sz="1600" b="0" i="0" dirty="0">
                  <a:solidFill>
                    <a:srgbClr val="F7F8FC"/>
                  </a:solidFill>
                  <a:effectLst/>
                </a:endParaRPr>
              </a:p>
              <a:p>
                <a:pPr marL="254000" indent="-254000">
                  <a:lnSpc>
                    <a:spcPct val="112000"/>
                  </a:lnSpc>
                  <a:buSzPct val="100000"/>
                  <a:buFontTx/>
                  <a:buChar char="•"/>
                </a:pPr>
                <a:r>
                  <a:rPr lang="en-US" sz="1600" dirty="0">
                    <a:solidFill>
                      <a:srgbClr val="F7F8FC"/>
                    </a:solidFill>
                  </a:rPr>
                  <a:t>Πλεονεκτήματα: υψηλή αντίθεση μαλακών ιστών, 3D πληροφορία, χωρίς ιονίζουσα ακτινοβολία</a:t>
                </a:r>
              </a:p>
              <a:p>
                <a:pPr marL="254000" indent="-254000">
                  <a:lnSpc>
                    <a:spcPct val="112000"/>
                  </a:lnSpc>
                  <a:buSzPct val="100000"/>
                  <a:buFontTx/>
                  <a:buChar char="•"/>
                </a:pPr>
                <a:r>
                  <a:rPr lang="en-US" sz="1600" b="0" i="0" dirty="0">
                    <a:solidFill>
                      <a:srgbClr val="F7F8FC"/>
                    </a:solidFill>
                    <a:effectLst/>
                  </a:rPr>
                  <a:t>Προεπεξεργασία: διόρθωση bias field (N4ITK), κανονικοποίηση έντασης</a:t>
                </a:r>
              </a:p>
              <a:p>
                <a:pPr marL="254000" indent="-254000">
                  <a:lnSpc>
                    <a:spcPct val="112000"/>
                  </a:lnSpc>
                  <a:buSzPct val="100000"/>
                  <a:buFontTx/>
                  <a:buChar char="•"/>
                </a:pPr>
                <a:r>
                  <a:rPr lang="en-US" sz="1600" dirty="0">
                    <a:solidFill>
                      <a:srgbClr val="F7F8FC"/>
                    </a:solidFill>
                  </a:rPr>
                  <a:t>Απαιτεί ακριβή ορισμό ROI για ποσοτικοποίηση</a:t>
                </a:r>
              </a:p>
              <a:p>
                <a:pPr>
                  <a:lnSpc>
                    <a:spcPct val="112000"/>
                  </a:lnSpc>
                  <a:buSzPct val="100000"/>
                </a:pPr>
                <a:endParaRPr lang="en-US" sz="1600" b="0" i="0" dirty="0">
                  <a:solidFill>
                    <a:srgbClr val="F7F8FC"/>
                  </a:solidFill>
                  <a:effectLst/>
                </a:endParaRPr>
              </a:p>
            </ns0:txBody>
          </ns0:sp>
        </ns2:Choice>
        <ns2:Fallback>
          <ns0:sp>
            <ns0:nvSpPr>
              <ns0:cNvPr id="8" name="Text 6"/>
              <ns0:cNvSpPr>
                <a:spLocks noRot="1" noChangeAspect="1" noMove="1" noResize="1" noEditPoints="1" noAdjustHandles="1" noChangeArrowheads="1" noChangeShapeType="1" noTextEdit="1"/>
              </ns0:cNvSpPr>
              <ns0:nvPr/>
            </ns0:nvSpPr>
            <ns0:spPr>
              <a:xfrm>
                <a:off x="914399" y="1549908"/>
                <a:ext cx="5394960" cy="3189557"/>
              </a:xfrm>
              <a:prstGeom prst="rect">
                <a:avLst/>
              </a:prstGeom>
              <a:blipFill>
                <a:blip ns5:embed="rId3"/>
                <a:stretch>
                  <a:fillRect l="-706"/>
                </a:stretch>
              </a:blipFill>
              <a:ln/>
            </ns0:spPr>
            <ns0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ns0:txBody>
          </ns0:sp>
        </ns2:Fallback>
      </ns2:AlternateContent>
      <ns0:pic>
        <ns0:nvPicPr>
          <ns0:cNvPr id="1028" name="Picture 4" descr="undefined">
            <a:extLst>
              <a:ext uri="{FF2B5EF4-FFF2-40B4-BE49-F238E27FC236}">
                <ns6:creationId id="{A9A6657A-D6C2-0233-AEA9-785EF1821487}"/>
              </a:ext>
            </a:extLst>
          </ns0:cNvPr>
          <ns0:cNvPicPr>
            <a:picLocks noChangeAspect="1" noChangeArrowheads="1"/>
          </ns0:cNvPicPr>
          <ns0:nvPr/>
        </ns0:nvPicPr>
        <ns0:blipFill>
          <a:blip ns5:embed="rId4">
            <a:extLst>
              <a:ext uri="{28A0092B-C50C-407E-A947-70E740481C1C}">
                <ns3:useLocalDpi val="0"/>
              </a:ext>
            </a:extLst>
          </a:blip>
          <a:srcRect/>
          <a:stretch>
            <a:fillRect/>
          </a:stretch>
        </ns0:blipFill>
        <ns0:spPr bwMode="auto">
          <a:xfrm>
            <a:off x="1340821" y="4931489"/>
            <a:ext cx="4542117" cy="1296987"/>
          </a:xfrm>
          <a:prstGeom prst="rect">
            <a:avLst/>
          </a:prstGeom>
          <a:noFill/>
          <a:extLst>
            <a:ext uri="{909E8E84-426E-40DD-AFC4-6F175D3DCCD1}">
              <ns3:hiddenFill>
                <a:solidFill>
                  <a:srgbClr val="FFFFFF"/>
                </a:solidFill>
              </ns3:hiddenFill>
            </a:ext>
          </a:extLst>
        </ns0:spPr>
      </ns0:pic>
      <ns0:pic>
        <ns0:nvPicPr>
          <ns0:cNvPr id="12" name="Picture 11">
            <a:extLst>
              <a:ext uri="{FF2B5EF4-FFF2-40B4-BE49-F238E27FC236}">
                <ns6:creationId id="{8C31E23B-1B73-3C00-0C1B-21ABFF61D42D}"/>
              </a:ext>
            </a:extLst>
          </ns0:cNvPr>
          <ns0:cNvPicPr>
            <a:picLocks noChangeAspect="1"/>
          </ns0:cNvPicPr>
          <ns0:nvPr/>
        </ns0:nvPicPr>
        <ns0:blipFill>
          <a:blip ns5:embed="rId5"/>
          <a:stretch>
            <a:fillRect/>
          </a:stretch>
        </ns0:blipFill>
        <ns0:spPr>
          <a:xfrm>
            <a:off x="6812280" y="1549908"/>
            <a:ext cx="3073260" cy="2046791"/>
          </a:xfrm>
          <a:prstGeom prst="rect">
            <a:avLst/>
          </a:prstGeom>
        </ns0:spPr>
      </ns0:pic>
      <ns0:pic>
        <ns0:nvPicPr>
          <ns0:cNvPr id="13" name="Picture 12">
            <a:extLst>
              <a:ext uri="{FF2B5EF4-FFF2-40B4-BE49-F238E27FC236}">
                <ns6:creationId id="{11EB71EE-874D-170E-B9F5-5B9464B3FEE7}"/>
              </a:ext>
            </a:extLst>
          </ns0:cNvPr>
          <ns0:cNvPicPr>
            <a:picLocks noChangeAspect="1"/>
          </ns0:cNvPicPr>
          <ns0:nvPr/>
        </ns0:nvPicPr>
        <ns0:blipFill>
          <a:blip ns5:embed="rId6"/>
          <a:stretch>
            <a:fillRect/>
          </a:stretch>
        </ns0:blipFill>
        <ns0:spPr>
          <a:xfrm>
            <a:off x="6812280" y="3756893"/>
            <a:ext cx="4038899" cy="2796622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7.xml><?xml version="1.0" encoding="utf-8"?>
<ns0:sld xmlns:a="http://schemas.openxmlformats.org/drawingml/2006/main" xmlns:ns0="http://schemas.openxmlformats.org/presentationml/2006/main" xmlns:ns2="http://schemas.openxmlformats.org/markup-compatibility/2006" xmlns:ns3="http://schemas.microsoft.com/office/drawing/2010/main" xmlns:ns4="http://schemas.openxmlformats.org/officeDocument/2006/math" xmlns:ns5="http://schemas.openxmlformats.org/officeDocument/2006/relationships" xmlns:ns6="http://schemas.microsoft.com/office/drawing/2014/main" xmlns:ns7="http://schemas.microsoft.com/office/powerpoint/2010/main">
  <ns0:cSld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219916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  <ns0:txBody>
          <a:bodyPr/>
          <a:lstStyle/>
          <a:p>
            <a:endParaRPr lang="en-US" dirty="0"/>
          </a:p>
        </ns0:txBody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320040"/>
            <a:ext cx="10515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2600" b="1" dirty="0"/>
              <a:t>Τμηματοποίηση Ιατρικής Εικόνας: Τυπικός Ορισμός</a:t>
            </a:r>
          </a:p>
        </ns0:txBody>
      </ns0:sp>
      <ns0:sp>
        <ns0:nvSpPr>
          <ns0:cNvPr id="5" name="Text 3"/>
          <ns0:cNvSpPr/>
          <ns0:nvPr/>
        </ns0:nvSpPr>
        <ns0:spPr>
          <a:xfrm>
            <a:off x="713232" y="822960"/>
            <a:ext cx="1060704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1247120" y="393192"/>
            <a:ext cx="822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  <ns0:txBody>
          <a:bodyPr/>
          <a:lstStyle/>
          <a:p>
            <a:endParaRPr lang="en-US" dirty="0"/>
          </a:p>
        </ns0:txBody>
      </ns0:sp>
      <ns2:AlternateContent>
        <ns2:Choice Requires="a14">
          <ns0:sp>
            <ns0:nvSpPr>
              <ns0:cNvPr id="8" name="Text 6"/>
              <ns0:cNvSpPr/>
              <ns0:nvPr/>
            </ns0:nvSpPr>
            <ns0:spPr>
              <a:xfrm>
                <a:off x="914400" y="2236361"/>
                <a:ext cx="5394960" cy="3528278"/>
              </a:xfrm>
              <a:prstGeom prst="rect">
                <a:avLst/>
              </a:prstGeom>
              <a:noFill/>
              <a:ln/>
            </ns0:spPr>
            <ns0:txBody>
              <a:bodyPr wrap="square" rtlCol="0" anchor="t"/>
              <a:lstStyle/>
              <a:p>
                <a:pPr marL="254000" indent="-254000">
                  <a:lnSpc>
                    <a:spcPct val="112000"/>
                  </a:lnSpc>
                  <a:buSzPct val="100000"/>
                  <a:buChar char="•"/>
                </a:pPr>
                <a:endParaRPr lang="en-US" sz="1600" dirty="0">
                  <a:solidFill>
                    <a:srgbClr val="FFFFFF"/>
                  </a:solidFill>
                  <a:cs typeface="Calibri" pitchFamily="34" charset="-120"/>
                </a:endParaRPr>
              </a:p>
              <a:p>
                <a:pPr marL="254000" indent="-254000">
                  <a:lnSpc>
                    <a:spcPct val="112000"/>
                  </a:lnSpc>
                  <a:buSzPct val="100000"/>
                  <a:buFontTx/>
                  <a:buChar char="•"/>
                </a:pPr>
                <a:r>
                  <a:rPr lang="en-US" sz="1600" b="1" i="0" dirty="0">
                    <a:solidFill>
                      <a:srgbClr val="F7F8FC"/>
                    </a:solidFill>
                    <a:effectLst/>
                  </a:rPr>
                  <a:t>Είσοδος: </a:t>
                </a:r>
                <a:r>
                  <a:rPr lang="en-US" sz="1600" i="0" dirty="0">
                    <a:solidFill>
                      <a:srgbClr val="F7F8FC"/>
                    </a:solidFill>
                    <a:effectLst/>
                  </a:rPr>
                  <a:t>3D όγκος MRI </a:t>
                </a:r>
                <ns3:m>
                  <ns4:oMath>
                    <ns4:r>
                      <a:rPr lang="en-US" sz="1600" b="0" i="1" smtClean="0">
                        <a:solidFill>
                          <a:srgbClr val="F7F8FC"/>
                        </a:solidFill>
                        <a:effectLst/>
                        <a:latin typeface="Cambria Math" panose="02040503050406030204" pitchFamily="18" charset="0"/>
                      </a:rPr>
                      <ns4:t>𝑋</ns4:t>
                    </ns4:r>
                    <ns4:r>
                      <a:rPr lang="en-US" sz="1600" b="0" i="1" smtClean="0">
                        <a:solidFill>
                          <a:srgbClr val="F7F8FC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ns4:t>∈</ns4:t>
                    </ns4:r>
                    <ns4:sSup>
                      <ns4:sSupPr>
                        <ns4:ctrlPr>
                          <a:rPr lang="en-US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ns4:ctrlPr>
                      </ns4:sSupPr>
                      <ns4:e>
                        <ns4:r>
                          <a:rPr lang="en-US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4:t>ℝ</ns4:t>
                        </ns4:r>
                      </ns4:e>
                      <ns4:sup>
                        <ns4:r>
                          <a:rPr lang="en-US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4:t>𝐻</ns4:t>
                        </ns4:r>
                        <ns4:r>
                          <a:rPr lang="en-US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4:t>×</ns4:t>
                        </ns4:r>
                        <ns4:r>
                          <a:rPr lang="en-US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4:t>𝑊</ns4:t>
                        </ns4:r>
                        <ns4:r>
                          <a:rPr lang="en-US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4:t>×</ns4:t>
                        </ns4:r>
                        <ns4:r>
                          <a:rPr lang="en-US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4:t>𝐷</ns4:t>
                        </ns4:r>
                      </ns4:sup>
                    </ns4:sSup>
                  </ns4:oMath>
                </ns3:m>
                <a:endParaRPr lang="en-US" sz="1600" b="0" i="0" dirty="0">
                  <a:solidFill>
                    <a:srgbClr val="F7F8FC"/>
                  </a:solidFill>
                  <a:effectLst/>
                  <a:ea typeface="Cambria Math" panose="02040503050406030204" pitchFamily="18" charset="0"/>
                </a:endParaRPr>
              </a:p>
              <a:p>
                <a:pPr marL="254000" indent="-254000">
                  <a:lnSpc>
                    <a:spcPct val="112000"/>
                  </a:lnSpc>
                  <a:buSzPct val="100000"/>
                  <a:buFontTx/>
                  <a:buChar char="•"/>
                </a:pPr>
                <a:r>
                  <a:rPr lang="en-US" sz="1600" b="1" i="0" dirty="0">
                    <a:solidFill>
                      <a:srgbClr val="F7F8FC"/>
                    </a:solidFill>
                    <a:effectLst/>
                  </a:rPr>
                  <a:t>Έξοδος: </a:t>
                </a:r>
                <a:r>
                  <a:rPr lang="en-US" sz="1600" i="0" dirty="0">
                    <a:solidFill>
                      <a:srgbClr val="F7F8FC"/>
                    </a:solidFill>
                    <a:effectLst/>
                  </a:rPr>
                  <a:t>Δυαδική </a:t>
                </a:r>
                <a:r>
                  <a:rPr lang="en-US" sz="1600" dirty="0">
                    <a:solidFill>
                      <a:srgbClr val="F7F8FC"/>
                    </a:solidFill>
                  </a:rPr>
                  <a:t>μάσκα </a:t>
                </a:r>
                <ns3:m>
                  <ns4:oMath>
                    <ns4:r>
                      <a:rPr lang="en-US" sz="1600" b="0" i="1" smtClean="0">
                        <a:solidFill>
                          <a:srgbClr val="F7F8FC"/>
                        </a:solidFill>
                        <a:latin typeface="Cambria Math" panose="02040503050406030204" pitchFamily="18" charset="0"/>
                      </a:rPr>
                      <ns4:t>𝑌</ns4:t>
                    </ns4:r>
                    <ns4:r>
                      <a:rPr lang="en-US" sz="1600" b="0" i="1" smtClean="0">
                        <a:solidFill>
                          <a:srgbClr val="F7F8F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ns4:t>∈</ns4:t>
                    </ns4:r>
                    <ns4:sSup>
                      <ns4:sSupPr>
                        <ns4:ctrlP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ns4:ctrlPr>
                      </ns4:sSupPr>
                      <ns4:e>
                        <ns4:d>
                          <ns4:dPr>
                            <ns4:begChr ns4:val="{"/>
                            <ns4:endChr ns4:val="}"/>
                            <ns4:ctrlPr>
                              <a:rPr lang="en-US" sz="1600" b="0" i="1" smtClean="0">
                                <a:solidFill>
                                  <a:srgbClr val="F7F8F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ns4:ctrlPr>
                          </ns4:dPr>
                          <ns4:e>
                            <ns4:r>
                              <a:rPr lang="en-US" sz="1600" b="0" i="1" smtClean="0">
                                <a:solidFill>
                                  <a:srgbClr val="F7F8F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4:t>0,1</ns4:t>
                            </ns4:r>
                          </ns4:e>
                        </ns4:d>
                      </ns4:e>
                      <ns4:sup>
                        <ns4: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4:t>𝐻</ns4:t>
                        </ns4:r>
                        <ns4: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4:t>×</ns4:t>
                        </ns4:r>
                        <ns4: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4:t>𝑊</ns4:t>
                        </ns4:r>
                        <ns4: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4:t>×</ns4:t>
                        </ns4:r>
                        <ns4: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4:t>𝐷</ns4:t>
                        </ns4:r>
                      </ns4:sup>
                    </ns4:sSup>
                    <ns4:r>
                      <a:rPr lang="en-US" sz="1600" b="1" i="0" smtClean="0">
                        <a:solidFill>
                          <a:srgbClr val="F7F8F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ns4:t> </ns4:t>
                    </ns4:r>
                  </ns4:oMath>
                </ns3:m>
                <a:r>
                  <a:rPr lang="en-US" sz="1600" i="0" dirty="0">
                    <a:solidFill>
                      <a:srgbClr val="F7F8FC"/>
                    </a:solidFill>
                    <a:effectLst/>
                  </a:rPr>
                  <a:t>που υποδεικνύει voxel πλακούντα</a:t>
                </a:r>
              </a:p>
              <a:p>
                <a:pPr marL="254000" indent="-254000">
                  <a:lnSpc>
                    <a:spcPct val="112000"/>
                  </a:lnSpc>
                  <a:buSzPct val="100000"/>
                  <a:buFontTx/>
                  <a:buChar char="•"/>
                </a:pPr>
                <a:r>
                  <a:rPr lang="en-US" sz="1600" b="1" dirty="0">
                    <a:solidFill>
                      <a:srgbClr val="F7F8FC"/>
                    </a:solidFill>
                  </a:rPr>
                  <a:t>Διατύπωση μάθησης: </a:t>
                </a:r>
                <a:r>
                  <a:rPr lang="en-US" sz="1600" dirty="0">
                    <a:solidFill>
                      <a:srgbClr val="F7F8FC"/>
                    </a:solidFill>
                  </a:rPr>
                  <a:t>Επιβλεπόμενη μάθηση με ζεύγη </a:t>
                </a:r>
                <ns3:m>
                  <ns4:oMath>
                    <ns4:r>
                      <a:rPr lang="en-US" sz="1600" b="0" i="1" smtClean="0">
                        <a:solidFill>
                          <a:srgbClr val="F7F8FC"/>
                        </a:solidFill>
                        <a:latin typeface="Cambria Math" panose="02040503050406030204" pitchFamily="18" charset="0"/>
                      </a:rPr>
                      <ns4:t>(</ns4:t>
                    </ns4:r>
                    <ns4:sSub>
                      <ns4:sSubPr>
                        <ns4:ctrlP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</a:rPr>
                        </ns4:ctrlPr>
                      </ns4:sSubPr>
                      <ns4:e>
                        <ns4: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</a:rPr>
                          <ns4:t>𝑋</ns4:t>
                        </ns4:r>
                      </ns4:e>
                      <ns4:sub>
                        <ns4: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</a:rPr>
                          <ns4:t>𝑖</ns4:t>
                        </ns4:r>
                      </ns4:sub>
                    </ns4:sSub>
                    <ns4:r>
                      <a:rPr lang="en-US" sz="1600" b="0" i="1" smtClean="0">
                        <a:solidFill>
                          <a:srgbClr val="F7F8FC"/>
                        </a:solidFill>
                        <a:latin typeface="Cambria Math" panose="02040503050406030204" pitchFamily="18" charset="0"/>
                      </a:rPr>
                      <ns4:t>,</ns4:t>
                    </ns4:r>
                    <ns4:sSub>
                      <ns4:sSubPr>
                        <ns4:ctrlP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</a:rPr>
                        </ns4:ctrlPr>
                      </ns4:sSubPr>
                      <ns4:e>
                        <ns4: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</a:rPr>
                          <ns4:t>𝑌</ns4:t>
                        </ns4:r>
                      </ns4:e>
                      <ns4:sub>
                        <ns4: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</a:rPr>
                          <ns4:t>𝑖</ns4:t>
                        </ns4:r>
                      </ns4:sub>
                    </ns4:sSub>
                    <ns4:r>
                      <a:rPr lang="en-US" sz="1600" b="0" i="1" smtClean="0">
                        <a:solidFill>
                          <a:srgbClr val="F7F8FC"/>
                        </a:solidFill>
                        <a:latin typeface="Cambria Math" panose="02040503050406030204" pitchFamily="18" charset="0"/>
                      </a:rPr>
                      <ns4:t>)</ns4:t>
                    </ns4:r>
                  </ns4:oMath>
                </ns3:m>
                <a:endParaRPr lang="en-US" sz="1600" b="1" i="0" dirty="0">
                  <a:solidFill>
                    <a:srgbClr val="F7F8FC"/>
                  </a:solidFill>
                  <a:effectLst/>
                </a:endParaRPr>
              </a:p>
              <a:p>
                <a:pPr marL="254000" indent="-254000">
                  <a:lnSpc>
                    <a:spcPct val="112000"/>
                  </a:lnSpc>
                  <a:buSzPct val="100000"/>
                  <a:buFontTx/>
                  <a:buChar char="•"/>
                </a:pPr>
                <a:r>
                  <a:rPr lang="en-US" sz="1600" b="1" dirty="0">
                    <a:solidFill>
                      <a:srgbClr val="F7F8FC"/>
                    </a:solidFill>
                  </a:rPr>
                  <a:t>Στόχος: </a:t>
                </a:r>
                <a:r>
                  <a:rPr lang="en-US" sz="1600" dirty="0">
                    <a:solidFill>
                      <a:srgbClr val="F7F8FC"/>
                    </a:solidFill>
                  </a:rPr>
                  <a:t>Να μάθει </a:t>
                </a:r>
                <ns3:m>
                  <ns4:oMath>
                    <ns4:sSub>
                      <ns4:sSubPr>
                        <ns4:ctrlP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</a:rPr>
                        </ns4:ctrlPr>
                      </ns4:sSubPr>
                      <ns4:e>
                        <ns4:r>
                          <a:rPr lang="en-US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</a:rPr>
                          <ns4:t>𝑓</ns4:t>
                        </ns4:r>
                      </ns4:e>
                      <ns4:sub>
                        <ns4:r>
                          <a:rPr lang="el-GR" sz="1600" b="0" i="1" smtClean="0">
                            <a:solidFill>
                              <a:srgbClr val="F7F8FC"/>
                            </a:solidFill>
                            <a:latin typeface="Cambria Math" panose="02040503050406030204" pitchFamily="18" charset="0"/>
                          </a:rPr>
                          <ns4:t>𝜃</ns4:t>
                        </ns4:r>
                      </ns4:sub>
                    </ns4:sSub>
                    <ns4:r>
                      <a:rPr lang="en-US" sz="1600" b="1" i="0" smtClean="0">
                        <a:solidFill>
                          <a:srgbClr val="F7F8FC"/>
                        </a:solidFill>
                        <a:latin typeface="Cambria Math" panose="02040503050406030204" pitchFamily="18" charset="0"/>
                      </a:rPr>
                      <ns4:t> </ns4:t>
                    </ns4:r>
                  </ns4:oMath>
                </ns3:m>
                <a:r>
                  <a:rPr lang="en-US" sz="1600" i="0" dirty="0">
                    <a:solidFill>
                      <a:srgbClr val="F7F8FC"/>
                    </a:solidFill>
                    <a:effectLst/>
                  </a:rPr>
                  <a:t>ώστε </a:t>
                </a:r>
                <ns3:m>
                  <ns4:oMath>
                    <ns4:sSub>
                      <ns4:sSubPr>
                        <ns4:ctrlPr>
                          <a:rPr lang="el-GR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</a:rPr>
                        </ns4:ctrlPr>
                      </ns4:sSubPr>
                      <ns4:e>
                        <ns4:r>
                          <a:rPr lang="en-US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</a:rPr>
                          <ns4:t>𝑓</ns4:t>
                        </ns4:r>
                      </ns4:e>
                      <ns4:sub>
                        <ns4:r>
                          <a:rPr lang="el-GR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</a:rPr>
                          <ns4:t>𝜃</ns4:t>
                        </ns4:r>
                      </ns4:sub>
                    </ns4:sSub>
                    <ns4:d>
                      <ns4:dPr>
                        <ns4:ctrlPr>
                          <a:rPr lang="el-GR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</a:rPr>
                        </ns4:ctrlPr>
                      </ns4:dPr>
                      <ns4:e>
                        <ns4:r>
                          <a:rPr lang="en-US" sz="1600" b="0" i="1" smtClean="0">
                            <a:solidFill>
                              <a:srgbClr val="F7F8FC"/>
                            </a:solidFill>
                            <a:effectLst/>
                            <a:latin typeface="Cambria Math" panose="02040503050406030204" pitchFamily="18" charset="0"/>
                          </a:rPr>
                          <ns4:t>𝑥</ns4:t>
                        </ns4:r>
                      </ns4:e>
                    </ns4:d>
                    <ns4:r>
                      <a:rPr lang="en-US" sz="1600" b="0" i="1" smtClean="0">
                        <a:solidFill>
                          <a:srgbClr val="F7F8FC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ns4:t>≈</ns4:t>
                    </ns4:r>
                    <ns4:r>
                      <a:rPr lang="en-US" sz="1600" b="0" i="1" smtClean="0">
                        <a:solidFill>
                          <a:srgbClr val="F7F8FC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ns4:t>𝑌</ns4:t>
                    </ns4:r>
                  </ns4:oMath>
                </ns3:m>
                <a:endParaRPr lang="en-US" sz="1600" b="1" i="0" dirty="0">
                  <a:solidFill>
                    <a:srgbClr val="F7F8FC"/>
                  </a:solidFill>
                  <a:effectLst/>
                </a:endParaRPr>
              </a:p>
              <a:p>
                <a:pPr marL="254000" indent="-254000">
                  <a:lnSpc>
                    <a:spcPct val="112000"/>
                  </a:lnSpc>
                  <a:buSzPct val="100000"/>
                  <a:buFontTx/>
                  <a:buChar char="•"/>
                </a:pPr>
                <a:r>
                  <a:rPr lang="en-US" sz="1600" b="1" i="0" dirty="0">
                    <a:solidFill>
                      <a:srgbClr val="F7F8FC"/>
                    </a:solidFill>
                    <a:effectLst/>
                  </a:rPr>
                  <a:t>Κύρια διαφορά από classification: </a:t>
                </a:r>
                <a:r>
                  <a:rPr lang="en-US" sz="1600" i="0" dirty="0">
                    <a:solidFill>
                      <a:srgbClr val="F7F8FC"/>
                    </a:solidFill>
                    <a:effectLst/>
                  </a:rPr>
                  <a:t>Dense prediction (ανά voxel) αντί για image-level </a:t>
                </a:r>
                <a:r>
                  <a:rPr lang="en-US" sz="1600" dirty="0">
                    <a:solidFill>
                      <a:srgbClr val="F7F8FC"/>
                    </a:solidFill>
                  </a:rPr>
                  <a:t>label</a:t>
                </a:r>
              </a:p>
              <a:p>
                <a:pPr marL="254000" indent="-254000">
                  <a:lnSpc>
                    <a:spcPct val="112000"/>
                  </a:lnSpc>
                  <a:buSzPct val="100000"/>
                  <a:buFontTx/>
                  <a:buChar char="•"/>
                </a:pPr>
                <a:r>
                  <a:rPr lang="en-US" sz="1600" b="1" i="0" dirty="0">
                    <a:solidFill>
                      <a:srgbClr val="F7F8FC"/>
                    </a:solidFill>
                    <a:effectLst/>
                  </a:rPr>
                  <a:t>3</a:t>
                </a:r>
                <a:r>
                  <a:rPr lang="en-US" sz="1600" b="1" dirty="0">
                    <a:solidFill>
                      <a:srgbClr val="F7F8FC"/>
                    </a:solidFill>
                  </a:rPr>
                  <a:t>3D πρόκληση: </a:t>
                </a:r>
                <a:r>
                  <a:rPr lang="en-US" sz="1600" dirty="0">
                    <a:solidFill>
                      <a:srgbClr val="F7F8FC"/>
                    </a:solidFill>
                  </a:rPr>
                  <a:t>Υψηλές απαιτήσεις υπολογισμού/μνήμης → patch-based εκπαίδευση, sliding-window inference</a:t>
                </a:r>
                <a:endParaRPr lang="en-US" sz="1600" b="1" i="0" dirty="0">
                  <a:solidFill>
                    <a:srgbClr val="F7F8FC"/>
                  </a:solidFill>
                  <a:effectLst/>
                </a:endParaRPr>
              </a:p>
              <a:p>
                <a:pPr>
                  <a:lnSpc>
                    <a:spcPct val="112000"/>
                  </a:lnSpc>
                  <a:buSzPct val="100000"/>
                </a:pPr>
                <a:endParaRPr lang="en-US" sz="1600" b="0" i="0" dirty="0">
                  <a:solidFill>
                    <a:srgbClr val="F7F8FC"/>
                  </a:solidFill>
                  <a:effectLst/>
                </a:endParaRPr>
              </a:p>
            </ns0:txBody>
          </ns0:sp>
        </ns2:Choice>
        <ns2:Fallback>
          <ns0:sp>
            <ns0:nvSpPr>
              <ns0:cNvPr id="8" name="Text 6"/>
              <ns0:cNvSpPr>
                <a:spLocks noRot="1" noChangeAspect="1" noMove="1" noResize="1" noEditPoints="1" noAdjustHandles="1" noChangeArrowheads="1" noChangeShapeType="1" noTextEdit="1"/>
              </ns0:cNvSpPr>
              <ns0:nvPr/>
            </ns0:nvSpPr>
            <ns0:spPr>
              <a:xfrm>
                <a:off x="914400" y="2236361"/>
                <a:ext cx="5394960" cy="3528278"/>
              </a:xfrm>
              <a:prstGeom prst="rect">
                <a:avLst/>
              </a:prstGeom>
              <a:blipFill>
                <a:blip ns5:embed="rId3"/>
                <a:stretch>
                  <a:fillRect l="-706" r="-706"/>
                </a:stretch>
              </a:blipFill>
              <a:ln/>
            </ns0:spPr>
            <ns0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ns0:txBody>
          </ns0:sp>
        </ns2:Fallback>
      </ns2:AlternateContent>
      <ns0:pic>
        <ns0:nvPicPr>
          <ns0:cNvPr id="9" name="Picture 8">
            <a:extLst>
              <a:ext uri="{FF2B5EF4-FFF2-40B4-BE49-F238E27FC236}">
                <ns6:creationId id="{CCBB5BBF-3320-B1C4-BC15-162CC7F92D02}"/>
              </a:ext>
            </a:extLst>
          </ns0:cNvPr>
          <ns0:cNvPicPr>
            <a:picLocks noChangeAspect="1"/>
          </ns0:cNvPicPr>
          <ns0:nvPr/>
        </ns0:nvPicPr>
        <ns0:blipFill rotWithShape="1">
          <a:blip ns5:embed="rId4"/>
          <a:srcRect l="3289" t="2455" r="12166" b="3273"/>
          <a:stretch/>
        </ns0:blipFill>
        <ns0:spPr>
          <a:xfrm>
            <a:off x="7595917" y="2404872"/>
            <a:ext cx="941210" cy="1298064"/>
          </a:xfrm>
          <a:prstGeom prst="rect">
            <a:avLst/>
          </a:prstGeom>
        </ns0:spPr>
      </ns0:pic>
      <ns0:pic>
        <ns0:nvPicPr>
          <ns0:cNvPr id="10" name="Picture 9">
            <a:extLst>
              <a:ext uri="{FF2B5EF4-FFF2-40B4-BE49-F238E27FC236}">
                <ns6:creationId id="{C7636796-08B2-FC93-9AA4-28F052F79E29}"/>
              </a:ext>
            </a:extLst>
          </ns0:cNvPr>
          <ns0:cNvPicPr>
            <a:picLocks noChangeAspect="1"/>
          </ns0:cNvPicPr>
          <ns0:nvPr/>
        </ns0:nvPicPr>
        <ns0:blipFill rotWithShape="1">
          <a:blip ns5:embed="rId5"/>
          <a:srcRect l="2605" t="1171" r="2324" b="2288"/>
          <a:stretch/>
        </ns0:blipFill>
        <ns0:spPr>
          <a:xfrm>
            <a:off x="10024164" y="2404872"/>
            <a:ext cx="988760" cy="1298064"/>
          </a:xfrm>
          <a:prstGeom prst="rect">
            <a:avLst/>
          </a:prstGeom>
        </ns0:spPr>
      </ns0:pic>
      <ns0:sp>
        <ns0:nvSpPr>
          <ns0:cNvPr id="11" name="Down Arrow 10">
            <a:extLst>
              <a:ext uri="{FF2B5EF4-FFF2-40B4-BE49-F238E27FC236}">
                <ns6:creationId id="{C3E84BA1-0F55-C1EE-D4AB-5548B6D9E737}"/>
              </a:ext>
            </a:extLst>
          </ns0:cNvPr>
          <ns0:cNvSpPr/>
          <ns0:nvPr/>
        </ns0:nvSpPr>
        <ns0:spPr>
          <a:xfrm rot="16200000">
            <a:off x="9251353" y="2654388"/>
            <a:ext cx="325677" cy="451558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ns0:spPr>
        <ns0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ns0:style>
        <ns0:txBody>
          <a:bodyPr rtlCol="0" anchor="ctr"/>
          <a:lstStyle/>
          <a:p>
            <a:pPr algn="ctr"/>
            <a:endParaRPr lang="en-US"/>
          </a:p>
        </ns0:txBody>
      </ns0:sp>
      <ns0:pic>
        <ns0:nvPicPr>
          <ns0:cNvPr id="14" name="Picture 13">
            <a:extLst>
              <a:ext uri="{FF2B5EF4-FFF2-40B4-BE49-F238E27FC236}">
                <ns6:creationId id="{0E9F56AC-7DC5-22FE-44FC-9A3907F36B23}"/>
              </a:ext>
            </a:extLst>
          </ns0:cNvPr>
          <ns0:cNvPicPr>
            <a:picLocks noChangeAspect="1"/>
          </ns0:cNvPicPr>
          <ns0:nvPr/>
        </ns0:nvPicPr>
        <ns0:blipFill>
          <a:blip ns5:embed="rId6"/>
          <a:stretch>
            <a:fillRect/>
          </a:stretch>
        </ns0:blipFill>
        <ns0:spPr>
          <a:xfrm>
            <a:off x="7595916" y="4790414"/>
            <a:ext cx="3681684" cy="1137899"/>
          </a:xfrm>
          <a:prstGeom prst="rect">
            <a:avLst/>
          </a:prstGeom>
        </ns0:spPr>
      </ns0:pic>
    </ns0:spTree>
    <ns0:extLst>
      <ns0:ext uri="{BB962C8B-B14F-4D97-AF65-F5344CB8AC3E}">
        <ns7:creationId val="3981684526"/>
      </ns0:ext>
    </ns0:extLst>
  </ns0:cSld>
  <ns0:clrMapOvr>
    <a:masterClrMapping/>
  </ns0:clrMapOvr>
</ns0:sld>
</file>

<file path=ppt/slides/slide8.xml><?xml version="1.0" encoding="utf-8"?>
<ns0:sld xmlns:a="http://schemas.openxmlformats.org/drawingml/2006/main" xmlns:ns0="http://schemas.openxmlformats.org/presentationml/2006/main" xmlns:ns2="http://schemas.openxmlformats.org/markup-compatibility/2006" xmlns:ns3="http://schemas.microsoft.com/office/drawing/2010/main" xmlns:ns4="http://schemas.openxmlformats.org/officeDocument/2006/math" xmlns:ns5="http://schemas.openxmlformats.org/officeDocument/2006/relationships" xmlns:ns6="http://schemas.microsoft.com/office/drawing/2014/main" xmlns:ns7="http://schemas.microsoft.com/office/drawing/2017/decorative">
  <ns0:cSld name="Slide 5"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219739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320040"/>
            <a:ext cx="10515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cs typeface="Calibri" pitchFamily="34" charset="-120"/>
              </a:rPr>
              <a:t>Μετρικές Απόδοσης</a:t>
            </a:r>
            <a:endParaRPr lang="en-US" sz="26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713232" y="822960"/>
            <a:ext cx="1060704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1247120" y="393192"/>
            <a:ext cx="822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685800" y="1463040"/>
            <a:ext cx="1097280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  <ns0:txBody>
          <a:bodyPr/>
          <a:lstStyle/>
          <a:p>
            <a:endParaRPr lang="en-US" b="0" i="1" dirty="0">
              <a:latin typeface="Cambria Math" panose="02040503050406030204" pitchFamily="18" charset="0"/>
            </a:endParaRPr>
          </a:p>
          <a:p>
            <a:endParaRPr lang="en-US" i="1" dirty="0">
              <a:latin typeface="Cambria Math" panose="02040503050406030204" pitchFamily="18" charset="0"/>
            </a:endParaRPr>
          </a:p>
          <a:p>
            <a:endParaRPr lang="en-US" b="0" i="1" dirty="0">
              <a:latin typeface="Cambria Math" panose="02040503050406030204" pitchFamily="18" charset="0"/>
            </a:endParaRPr>
          </a:p>
          <a:p>
            <a:endParaRPr lang="en-US" i="1" dirty="0">
              <a:latin typeface="Cambria Math" panose="02040503050406030204" pitchFamily="18" charset="0"/>
            </a:endParaRPr>
          </a:p>
          <a:p>
            <a:endParaRPr lang="en-US" b="0" i="1" dirty="0">
              <a:latin typeface="Cambria Math" panose="02040503050406030204" pitchFamily="18" charset="0"/>
            </a:endParaRPr>
          </a:p>
          <a:p>
            <a:endParaRPr lang="en-US" i="1" dirty="0">
              <a:latin typeface="Cambria Math" panose="02040503050406030204" pitchFamily="18" charset="0"/>
            </a:endParaRPr>
          </a:p>
          <a:p>
            <a:endParaRPr lang="en-US" b="0" i="1" dirty="0">
              <a:latin typeface="Cambria Math" panose="02040503050406030204" pitchFamily="18" charset="0"/>
            </a:endParaRPr>
          </a:p>
          <a:p>
            <a:endParaRPr lang="en-US" i="1" dirty="0">
              <a:latin typeface="Cambria Math" panose="02040503050406030204" pitchFamily="18" charset="0"/>
            </a:endParaRPr>
          </a:p>
        </ns0:txBody>
      </ns0:sp>
      <ns0:sp>
        <ns0:nvSpPr>
          <ns0:cNvPr id="8" name="Text 6"/>
          <ns0:cNvSpPr/>
          <ns0:nvPr/>
        </ns0:nvSpPr>
        <ns0:spPr>
          <a:xfrm>
            <a:off x="1005840" y="1737360"/>
            <a:ext cx="502920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ea typeface="Calibri" pitchFamily="34" charset="-122"/>
                <a:cs typeface="Calibri" pitchFamily="34" charset="-120"/>
              </a:rPr>
              <a:t>Συντελεστής Dice (DSC) (σχήμα δεξιά)</a:t>
            </a:r>
            <a:endParaRPr lang="en-US" sz="1800" dirty="0"/>
          </a:p>
        </ns0:txBody>
      </ns0:sp>
      <ns2:AlternateContent>
        <ns2:Choice Requires="a14">
          <ns0:sp>
            <ns0:nvSpPr>
              <ns0:cNvPr id="9" name="Text 7"/>
              <ns0:cNvSpPr/>
              <ns0:nvPr/>
            </ns0:nvSpPr>
            <ns0:spPr>
              <a:xfrm>
                <a:off x="1005840" y="1930527"/>
                <a:ext cx="10241280" cy="2155698"/>
              </a:xfrm>
              <a:prstGeom prst="rect">
                <a:avLst/>
              </a:prstGeom>
              <a:noFill/>
              <a:ln/>
            </ns0:spPr>
            <ns0:txBody>
              <a:bodyPr wrap="square" rtlCol="0" anchor="ctr"/>
              <a:lstStyle/>
              <a:p>
                <ns3:m>
                  <ns4:oMath>
                    <ns4:r>
                      <a:rPr lang="en-US" sz="2200" b="0" i="1" smtClean="0">
                        <a:latin typeface="Cambria Math" panose="02040503050406030204" pitchFamily="18" charset="0"/>
                      </a:rPr>
                      <ns4:t>𝐷𝑆𝐶</ns4:t>
                    </ns4:r>
                    <ns4:r>
                      <a:rPr lang="en-US" sz="2200" b="0" i="1" smtClean="0">
                        <a:latin typeface="Cambria Math" panose="02040503050406030204" pitchFamily="18" charset="0"/>
                      </a:rPr>
                      <ns4:t>=</ns4:t>
                    </ns4:r>
                    <ns4:f>
                      <ns4:fPr>
                        <ns4:ctrlPr>
                          <a:rPr lang="en-US" sz="2200" i="1">
                            <a:latin typeface="Cambria Math" panose="02040503050406030204" pitchFamily="18" charset="0"/>
                          </a:rPr>
                        </ns4:ctrlPr>
                      </ns4:fPr>
                      <ns4:num>
                        <ns4:r>
                          <a:rPr lang="en-US" sz="2200" b="0" i="1" smtClean="0">
                            <a:latin typeface="Cambria Math" panose="02040503050406030204" pitchFamily="18" charset="0"/>
                          </a:rPr>
                          <ns4:t>2</ns4:t>
                        </ns4:r>
                        <ns4:d>
                          <ns4:dPr>
                            <ns4:begChr ns4:val="|"/>
                            <ns4:endChr ns4:val="|"/>
                            <ns4:ctrlPr>
                              <a:rPr lang="en-US" sz="2200" i="1">
                                <a:latin typeface="Cambria Math" panose="02040503050406030204" pitchFamily="18" charset="0"/>
                              </a:rPr>
                            </ns4:ctrlPr>
                          </ns4:dPr>
                          <ns4:e>
                            <ns4:r>
                              <a:rPr lang="en-US" sz="2200" i="1">
                                <a:latin typeface="Cambria Math" panose="02040503050406030204" pitchFamily="18" charset="0"/>
                              </a:rPr>
                              <ns4:t>𝑃</ns4:t>
                            </ns4:r>
                            <ns4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4:t>∩</ns4:t>
                            </ns4:r>
                            <ns4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4:t>𝐺</ns4:t>
                            </ns4:r>
                          </ns4:e>
                        </ns4:d>
                      </ns4:num>
                      <ns4:den>
                        <ns4:d>
                          <ns4:dPr>
                            <ns4:begChr ns4:val="|"/>
                            <ns4:endChr ns4:val="|"/>
                            <ns4:ctrlPr>
                              <a:rPr lang="en-US" sz="2200" i="1">
                                <a:latin typeface="Cambria Math" panose="02040503050406030204" pitchFamily="18" charset="0"/>
                              </a:rPr>
                            </ns4:ctrlPr>
                          </ns4:dPr>
                          <ns4:e>
                            <ns4:r>
                              <a:rPr lang="en-US" sz="2200" i="1">
                                <a:latin typeface="Cambria Math" panose="02040503050406030204" pitchFamily="18" charset="0"/>
                              </a:rPr>
                              <ns4:t>𝑃</ns4:t>
                            </ns4:r>
                          </ns4:e>
                        </ns4:d>
                        <ns4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4:t>+</ns4:t>
                        </ns4:r>
                        <ns4:d>
                          <ns4:dPr>
                            <ns4:begChr ns4:val="|"/>
                            <ns4:endChr ns4:val="|"/>
                            <ns4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ns4:ctrlPr>
                          </ns4:dPr>
                          <ns4:e>
                            <ns4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4:t>𝐺</ns4:t>
                            </ns4:r>
                          </ns4:e>
                        </ns4:d>
                      </ns4:den>
                    </ns4:f>
                  </ns4:oMath>
                </ns3:m>
                <a:r>
                  <a:rPr lang="en-US" sz="2200" i="1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Τιμές [0,1], όπου 1 = τέλεια επικάλυψη.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200" dirty="0"/>
              </a:p>
            </ns0:txBody>
          </ns0:sp>
        </ns2:Choice>
        <ns2:Fallback>
          <ns0:sp>
            <ns0:nvSpPr>
              <ns0:cNvPr id="9" name="Text 7"/>
              <ns0:cNvSpPr>
                <a:spLocks noRot="1" noChangeAspect="1" noMove="1" noResize="1" noEditPoints="1" noAdjustHandles="1" noChangeArrowheads="1" noChangeShapeType="1" noTextEdit="1"/>
              </ns0:cNvSpPr>
              <ns0:nvPr/>
            </ns0:nvSpPr>
            <ns0:spPr>
              <a:xfrm>
                <a:off x="1005840" y="1930527"/>
                <a:ext cx="10241280" cy="2155698"/>
              </a:xfrm>
              <a:prstGeom prst="rect">
                <a:avLst/>
              </a:prstGeom>
              <a:blipFill>
                <a:blip ns5:embed="rId3"/>
                <a:stretch>
                  <a:fillRect l="-496"/>
                </a:stretch>
              </a:blipFill>
              <a:ln/>
            </ns0:spPr>
            <ns0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ns0:txBody>
          </ns0:sp>
        </ns2:Fallback>
      </ns2:AlternateContent>
      <ns0:sp>
        <ns0:nvSpPr>
          <ns0:cNvPr id="10" name="Text 8"/>
          <ns0:cNvSpPr/>
          <ns0:nvPr/>
        </ns0:nvSpPr>
        <ns0:spPr>
          <a:xfrm>
            <a:off x="1005840" y="2880360"/>
            <a:ext cx="502920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1005840" y="3291840"/>
            <a:ext cx="1024128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1005839" y="3463286"/>
            <a:ext cx="6636531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ea typeface="Calibri" pitchFamily="34" charset="-122"/>
                <a:cs typeface="Calibri" pitchFamily="34" charset="-120"/>
              </a:rPr>
              <a:t>Intersection over Union (</a:t>
            </a:r>
            <a:r>
              <a:rPr lang="en-US" b="1" dirty="0" err="1">
                <a:solidFill>
                  <a:srgbClr val="2DD4BF"/>
                </a:solidFill>
                <a:ea typeface="Calibri" pitchFamily="34" charset="-122"/>
                <a:cs typeface="Calibri" pitchFamily="34" charset="-120"/>
              </a:rPr>
              <a:t>IoU</a:t>
            </a:r>
            <a:r>
              <a:rPr lang="en-US" b="1" dirty="0">
                <a:solidFill>
                  <a:srgbClr val="2DD4BF"/>
                </a:solidFill>
                <a:ea typeface="Calibri" pitchFamily="34" charset="-122"/>
                <a:cs typeface="Calibri" pitchFamily="34" charset="-120"/>
              </a:rPr>
              <a:t>/Jaccard)</a:t>
            </a:r>
            <a:endParaRPr lang="en-US" sz="180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1015841" y="3323987"/>
            <a:ext cx="10241280" cy="1851946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endParaRPr lang="en-US" sz="2200" i="1" dirty="0"/>
          </a:p>
        </ns0:txBody>
      </ns0:sp>
      <ns2:AlternateContent>
        <ns2:Choice Requires="a14">
          <ns0:sp>
            <ns0:nvSpPr>
              <ns0:cNvPr id="14" name="TextBox 13">
                <a:extLst>
                  <a:ext uri="{FF2B5EF4-FFF2-40B4-BE49-F238E27FC236}">
                    <ns6:creationId id="{61AE4819-B564-E687-BDEA-342088C547C1}"/>
                  </a:ext>
                </a:extLst>
              </ns0:cNvPr>
              <ns0:cNvSpPr txBox="1"/>
              <ns0:nvPr/>
            </ns0:nvSpPr>
            <ns0:spPr>
              <a:xfrm>
                <a:off x="91315" y="3943923"/>
                <a:ext cx="3074580" cy="966611"/>
              </a:xfrm>
              <a:prstGeom prst="rect">
                <a:avLst/>
              </a:prstGeom>
              <a:noFill/>
            </ns0:spPr>
            <ns0:txBody>
              <a:bodyPr wrap="square" rtlCol="0">
                <a:spAutoFit/>
              </a:bodyPr>
              <a:lstStyle/>
              <a:p>
                <a:r>
                  <a:rPr lang="en-US" sz="2200" i="1" dirty="0"/>
                  <a:t>								</a:t>
                </a:r>
                <ns3:m>
                  <ns4:oMath>
                    <ns4:r>
                      <a:rPr lang="en-US" sz="2200" b="0" i="1" smtClean="0">
                        <a:latin typeface="Cambria Math" panose="02040503050406030204" pitchFamily="18" charset="0"/>
                      </a:rPr>
                      <ns4:t>𝐼𝑜𝑈</ns4:t>
                    </ns4:r>
                    <ns4:r>
                      <a:rPr lang="en-US" sz="2200" b="0" i="1" smtClean="0">
                        <a:latin typeface="Cambria Math" panose="02040503050406030204" pitchFamily="18" charset="0"/>
                      </a:rPr>
                      <ns4:t>=</ns4:t>
                    </ns4:r>
                    <ns4:f>
                      <ns4:fPr>
                        <ns4:ctrlPr>
                          <a:rPr lang="en-US" sz="2200" b="0" i="1" smtClean="0">
                            <a:latin typeface="Cambria Math" panose="02040503050406030204" pitchFamily="18" charset="0"/>
                          </a:rPr>
                        </ns4:ctrlPr>
                      </ns4:fPr>
                      <ns4:num>
                        <ns4:r>
                          <a:rPr lang="en-US" sz="2200" b="0" i="1" smtClean="0">
                            <a:latin typeface="Cambria Math" panose="02040503050406030204" pitchFamily="18" charset="0"/>
                          </a:rPr>
                          <ns4:t>|</ns4:t>
                        </ns4:r>
                        <ns4:r>
                          <a:rPr lang="en-US" sz="2200" b="0" i="1" smtClean="0">
                            <a:latin typeface="Cambria Math" panose="02040503050406030204" pitchFamily="18" charset="0"/>
                          </a:rPr>
                          <ns4:t>𝑃</ns4:t>
                        </ns4:r>
                        <ns4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4:t>∩</ns4:t>
                        </ns4:r>
                        <ns4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4:t>𝐺</ns4:t>
                        </ns4:r>
                        <ns4:r>
                          <a:rPr lang="en-US" sz="2200" b="0" i="1" smtClean="0">
                            <a:latin typeface="Cambria Math" panose="02040503050406030204" pitchFamily="18" charset="0"/>
                          </a:rPr>
                          <ns4:t>|</ns4:t>
                        </ns4:r>
                      </ns4:num>
                      <ns4:den>
                        <ns4:r>
                          <a:rPr lang="en-US" sz="2200" b="0" i="1" smtClean="0">
                            <a:latin typeface="Cambria Math" panose="02040503050406030204" pitchFamily="18" charset="0"/>
                          </a:rPr>
                          <ns4:t>|</ns4:t>
                        </ns4:r>
                        <ns4:r>
                          <a:rPr lang="en-US" sz="2200" b="0" i="1" smtClean="0">
                            <a:latin typeface="Cambria Math" panose="02040503050406030204" pitchFamily="18" charset="0"/>
                          </a:rPr>
                          <ns4:t>𝑃</ns4:t>
                        </ns4:r>
                        <ns4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4:t>∪</ns4:t>
                        </ns4:r>
                        <ns4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4:t>𝐺</ns4:t>
                        </ns4:r>
                        <ns4:r>
                          <a:rPr lang="en-US" sz="2200" b="0" i="1" smtClean="0">
                            <a:latin typeface="Cambria Math" panose="02040503050406030204" pitchFamily="18" charset="0"/>
                          </a:rPr>
                          <ns4:t>|</ns4:t>
                        </ns4:r>
                      </ns4:den>
                    </ns4:f>
                  </ns4:oMath>
                </ns3:m>
                <a:endParaRPr lang="en-US" sz="2200" dirty="0"/>
              </a:p>
            </ns0:txBody>
          </ns0:sp>
        </ns2:Choice>
        <ns2:Fallback>
          <ns0:sp>
            <ns0:nvSpPr>
              <ns0:cNvPr id="14" name="TextBox 13">
                <a:extLst>
                  <a:ext uri="{FF2B5EF4-FFF2-40B4-BE49-F238E27FC236}">
                    <ns6:creationId id="{61AE4819-B564-E687-BDEA-342088C547C1}"/>
                  </a:ext>
                </a:extLst>
              </ns0:cNvPr>
              <ns0:cNvSpPr txBox="1">
                <a:spLocks noRot="1" noChangeAspect="1" noMove="1" noResize="1" noEditPoints="1" noAdjustHandles="1" noChangeArrowheads="1" noChangeShapeType="1" noTextEdit="1"/>
              </ns0:cNvSpPr>
              <ns0:nvPr/>
            </ns0:nvSpPr>
            <ns0:spPr>
              <a:xfrm>
                <a:off x="91315" y="3943923"/>
                <a:ext cx="3074580" cy="966611"/>
              </a:xfrm>
              <a:prstGeom prst="rect">
                <a:avLst/>
              </a:prstGeom>
              <a:blipFill>
                <a:blip ns5:embed="rId4"/>
                <a:stretch>
                  <a:fillRect b="-3896"/>
                </a:stretch>
              </a:blipFill>
            </ns0:spPr>
            <ns0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ns0:txBody>
          </ns0:sp>
        </ns2:Fallback>
      </ns2:AlternateContent>
      <ns0:sp>
        <ns0:nvSpPr>
          <ns0:cNvPr id="15" name="TextBox 14">
            <a:extLst>
              <a:ext uri="{FF2B5EF4-FFF2-40B4-BE49-F238E27FC236}">
                <ns6:creationId id="{57319C2B-4D81-B854-C242-95679D5CF019}"/>
              </a:ext>
            </a:extLst>
          </ns0:cNvPr>
          <ns0:cNvSpPr txBox="1"/>
          <ns0:nvPr/>
        </ns0:nvSpPr>
        <ns0:spPr>
          <a:xfrm>
            <a:off x="1005840" y="5012762"/>
            <a:ext cx="9487176" cy="1477328"/>
          </a:xfrm>
          <a:prstGeom prst="rect">
            <a:avLst/>
          </a:prstGeom>
          <a:noFill/>
        </ns0:spPr>
        <ns0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Κατάλληλες για έντονο class imbalance (ειδικά ο DSC).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Επιπλέον παρακολούθηση:</a:t>
            </a:r>
            <a:r>
              <a:rPr lang="en-US" dirty="0"/>
              <a:t> Loss εκπαίδευσης/επικύρωσης (</a:t>
            </a:r>
            <a:r>
              <a:rPr lang="en-US" dirty="0" err="1"/>
              <a:t>DiceCELoss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Ποιοτική αξιολόγηση: </a:t>
            </a:r>
            <a:r>
              <a:rPr lang="en-US" dirty="0"/>
              <a:t>Οπτικός έλεγχος ποιότητας ορίων, false positives/negatives</a:t>
            </a:r>
            <a:endParaRPr lang="en-US" b="1" dirty="0"/>
          </a:p>
        </ns0:txBody>
      </ns0:sp>
      <ns0:pic>
        <ns0:nvPicPr>
          <ns0:cNvPr id="16" name="Picture 15" descr="Dice Coefficient Illustrated&#10;">
            <a:extLst>
              <a:ext uri="{FF2B5EF4-FFF2-40B4-BE49-F238E27FC236}">
                <ns6:creationId id="{7A07BF30-E10A-C41A-BE13-C289ED28C8BE}"/>
              </a:ext>
              <a:ext uri="{C183D7F6-B498-43B3-948B-1728B52AA6E4}">
                <ns7:decorative val="0"/>
              </a:ext>
            </a:extLst>
          </ns0:cNvPr>
          <ns0:cNvPicPr>
            <a:picLocks noChangeAspect="1"/>
          </ns0:cNvPicPr>
          <ns0:nvPr/>
        </ns0:nvPicPr>
        <ns0:blipFill>
          <a:blip ns5:embed="rId5"/>
          <a:stretch>
            <a:fillRect/>
          </a:stretch>
        </ns0:blipFill>
        <ns0:spPr>
          <a:xfrm>
            <a:off x="8666265" y="1707412"/>
            <a:ext cx="1908215" cy="2121634"/>
          </a:xfrm>
          <a:prstGeom prst="rect">
            <a:avLst/>
          </a:prstGeom>
        </ns0:spPr>
      </ns0:pic>
      <ns0:pic>
        <ns0:nvPicPr>
          <ns0:cNvPr id="2050" name="Picture 2" descr="Intersection Over Union IoU in Object Detection Segmentation">
            <a:extLst>
              <a:ext uri="{FF2B5EF4-FFF2-40B4-BE49-F238E27FC236}">
                <ns6:creationId id="{29FF591A-63A3-DEE0-4D41-D80A6A751208}"/>
              </a:ext>
            </a:extLst>
          </ns0:cNvPr>
          <ns0:cNvPicPr>
            <a:picLocks noChangeAspect="1" noChangeArrowheads="1"/>
          </ns0:cNvPicPr>
          <ns0:nvPr/>
        </ns0:nvPicPr>
        <ns0:blipFill rotWithShape="1">
          <a:blip ns5:embed="rId6">
            <a:extLst>
              <a:ext uri="{28A0092B-C50C-407E-A947-70E740481C1C}">
                <ns3:useLocalDpi val="0"/>
              </a:ext>
            </a:extLst>
          </a:blip>
          <a:srcRect r="14054"/>
          <a:stretch/>
        </ns0:blipFill>
        <ns0:spPr bwMode="auto">
          <a:xfrm>
            <a:off x="3175896" y="3939981"/>
            <a:ext cx="3598455" cy="1303115"/>
          </a:xfrm>
          <a:prstGeom prst="rect">
            <a:avLst/>
          </a:prstGeom>
          <a:noFill/>
          <a:extLst>
            <a:ext uri="{909E8E84-426E-40DD-AFC4-6F175D3DCCD1}">
              <ns3:hiddenFill>
                <a:solidFill>
                  <a:srgbClr val="FFFFFF"/>
                </a:solidFill>
              </ns3:hiddenFill>
            </a:ext>
          </a:extLst>
        </ns0:spPr>
      </ns0:pic>
    </ns0:spTree>
  </ns0:cSld>
  <ns0:clrMapOvr>
    <a:masterClrMapping/>
  </ns0:clrMapOvr>
</ns0:sld>
</file>

<file path=ppt/slides/slide9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openxmlformats.org/officeDocument/2006/relationships" xmlns:ns4="http://schemas.microsoft.com/office/drawing/2010/main">
  <ns0:cSld name="Slide 6"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219739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320040"/>
            <a:ext cx="10515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Συνελικτικά Δίκτυα (CNNs) και U-Net</a:t>
            </a:r>
            <a:endParaRPr lang="en-US" sz="26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713232" y="822960"/>
            <a:ext cx="1060704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1247120" y="393192"/>
            <a:ext cx="822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960120" y="1737360"/>
            <a:ext cx="5394960" cy="448056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Κυρίαρχη οικογένεια μοντέλων για ιατρική τμηματοποίηση.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U-Net: </a:t>
            </a:r>
            <a:r>
              <a:rPr lang="en-US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Συμμετρική αρχιτεκτονική encoder-decoder με skip connections.</a:t>
            </a:r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Πλεονεκτήματ</a:t>
            </a:r>
            <a:r>
              <a:rPr lang="en-US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α: </a:t>
            </a:r>
            <a:r>
              <a:rPr lang="en-US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Αποδοτικότητα, έμφαση σε τοπικά μορφολογικά χαρακτηριστικά.</a:t>
            </a:r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Παραλλαγές:</a:t>
            </a:r>
            <a:r>
              <a:rPr lang="en-US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DynUNet</a:t>
            </a:r>
            <a:r>
              <a:rPr lang="en-US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(δυναμική προσαρμογή), </a:t>
            </a:r>
            <a:r>
              <a:rPr lang="en-US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SegResNet</a:t>
            </a:r>
            <a:r>
              <a:rPr lang="en-US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 (residual blocks), Attention U-Net.</a:t>
            </a:r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endParaRPr lang="en-US" sz="1800" dirty="0"/>
          </a:p>
        </ns0:txBody>
      </ns0:sp>
      <ns0:pic>
        <ns0:nvPicPr>
          <ns0:cNvPr id="11" name="Image 0" descr="/mnt/data/u-net-architecture.jpeg">
            <a:extLst>
              <a:ext uri="{FF2B5EF4-FFF2-40B4-BE49-F238E27FC236}">
                <ns2:creationId id="{7309049A-6B17-67E6-3D80-B3AB3A7525BC}"/>
              </a:ext>
            </a:extLst>
          </ns0:cNvPr>
          <ns0:cNvPicPr>
            <a:picLocks noChangeAspect="1"/>
          </ns0:cNvPicPr>
          <ns0:nvPr/>
        </ns0:nvPicPr>
        <ns0:blipFill>
          <a:blip ns3:embed="rId3"/>
          <a:stretch>
            <a:fillRect/>
          </a:stretch>
        </ns0:blipFill>
        <ns0:spPr>
          <a:xfrm>
            <a:off x="6812280" y="1422672"/>
            <a:ext cx="3585719" cy="2388145"/>
          </a:xfrm>
          <a:prstGeom prst="rect">
            <a:avLst/>
          </a:prstGeom>
        </ns0:spPr>
      </ns0:pic>
      <ns0:pic>
        <ns0:nvPicPr>
          <ns0:cNvPr id="1026" name="Picture 2" descr="unet和segnet的结合-论文笔记-CSDN博客">
            <a:extLst>
              <a:ext uri="{FF2B5EF4-FFF2-40B4-BE49-F238E27FC236}">
                <ns2:creationId id="{D4F01ADA-A7DE-762B-D2D8-16B80BB029EF}"/>
              </a:ext>
            </a:extLst>
          </ns0:cNvPr>
          <ns0:cNvPicPr>
            <a:picLocks noChangeAspect="1" noChangeArrowheads="1"/>
          </ns0:cNvPicPr>
          <ns0:nvPr/>
        </ns0:nvPicPr>
        <ns0:blipFill>
          <a:blip ns3:embed="rId4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ns0:blipFill>
        <ns0:spPr bwMode="auto">
          <a:xfrm>
            <a:off x="6812280" y="3910239"/>
            <a:ext cx="4273144" cy="1525089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ns0:spPr>
      </ns0:pic>
      <ns0:pic>
        <ns0:nvPicPr>
          <ns0:cNvPr id="13" name="Picture 12">
            <a:extLst>
              <a:ext uri="{FF2B5EF4-FFF2-40B4-BE49-F238E27FC236}">
                <ns2:creationId id="{4B1E4D91-8135-41AA-F257-D84DC3EFCBC5}"/>
              </a:ext>
            </a:extLst>
          </ns0:cNvPr>
          <ns0:cNvPicPr>
            <a:picLocks noChangeAspect="1"/>
          </ns0:cNvPicPr>
          <ns0:nvPr/>
        </ns0:nvPicPr>
        <ns0:blipFill>
          <a:blip ns3:embed="rId5"/>
          <a:stretch>
            <a:fillRect/>
          </a:stretch>
        </ns0:blipFill>
        <ns0:spPr>
          <a:xfrm>
            <a:off x="2639054" y="4672783"/>
            <a:ext cx="1945651" cy="1223735"/>
          </a:xfrm>
          <a:prstGeom prst="rect">
            <a:avLst/>
          </a:prstGeom>
        </ns0:spPr>
      </ns0:pic>
      <ns0:pic>
        <ns0:nvPicPr>
          <ns0:cNvPr id="15" name="Picture 14">
            <a:extLst>
              <a:ext uri="{FF2B5EF4-FFF2-40B4-BE49-F238E27FC236}">
                <ns2:creationId id="{4B1183BC-8E34-732B-A7D5-02489EB4E026}"/>
              </a:ext>
            </a:extLst>
          </ns0:cNvPr>
          <ns0:cNvPicPr>
            <a:picLocks noChangeAspect="1"/>
          </ns0:cNvPicPr>
          <ns0:nvPr/>
        </ns0:nvPicPr>
        <ns0:blipFill>
          <a:blip ns3:embed="rId6"/>
          <a:stretch>
            <a:fillRect/>
          </a:stretch>
        </ns0:blipFill>
        <ns0:spPr>
          <a:xfrm>
            <a:off x="6812280" y="5534750"/>
            <a:ext cx="3802977" cy="1112852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10.xml><?xml version="1.0" encoding="utf-8"?>
<ns0:sld xmlns:a="http://schemas.openxmlformats.org/drawingml/2006/main" xmlns:ns0="http://schemas.openxmlformats.org/presentationml/2006/main" xmlns:ns2="http://schemas.openxmlformats.org/markup-compatibility/2006" xmlns:ns3="http://schemas.microsoft.com/office/drawing/2010/main" xmlns:ns4="http://schemas.openxmlformats.org/officeDocument/2006/math" xmlns:ns5="http://schemas.openxmlformats.org/officeDocument/2006/relationships" xmlns:ns6="http://schemas.microsoft.com/office/drawing/2014/main">
  <ns0:cSld name="Slide 7"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219736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320040"/>
            <a:ext cx="10515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Μοντέλα Attention και Transformers</a:t>
            </a:r>
            <a:endParaRPr lang="en-US" sz="26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713232" y="822960"/>
            <a:ext cx="1060704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1247120" y="393192"/>
            <a:ext cx="822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ns0:txBody>
      </ns0:sp>
      <ns2:AlternateContent>
        <ns2:Choice Requires="a14">
          <ns0:sp>
            <ns0:nvSpPr>
              <ns0:cNvPr id="7" name="Shape 5"/>
              <ns0:cNvSpPr/>
              <ns0:nvPr/>
            </ns0:nvSpPr>
            <ns0:spPr>
              <a:xfrm>
                <a:off x="685800" y="1463040"/>
                <a:ext cx="7315200" cy="2468880"/>
              </a:xfrm>
              <a:prstGeom prst="roundRect">
                <a:avLst/>
              </a:prstGeom>
              <a:solidFill>
                <a:srgbClr val="121F33">
                  <a:alpha val="92000"/>
                </a:srgbClr>
              </a:solidFill>
              <a:ln w="12700">
                <a:solidFill>
                  <a:srgbClr val="2A3A55">
                    <a:alpha val="85000"/>
                  </a:srgbClr>
                </a:solidFill>
                <a:prstDash val="solid"/>
              </a:ln>
            </ns0:spPr>
            <ns0:txBody>
              <a:bodyPr/>
              <a:lstStyle/>
              <a:p>
                <a:r>
                  <a:rPr lang="en-US" dirty="0"/>
                  <a:t>Μηχανισμός Self-Attention για μοντελοποίηση long-range εξαρτήσεων (global context).</a:t>
                </a:r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Πρόκληση:</a:t>
                </a:r>
                <a:r>
                  <a:rPr lang="en-US" dirty="0"/>
                  <a:t> Τετραγωνικό κόστος </a:t>
                </a:r>
                <ns3:m>
                  <ns4:oMath>
                    <ns4:r>
                      <a:rPr lang="en-US" b="0" i="1" smtClean="0">
                        <a:latin typeface="Cambria Math" panose="02040503050406030204" pitchFamily="18" charset="0"/>
                      </a:rPr>
                      <ns4:t>𝑂</ns4:t>
                    </ns4:r>
                    <ns4:d>
                      <ns4:dPr>
                        <ns4:ctrlPr>
                          <a:rPr lang="en-US" b="0" i="1" smtClean="0">
                            <a:latin typeface="Cambria Math" panose="02040503050406030204" pitchFamily="18" charset="0"/>
                          </a:rPr>
                        </ns4:ctrlPr>
                      </ns4:dPr>
                      <ns4:e>
                        <ns4:sSup>
                          <ns4:sSupPr>
                            <ns4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ns4:ctrlPr>
                          </ns4:sSupPr>
                          <ns4:e>
                            <ns4:r>
                              <a:rPr lang="en-US" b="0" i="1" smtClean="0">
                                <a:latin typeface="Cambria Math" panose="02040503050406030204" pitchFamily="18" charset="0"/>
                              </a:rPr>
                              <ns4:t>𝑛</ns4:t>
                            </ns4:r>
                          </ns4:e>
                          <ns4:sup>
                            <ns4:r>
                              <a:rPr lang="en-US" b="0" i="1" smtClean="0">
                                <a:latin typeface="Cambria Math" panose="02040503050406030204" pitchFamily="18" charset="0"/>
                              </a:rPr>
                              <ns4:t>2</ns4:t>
                            </ns4:r>
                          </ns4:sup>
                        </ns4:sSup>
                      </ns4:e>
                    </ns4:d>
                  </ns4:oMath>
                </ns3:m>
                <a:r>
                  <a:rPr lang="en-US" b="1" dirty="0"/>
                  <a:t> </a:t>
                </a:r>
                <a:r>
                  <a:rPr lang="en-US" dirty="0"/>
                  <a:t>για 3D δεδομένα υψηλής ανάλυσης.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Λύσεις: </a:t>
                </a:r>
                <a:r>
                  <a:rPr lang="en-US" dirty="0"/>
                  <a:t>Ιεραρχία, τοπικά παράθυρα (Window Attention).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Μοντέλα: </a:t>
                </a:r>
                <a:r>
                  <a:rPr lang="en-US" dirty="0"/>
                  <a:t>UNETR (</a:t>
                </a:r>
                <a:r>
                  <a:rPr lang="en-US" dirty="0" err="1"/>
                  <a:t>ViT</a:t>
                </a:r>
                <a:r>
                  <a:rPr lang="en-US" dirty="0"/>
                  <a:t> encoder), </a:t>
                </a:r>
                <a:r>
                  <a:rPr lang="en-US" dirty="0" err="1"/>
                  <a:t>SwinUNETR</a:t>
                </a:r>
                <a:r>
                  <a:rPr lang="en-US" dirty="0"/>
                  <a:t> (</a:t>
                </a:r>
                <a:r>
                  <a:rPr lang="en-US" dirty="0" err="1"/>
                  <a:t>Swin</a:t>
                </a:r>
                <a:r>
                  <a:rPr lang="en-US" dirty="0"/>
                  <a:t> Transformer encoder).</a:t>
                </a:r>
              </a:p>
            </ns0:txBody>
          </ns0:sp>
        </ns2:Choice>
        <ns2:Fallback>
          <ns0:sp>
            <ns0:nvSpPr>
              <ns0:cNvPr id="7" name="Shape 5"/>
              <ns0:cNvSpPr>
                <a:spLocks noRot="1" noChangeAspect="1" noMove="1" noResize="1" noEditPoints="1" noAdjustHandles="1" noChangeArrowheads="1" noChangeShapeType="1" noTextEdit="1"/>
              </ns0:cNvSpPr>
              <ns0:nvPr/>
            </ns0:nvSpPr>
            <ns0:spPr>
              <a:xfrm>
                <a:off x="685800" y="1463040"/>
                <a:ext cx="7315200" cy="2468880"/>
              </a:xfrm>
              <a:prstGeom prst="roundRect">
                <a:avLst/>
              </a:prstGeom>
              <a:blipFill>
                <a:blip ns5:embed="rId3"/>
                <a:stretch>
                  <a:fillRect b="-1015"/>
                </a:stretch>
              </a:blipFill>
              <a:ln w="12700">
                <a:solidFill>
                  <a:srgbClr val="2A3A55">
                    <a:alpha val="85000"/>
                  </a:srgbClr>
                </a:solidFill>
                <a:prstDash val="solid"/>
              </a:ln>
            </ns0:spPr>
            <ns0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ns0:txBody>
          </ns0:sp>
        </ns2:Fallback>
      </ns2:AlternateContent>
      <ns0:sp>
        <ns0:nvSpPr>
          <ns0:cNvPr id="8" name="Text 6"/>
          <ns0:cNvSpPr/>
          <ns0:nvPr/>
        </ns0:nvSpPr>
        <ns0:spPr>
          <a:xfrm>
            <a:off x="960120" y="1737360"/>
            <a:ext cx="32004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ns0:txBody>
      </ns0:sp>
      <ns0:sp>
        <ns0:nvSpPr>
          <ns0:cNvPr id="9" name="Text 7"/>
          <ns0:cNvSpPr/>
          <ns0:nvPr/>
        </ns0:nvSpPr>
        <ns0:spPr>
          <a:xfrm>
            <a:off x="960120" y="2057400"/>
            <a:ext cx="3291840" cy="146304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endParaRPr lang="en-US" sz="1400" dirty="0"/>
          </a:p>
        </ns0:txBody>
      </ns0:sp>
      <ns0:sp>
        <ns0:nvSpPr>
          <ns0:cNvPr id="10" name="Text 8"/>
          <ns0:cNvSpPr/>
          <ns0:nvPr/>
        </ns0:nvSpPr>
        <ns0:spPr>
          <a:xfrm>
            <a:off x="960120" y="3611880"/>
            <a:ext cx="32004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960120" y="3931920"/>
            <a:ext cx="3291840" cy="164592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>
              <a:lnSpc>
                <a:spcPct val="112000"/>
              </a:lnSpc>
              <a:buSzPct val="100000"/>
            </a:pPr>
            <a:endParaRPr lang="en-US" sz="140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4892040" y="1737360"/>
            <a:ext cx="3108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ns0:txBody>
      </ns0:sp>
      <ns0:sp>
        <ns0:nvSpPr>
          <ns0:cNvPr id="14" name="Text 12"/>
          <ns0:cNvSpPr/>
          <ns0:nvPr/>
        </ns0:nvSpPr>
        <ns0:spPr>
          <a:xfrm>
            <a:off x="4892040" y="2057400"/>
            <a:ext cx="3154680" cy="173736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endParaRPr lang="en-US" sz="1400" dirty="0"/>
          </a:p>
        </ns0:txBody>
      </ns0:sp>
      <ns0:pic>
        <ns0:nvPicPr>
          <ns0:cNvPr id="16" name="Image 0" descr="/mnt/data/attention-module.png"/>
          <ns0:cNvPicPr>
            <a:picLocks noChangeAspect="1"/>
          </ns0:cNvPicPr>
          <ns0:nvPr/>
        </ns0:nvPicPr>
        <ns0:blipFill rotWithShape="1">
          <a:blip ns5:embed="rId4"/>
          <a:srcRect l="7911" r="22242"/>
          <a:stretch/>
        </ns0:blipFill>
        <ns0:spPr>
          <a:xfrm>
            <a:off x="8693331" y="2037994"/>
            <a:ext cx="2708692" cy="3467812"/>
          </a:xfrm>
          <a:prstGeom prst="rect">
            <a:avLst/>
          </a:prstGeom>
        </ns0:spPr>
      </ns0:pic>
      <ns0:pic>
        <ns0:nvPicPr>
          <ns0:cNvPr id="18" name="Image 1" descr="/mnt/data/swin vs vit.png"/>
          <ns0:cNvPicPr>
            <a:picLocks noChangeAspect="1"/>
          </ns0:cNvPicPr>
          <ns0:nvPr/>
        </ns0:nvPicPr>
        <ns0:blipFill>
          <a:blip ns5:embed="rId5"/>
          <a:stretch>
            <a:fillRect/>
          </a:stretch>
        </ns0:blipFill>
        <ns0:spPr>
          <a:xfrm>
            <a:off x="960120" y="3943350"/>
            <a:ext cx="2476429" cy="1294819"/>
          </a:xfrm>
          <a:prstGeom prst="rect">
            <a:avLst/>
          </a:prstGeom>
        </ns0:spPr>
      </ns0:pic>
      <ns0:pic>
        <ns0:nvPicPr>
          <ns0:cNvPr id="6146" name="Picture 2" descr="2103.14030] Swin Transformer: Hierarchical Vision Transformer using Shifted  Windows">
            <a:extLst>
              <a:ext uri="{FF2B5EF4-FFF2-40B4-BE49-F238E27FC236}">
                <ns6:creationId id="{14E50D46-5CDD-157F-2F9D-5C78DFD1049D}"/>
              </a:ext>
            </a:extLst>
          </ns0:cNvPr>
          <ns0:cNvPicPr>
            <a:picLocks noChangeAspect="1" noChangeArrowheads="1"/>
          </ns0:cNvPicPr>
          <ns0:nvPr/>
        </ns0:nvPicPr>
        <ns0:blipFill>
          <a:blip ns5:embed="rId6">
            <a:extLst>
              <a:ext uri="{28A0092B-C50C-407E-A947-70E740481C1C}">
                <ns3:useLocalDpi val="0"/>
              </a:ext>
            </a:extLst>
          </a:blip>
          <a:srcRect/>
          <a:stretch>
            <a:fillRect/>
          </a:stretch>
        </ns0:blipFill>
        <ns0:spPr bwMode="auto">
          <a:xfrm>
            <a:off x="960120" y="5147817"/>
            <a:ext cx="3200400" cy="1238905"/>
          </a:xfrm>
          <a:prstGeom prst="rect">
            <a:avLst/>
          </a:prstGeom>
          <a:solidFill>
            <a:schemeClr val="tx1"/>
          </a:solidFill>
        </ns0:spPr>
      </ns0:pic>
      <ns0:pic>
        <ns0:nvPicPr>
          <ns0:cNvPr id="17" name="Picture 16">
            <a:extLst>
              <a:ext uri="{FF2B5EF4-FFF2-40B4-BE49-F238E27FC236}">
                <ns6:creationId id="{98862C21-63A9-9CA0-3FAA-B0E6FC9E0074}"/>
              </a:ext>
            </a:extLst>
          </ns0:cNvPr>
          <ns0:cNvPicPr>
            <a:picLocks noChangeAspect="1"/>
          </ns0:cNvPicPr>
          <ns0:nvPr/>
        </ns0:nvPicPr>
        <ns0:blipFill>
          <a:blip ns5:embed="rId7"/>
          <a:stretch>
            <a:fillRect/>
          </a:stretch>
        </ns0:blipFill>
        <ns0:spPr>
          <a:xfrm>
            <a:off x="4728753" y="4145986"/>
            <a:ext cx="1982289" cy="2003661"/>
          </a:xfrm>
          <a:prstGeom prst="rect">
            <a:avLst/>
          </a:prstGeom>
        </ns0:spPr>
      </ns0:pic>
      <ns0:cxnSp>
        <ns0:nvCxnSpPr>
          <ns0:cNvPr id="23" name="Straight Arrow Connector 22">
            <a:extLst>
              <a:ext uri="{FF2B5EF4-FFF2-40B4-BE49-F238E27FC236}">
                <ns6:creationId id="{ADF9F549-AFB5-52A3-D56F-16F0BEC017BF}"/>
              </a:ext>
            </a:extLst>
          </ns0:cNvPr>
          <ns0:cNvCxnSpPr>
            <a:cxnSpLocks/>
          </ns0:cNvCxnSpPr>
          <ns0:nvPr/>
        </ns0:nvCxnSpPr>
        <ns0:spPr>
          <a:xfrm flipH="1">
            <a:off x="5584371" y="3611880"/>
            <a:ext cx="1004208" cy="43760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ns0:spPr>
        <ns0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ns0:style>
      </ns0:cxnSp>
    </ns0:spTree>
  </ns0:cSld>
  <ns0:clrMapOvr>
    <a:masterClrMapping/>
  </ns0:clrMapOvr>
</ns0:sld>
</file>

<file path=ppt/slides/slide11.xml><?xml version="1.0" encoding="utf-8"?>
<ns0:sld xmlns:a="http://schemas.openxmlformats.org/drawingml/2006/main" xmlns:ns0="http://schemas.openxmlformats.org/presentationml/2006/main" xmlns:ns2="http://schemas.openxmlformats.org/markup-compatibility/2006" xmlns:ns3="http://schemas.microsoft.com/office/drawing/2010/main" xmlns:ns4="http://schemas.openxmlformats.org/officeDocument/2006/math" xmlns:ns5="http://schemas.openxmlformats.org/officeDocument/2006/relationships" xmlns:ns6="http://schemas.microsoft.com/office/drawing/2014/main">
  <ns0:cSld name="Slide 8"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305" y="219737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320040"/>
            <a:ext cx="10515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Αναδυόμενη Προσέγγιση: State Space Models (SSMs)</a:t>
            </a:r>
            <a:endParaRPr lang="en-US" sz="26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713232" y="822960"/>
            <a:ext cx="1060704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1247120" y="393192"/>
            <a:ext cx="822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cs typeface="Calibri" pitchFamily="34" charset="-120"/>
              </a:rPr>
              <a:t>10</a:t>
            </a:r>
            <a:endParaRPr lang="en-US" sz="1400" dirty="0"/>
          </a:p>
        </ns0:txBody>
      </ns0:sp>
      <ns2:AlternateContent>
        <ns2:Choice Requires="a14">
          <ns0:sp>
            <ns0:nvSpPr>
              <ns0:cNvPr id="7" name="Shape 5"/>
              <ns0:cNvSpPr/>
              <ns0:nvPr/>
            </ns0:nvSpPr>
            <ns0:spPr>
              <a:xfrm>
                <a:off x="685799" y="1463041"/>
                <a:ext cx="6449785" cy="2545624"/>
              </a:xfrm>
              <a:prstGeom prst="roundRect">
                <a:avLst/>
              </a:prstGeom>
              <a:solidFill>
                <a:srgbClr val="121F33">
                  <a:alpha val="92000"/>
                </a:srgbClr>
              </a:solidFill>
              <a:ln w="12700">
                <a:solidFill>
                  <a:srgbClr val="2A3A55">
                    <a:alpha val="85000"/>
                  </a:srgbClr>
                </a:solidFill>
                <a:prstDash val="solid"/>
              </a:ln>
            </ns0:spPr>
            <ns0:txBody>
              <a:bodyPr/>
              <a:lstStyle/>
              <a:p>
                <a:r>
                  <a:rPr lang="en-US" sz="1200" b="1" dirty="0"/>
                  <a:t>RNNs:  </a:t>
                </a:r>
                <a:r>
                  <a:rPr lang="en-US" sz="1200" dirty="0"/>
                  <a:t>«Μεγάλη μνήμη... μέχρι να μεγαλώσει πολύ η ακολουθία και να </a:t>
                </a:r>
                <a:r>
                  <a:rPr lang="en-US" sz="1200" i="1" dirty="0"/>
                  <a:t>ξεχνούν </a:t>
                </a:r>
                <a:r>
                  <a:rPr lang="en-US" sz="1200" dirty="0"/>
                  <a:t>(και η εκπαίδευση γίνεται αργή).»</a:t>
                </a:r>
              </a:p>
              <a:p>
                <a:r>
                  <a:rPr lang="en-US" sz="1200" b="1" dirty="0"/>
                  <a:t>Transformers: </a:t>
                </a:r>
                <a:r>
                  <a:rPr lang="en-US" sz="1200" dirty="0"/>
                  <a:t>«Ισχυρό context... μέχρι το attention να αποφασίσει ότι </a:t>
                </a:r>
                <ns3:m>
                  <ns4:oMath>
                    <ns4:r>
                      <a:rPr lang="en-US" sz="1200" b="0" i="1" smtClean="0">
                        <a:latin typeface="Cambria Math" panose="02040503050406030204" pitchFamily="18" charset="0"/>
                      </a:rPr>
                      <ns4:t>𝑂</ns4:t>
                    </ns4:r>
                    <ns4:r>
                      <a:rPr lang="en-US" sz="1200" b="0" i="1" smtClean="0">
                        <a:latin typeface="Cambria Math" panose="02040503050406030204" pitchFamily="18" charset="0"/>
                      </a:rPr>
                      <ns4:t>(</ns4:t>
                    </ns4:r>
                    <ns4:sSup>
                      <ns4:sSupPr>
                        <ns4:ctrlPr>
                          <a:rPr lang="en-US" sz="1200" b="0" i="1" smtClean="0">
                            <a:latin typeface="Cambria Math" panose="02040503050406030204" pitchFamily="18" charset="0"/>
                          </a:rPr>
                        </ns4:ctrlPr>
                      </ns4:sSupPr>
                      <ns4:e>
                        <ns4:r>
                          <a:rPr lang="en-US" sz="1200" b="0" i="1" smtClean="0">
                            <a:latin typeface="Cambria Math" panose="02040503050406030204" pitchFamily="18" charset="0"/>
                          </a:rPr>
                          <ns4:t>𝑛</ns4:t>
                        </ns4:r>
                      </ns4:e>
                      <ns4:sup>
                        <ns4:r>
                          <a:rPr lang="en-US" sz="1200" b="0" i="1" smtClean="0">
                            <a:latin typeface="Cambria Math" panose="02040503050406030204" pitchFamily="18" charset="0"/>
                          </a:rPr>
                          <ns4:t>2</ns4:t>
                        </ns4:r>
                      </ns4:sup>
                    </ns4:sSup>
                    <ns4:r>
                      <a:rPr lang="en-US" sz="1200" b="0" i="1" smtClean="0">
                        <a:latin typeface="Cambria Math" panose="02040503050406030204" pitchFamily="18" charset="0"/>
                      </a:rPr>
                      <ns4:t>)</ns4:t>
                    </ns4:r>
                  </ns4:oMath>
                </ns3:m>
                <a:r>
                  <a:rPr lang="en-US" sz="1200" b="1" dirty="0"/>
                  <a:t> </a:t>
                </a:r>
                <a:r>
                  <a:rPr lang="en-US" sz="1200" dirty="0"/>
                  <a:t>είναι απολύτως φυσιολογικό lifestyle.»</a:t>
                </a:r>
              </a:p>
              <a:p>
                <a:r>
                  <a:rPr lang="en-US" sz="1200" b="1" dirty="0"/>
                  <a:t>SSMs(S6): </a:t>
                </a:r>
                <a:r>
                  <a:rPr lang="en-US" sz="1200" dirty="0"/>
                  <a:t>«Ίδιο long-range vibe, αλλά </a:t>
                </a:r>
                <a:r>
                  <a:rPr lang="en-US" sz="1200" i="1" dirty="0"/>
                  <a:t>σε linear-time-</a:t>
                </a:r>
                <a:r>
                  <a:rPr lang="en-US" sz="1200" dirty="0"/>
                  <a:t>σαν attention, αλλά πιο οικονομικά.»</a:t>
                </a:r>
                <a:endParaRPr lang="en-US" sz="1200" b="1" dirty="0"/>
              </a:p>
            </ns0:txBody>
          </ns0:sp>
        </ns2:Choice>
        <ns2:Fallback>
          <ns0:sp>
            <ns0:nvSpPr>
              <ns0:cNvPr id="7" name="Shape 5"/>
              <ns0:cNvSpPr>
                <a:spLocks noRot="1" noChangeAspect="1" noMove="1" noResize="1" noEditPoints="1" noAdjustHandles="1" noChangeArrowheads="1" noChangeShapeType="1" noTextEdit="1"/>
              </ns0:cNvSpPr>
              <ns0:nvPr/>
            </ns0:nvSpPr>
            <ns0:spPr>
              <a:xfrm>
                <a:off x="685799" y="1463041"/>
                <a:ext cx="6449785" cy="2545624"/>
              </a:xfrm>
              <a:prstGeom prst="roundRect">
                <a:avLst/>
              </a:prstGeom>
              <a:blipFill>
                <a:blip ns5:embed="rId3"/>
                <a:stretch>
                  <a:fillRect/>
                </a:stretch>
              </a:blipFill>
              <a:ln w="12700">
                <a:solidFill>
                  <a:srgbClr val="2A3A55">
                    <a:alpha val="85000"/>
                  </a:srgbClr>
                </a:solidFill>
                <a:prstDash val="solid"/>
              </a:ln>
            </ns0:spPr>
            <ns0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ns0:txBody>
          </ns0:sp>
        </ns2:Fallback>
      </ns2:AlternateContent>
      <ns0:sp>
        <ns0:nvSpPr>
          <ns0:cNvPr id="8" name="Text 6"/>
          <ns0:cNvSpPr/>
          <ns0:nvPr/>
        </ns0:nvSpPr>
        <ns0:spPr>
          <a:xfrm>
            <a:off x="926966" y="2883297"/>
            <a:ext cx="6208618" cy="1125367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cs typeface="Calibri" pitchFamily="34" charset="-120"/>
              </a:rPr>
              <a:t>Long-range εξαρτήσεις + γραμμική κλιμάκωση.</a:t>
            </a:r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cs typeface="Calibri" pitchFamily="34" charset="-120"/>
              </a:rPr>
              <a:t>Mamba:  </a:t>
            </a:r>
            <a:r>
              <a:rPr lang="en-US" sz="1200" dirty="0">
                <a:solidFill>
                  <a:srgbClr val="FFFFFF"/>
                </a:solidFill>
                <a:cs typeface="Calibri" pitchFamily="34" charset="-120"/>
              </a:rPr>
              <a:t>Selective State Space Models, δυνατότητα να </a:t>
            </a:r>
            <a:r>
              <a:rPr lang="en-US" sz="1200" b="1" dirty="0">
                <a:solidFill>
                  <a:srgbClr val="FFFFFF"/>
                </a:solidFill>
                <a:cs typeface="Calibri" pitchFamily="34" charset="-120"/>
              </a:rPr>
              <a:t>φιλτράρουν</a:t>
            </a:r>
            <a:r>
              <a:rPr lang="en-US" sz="1200" dirty="0">
                <a:solidFill>
                  <a:srgbClr val="FFFFFF"/>
                </a:solidFill>
                <a:cs typeface="Calibri" pitchFamily="34" charset="-120"/>
              </a:rPr>
              <a:t> </a:t>
            </a:r>
            <a:r>
              <a:rPr lang="en-US" sz="1200" u="sng" dirty="0">
                <a:solidFill>
                  <a:srgbClr val="FFFFFF"/>
                </a:solidFill>
                <a:cs typeface="Calibri" pitchFamily="34" charset="-120"/>
              </a:rPr>
              <a:t>μη σχετικές</a:t>
            </a:r>
            <a:r>
              <a:rPr lang="en-US" sz="1200" dirty="0">
                <a:solidFill>
                  <a:srgbClr val="FFFFFF"/>
                </a:solidFill>
                <a:cs typeface="Calibri" pitchFamily="34" charset="-120"/>
              </a:rPr>
              <a:t> πληροφορίες.</a:t>
            </a:r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cs typeface="Calibri" pitchFamily="34" charset="-120"/>
              </a:rPr>
              <a:t>Παραμετροποίηση εξαρτώμενη από το περιεχόμενο (content-based selection).</a:t>
            </a:r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200" b="1" dirty="0" err="1">
                <a:solidFill>
                  <a:srgbClr val="FFFFFF"/>
                </a:solidFill>
                <a:cs typeface="Calibri" pitchFamily="34" charset="-120"/>
              </a:rPr>
              <a:t>SegMamba</a:t>
            </a:r>
            <a:r>
              <a:rPr lang="en-US" sz="1200" b="1" dirty="0">
                <a:solidFill>
                  <a:srgbClr val="FFFFFF"/>
                </a:solidFill>
                <a:cs typeface="Calibri" pitchFamily="34" charset="-120"/>
              </a:rPr>
              <a:t>: </a:t>
            </a:r>
            <a:r>
              <a:rPr lang="en-US" sz="1200" dirty="0">
                <a:solidFill>
                  <a:srgbClr val="FFFFFF"/>
                </a:solidFill>
                <a:cs typeface="Calibri" pitchFamily="34" charset="-120"/>
              </a:rPr>
              <a:t>Mamba blocks σε U-shape σχεδιασμό για 3D τμηματοποίηση.</a:t>
            </a:r>
            <a:endParaRPr lang="en-US" sz="1200" b="1" dirty="0">
              <a:solidFill>
                <a:srgbClr val="FFFFFF"/>
              </a:solidFill>
              <a:cs typeface="Calibri" pitchFamily="34" charset="-120"/>
            </a:endParaRPr>
          </a:p>
        </ns0:txBody>
      </ns0:sp>
      <ns0:sp>
        <ns0:nvSpPr>
          <ns0:cNvPr id="15" name="Text 6">
            <a:extLst>
              <a:ext uri="{FF2B5EF4-FFF2-40B4-BE49-F238E27FC236}">
                <ns6:creationId id="{0438D165-06EA-37E3-E466-95DF15523069}"/>
              </a:ext>
            </a:extLst>
          </ns0:cNvPr>
          <ns0:cNvSpPr/>
          <ns0:nvPr/>
        </ns0:nvSpPr>
        <ns0:spPr>
          <a:xfrm>
            <a:off x="6537960" y="3130185"/>
            <a:ext cx="5394960" cy="2054136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endParaRPr lang="en-US" b="1" dirty="0">
              <a:solidFill>
                <a:srgbClr val="FFFFFF"/>
              </a:solidFill>
              <a:cs typeface="Calibri" pitchFamily="34" charset="-120"/>
            </a:endParaRPr>
          </a:p>
        </ns0:txBody>
      </ns0:sp>
      <ns0:pic>
        <ns0:nvPicPr>
          <ns0:cNvPr id="17" name="Picture 16">
            <a:extLst>
              <a:ext uri="{FF2B5EF4-FFF2-40B4-BE49-F238E27FC236}">
                <ns6:creationId id="{A23D562C-D0D6-EAED-58B1-4FD099B7F480}"/>
              </a:ext>
            </a:extLst>
          </ns0:cNvPr>
          <ns0:cNvPicPr>
            <a:picLocks noChangeAspect="1"/>
          </ns0:cNvPicPr>
          <ns0:nvPr/>
        </ns0:nvPicPr>
        <ns0:blipFill>
          <a:blip ns5:embed="rId4"/>
          <a:stretch>
            <a:fillRect/>
          </a:stretch>
        </ns0:blipFill>
        <ns0:spPr>
          <a:xfrm>
            <a:off x="685799" y="4157253"/>
            <a:ext cx="2987440" cy="1170752"/>
          </a:xfrm>
          <a:prstGeom prst="rect">
            <a:avLst/>
          </a:prstGeom>
        </ns0:spPr>
      </ns0:pic>
      <ns0:pic>
        <ns0:nvPicPr>
          <ns0:cNvPr id="18" name="Picture 17">
            <a:extLst>
              <a:ext uri="{FF2B5EF4-FFF2-40B4-BE49-F238E27FC236}">
                <ns6:creationId id="{AC9F4247-47C4-BE86-778D-6B33B8BF5D58}"/>
              </a:ext>
            </a:extLst>
          </ns0:cNvPr>
          <ns0:cNvPicPr>
            <a:picLocks noChangeAspect="1"/>
          </ns0:cNvPicPr>
          <ns0:nvPr/>
        </ns0:nvPicPr>
        <ns0:blipFill>
          <a:blip ns5:embed="rId5"/>
          <a:stretch>
            <a:fillRect/>
          </a:stretch>
        </ns0:blipFill>
        <ns0:spPr>
          <a:xfrm>
            <a:off x="4070589" y="4157253"/>
            <a:ext cx="2964263" cy="1170752"/>
          </a:xfrm>
          <a:prstGeom prst="rect">
            <a:avLst/>
          </a:prstGeom>
        </ns0:spPr>
      </ns0:pic>
      <ns0:pic>
        <ns0:nvPicPr>
          <ns0:cNvPr id="20" name="Picture 19">
            <a:extLst>
              <a:ext uri="{FF2B5EF4-FFF2-40B4-BE49-F238E27FC236}">
                <ns6:creationId id="{D83D7D98-8050-D3F8-B4A8-8B8C69270EC7}"/>
              </a:ext>
            </a:extLst>
          </ns0:cNvPr>
          <ns0:cNvPicPr>
            <a:picLocks noChangeAspect="1"/>
          </ns0:cNvPicPr>
          <ns0:nvPr/>
        </ns0:nvPicPr>
        <ns0:blipFill>
          <a:blip ns5:embed="rId6"/>
          <a:stretch>
            <a:fillRect/>
          </a:stretch>
        </ns0:blipFill>
        <ns0:spPr>
          <a:xfrm>
            <a:off x="7432202" y="2524224"/>
            <a:ext cx="3469715" cy="1152957"/>
          </a:xfrm>
          <a:prstGeom prst="rect">
            <a:avLst/>
          </a:prstGeom>
        </ns0:spPr>
      </ns0:pic>
      <ns0:pic>
        <ns0:nvPicPr>
          <ns0:cNvPr id="21" name="Picture 20">
            <a:extLst>
              <a:ext uri="{FF2B5EF4-FFF2-40B4-BE49-F238E27FC236}">
                <ns6:creationId id="{66714D5E-7A27-EBF5-778E-058632B04711}"/>
              </a:ext>
            </a:extLst>
          </ns0:cNvPr>
          <ns0:cNvPicPr>
            <a:picLocks noChangeAspect="1"/>
          </ns0:cNvPicPr>
          <ns0:nvPr/>
        </ns0:nvPicPr>
        <ns0:blipFill>
          <a:blip ns5:embed="rId7"/>
          <a:stretch>
            <a:fillRect/>
          </a:stretch>
        </ns0:blipFill>
        <ns0:spPr>
          <a:xfrm>
            <a:off x="7432202" y="3767331"/>
            <a:ext cx="3469714" cy="1139687"/>
          </a:xfrm>
          <a:prstGeom prst="rect">
            <a:avLst/>
          </a:prstGeom>
        </ns0:spPr>
      </ns0:pic>
      <ns0:pic>
        <ns0:nvPicPr>
          <ns0:cNvPr id="7170" name="Picture 2">
            <a:extLst>
              <a:ext uri="{FF2B5EF4-FFF2-40B4-BE49-F238E27FC236}">
                <ns6:creationId id="{96D0634D-C2F0-15C2-368C-487766534155}"/>
              </a:ext>
            </a:extLst>
          </ns0:cNvPr>
          <ns0:cNvPicPr>
            <a:picLocks noChangeAspect="1" noChangeArrowheads="1"/>
          </ns0:cNvPicPr>
          <ns0:nvPr/>
        </ns0:nvPicPr>
        <ns0:blipFill>
          <a:blip ns5:embed="rId8">
            <a:extLst>
              <a:ext uri="{28A0092B-C50C-407E-A947-70E740481C1C}">
                <ns3:useLocalDpi val="0"/>
              </a:ext>
            </a:extLst>
          </a:blip>
          <a:srcRect/>
          <a:stretch>
            <a:fillRect/>
          </a:stretch>
        </ns0:blipFill>
        <ns0:spPr bwMode="auto">
          <a:xfrm>
            <a:off x="7432203" y="1781411"/>
            <a:ext cx="3469714" cy="657800"/>
          </a:xfrm>
          <a:prstGeom prst="rect">
            <a:avLst/>
          </a:prstGeom>
          <a:noFill/>
          <a:extLst>
            <a:ext uri="{909E8E84-426E-40DD-AFC4-6F175D3DCCD1}">
              <ns3:hiddenFill>
                <a:solidFill>
                  <a:srgbClr val="FFFFFF"/>
                </a:solidFill>
              </ns3:hiddenFill>
            </a:ext>
          </a:extLst>
        </ns0:spPr>
      </ns0:pic>
      <ns0:pic>
        <ns0:nvPicPr>
          <ns0:cNvPr id="22" name="Picture 21">
            <a:extLst>
              <a:ext uri="{FF2B5EF4-FFF2-40B4-BE49-F238E27FC236}">
                <ns6:creationId id="{2EA47A2F-3323-FF4C-1329-52DD2C5C6017}"/>
              </a:ext>
            </a:extLst>
          </ns0:cNvPr>
          <ns0:cNvPicPr>
            <a:picLocks noChangeAspect="1"/>
          </ns0:cNvPicPr>
          <ns0:nvPr/>
        </ns0:nvPicPr>
        <ns0:blipFill>
          <a:blip ns5:embed="rId9"/>
          <a:stretch>
            <a:fillRect/>
          </a:stretch>
        </ns0:blipFill>
        <ns0:spPr>
          <a:xfrm>
            <a:off x="7432202" y="4997168"/>
            <a:ext cx="3469714" cy="1045908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12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9"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320040"/>
            <a:ext cx="10515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</a:t>
            </a:r>
            <a:endParaRPr lang="en-US" sz="26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713232" y="822960"/>
            <a:ext cx="1060704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με skip connections</a:t>
            </a:r>
            <a:endParaRPr lang="en-US" sz="1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1247120" y="393192"/>
            <a:ext cx="822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685800" y="1463040"/>
            <a:ext cx="49377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960120" y="1737360"/>
            <a:ext cx="4434840" cy="201168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μοντέλο στην ιατρική απεικόνιση.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Ισχυρό inductive bias για τοπικότητα.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Γρήγορο στην εκπαίδευση σε σύγκριση με βαρύτερα μοντέλα.</a:t>
            </a:r>
            <a:endParaRPr lang="en-US" sz="18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5806440" y="1463040"/>
            <a:ext cx="5715000" cy="2788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pic>
        <ns0:nvPicPr>
          <ns0:cNvPr id="10" name="Image 0" descr="/mnt/data/u-net-architecture.jpeg"/>
          <ns0:cNvPicPr>
            <a:picLocks noChangeAspect="1"/>
          </ns0:cNvPicPr>
          <ns0:nvPr/>
        </ns0:nvPicPr>
        <ns0:blipFill>
          <a:blip ns2:embed="rId3"/>
          <a:stretch>
            <a:fillRect/>
          </a:stretch>
        </ns0:blipFill>
        <ns0:spPr>
          <a:xfrm>
            <a:off x="6844793" y="1645920"/>
            <a:ext cx="3638293" cy="2423160"/>
          </a:xfrm>
          <a:prstGeom prst="rect">
            <a:avLst/>
          </a:prstGeom>
        </ns0:spPr>
      </ns0:pic>
      <ns0:sp>
        <ns0:nvSpPr>
          <ns0:cNvPr id="11" name="Shape 8"/>
          <ns0:cNvSpPr/>
          <ns0:nvPr/>
        </ns0:nvSpPr>
        <ns0:spPr>
          <a:xfrm>
            <a:off x="5806440" y="4434840"/>
            <a:ext cx="5715000" cy="21031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pic>
        <ns0:nvPicPr>
          <ns0:cNvPr id="12" name="Image 1" descr="/mnt/data/segmentation_masks_UNet.png"/>
          <ns0:cNvPicPr>
            <a:picLocks noChangeAspect="1"/>
          </ns0:cNvPicPr>
          <ns0:nvPr/>
        </ns0:nvPicPr>
        <ns0:blipFill>
          <a:blip ns2:embed="rId4"/>
          <a:stretch>
            <a:fillRect/>
          </a:stretch>
        </ns0:blipFill>
        <ns0:spPr>
          <a:xfrm>
            <a:off x="7163842" y="4572000"/>
            <a:ext cx="3000195" cy="1828800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13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10"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320040"/>
            <a:ext cx="10515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U-Net</a:t>
            </a:r>
            <a:endParaRPr lang="en-US" sz="26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713232" y="822960"/>
            <a:ext cx="1060704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 Attention gates βελτιώνουν τα skip connections</a:t>
            </a:r>
            <a:endParaRPr lang="en-US" sz="1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1247120" y="393192"/>
            <a:ext cx="822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960120" y="1737360"/>
            <a:ext cx="5394960" cy="182880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gate καταστέλλει μη σχετικές activations από τον encoder.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Βοηθά στην εστίαση σε περιοχές τύπου πλακούντα.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Συχνά βελτιώνει την ποιότητα ορίων και μειώνει false positives.</a:t>
            </a:r>
            <a:endParaRPr lang="en-US" sz="18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85800" y="3520440"/>
            <a:ext cx="5852160" cy="30175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pic>
        <ns0:nvPicPr>
          <ns0:cNvPr id="10" name="Image 0" descr="/mnt/data/AttUNET attention gate.png"/>
          <ns0:cNvPicPr>
            <a:picLocks noChangeAspect="1"/>
          </ns0:cNvPicPr>
          <ns0:nvPr/>
        </ns0:nvPicPr>
        <ns0:blipFill>
          <a:blip ns2:embed="rId3"/>
          <a:stretch>
            <a:fillRect/>
          </a:stretch>
        </ns0:blipFill>
        <ns0:spPr>
          <a:xfrm>
            <a:off x="868680" y="4226466"/>
            <a:ext cx="5486400" cy="1605467"/>
          </a:xfrm>
          <a:prstGeom prst="rect">
            <a:avLst/>
          </a:prstGeom>
        </ns0:spPr>
      </ns0:pic>
      <ns0:sp>
        <ns0:nvSpPr>
          <ns0:cNvPr id="11" name="Shape 8"/>
          <ns0:cNvSpPr/>
          <ns0:nvPr/>
        </ns0:nvSpPr>
        <ns0:spPr>
          <a:xfrm>
            <a:off x="6903720" y="1463040"/>
            <a:ext cx="461772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pic>
        <ns0:nvPicPr>
          <ns0:cNvPr id="12" name="Image 1" descr="/mnt/data/segmentation_masks_AttentionUnet.png"/>
          <ns0:cNvPicPr>
            <a:picLocks noChangeAspect="1"/>
          </ns0:cNvPicPr>
          <ns0:nvPr/>
        </ns0:nvPicPr>
        <ns0:blipFill>
          <a:blip ns2:embed="rId4"/>
          <a:stretch>
            <a:fillRect/>
          </a:stretch>
        </ns0:blipFill>
        <ns0:spPr>
          <a:xfrm>
            <a:off x="7086600" y="2712454"/>
            <a:ext cx="4251960" cy="2576092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14.xml><?xml version="1.0" encoding="utf-8"?>
<ns0:sld xmlns:a="http://schemas.openxmlformats.org/drawingml/2006/main" xmlns:ns0="http://schemas.openxmlformats.org/presentationml/2006/main">
  <ns0:cSld name="Slide 11"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320040"/>
            <a:ext cx="10515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DynUNet (MONAI)</a:t>
            </a:r>
            <a:endParaRPr lang="en-US" sz="26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713232" y="822960"/>
            <a:ext cx="1060704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Auto-configured δίκτυο τύπου U-Net</a:t>
            </a:r>
            <a:endParaRPr lang="en-US" sz="1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1247120" y="393192"/>
            <a:ext cx="822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960120" y="1737360"/>
            <a:ext cx="5394960" cy="210312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Προσαρμόζει αυτόματα depth/strides/kernels στο spacing των δεδομένων.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Ισχυρό baseline για 3D τμηματοποίηση.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Καλή ακρίβεια, μέτριο κόστος.</a:t>
            </a:r>
            <a:endParaRPr lang="en-US" sz="18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903720" y="1463040"/>
            <a:ext cx="4617720" cy="2377440"/>
          </a:xfrm>
          <a:prstGeom prst="roundRect">
            <a:avLst/>
          </a:prstGeom>
          <a:solidFill>
            <a:srgbClr val="0F223A">
              <a:alpha val="88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7178040" y="1691640"/>
            <a:ext cx="40690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Εισαγωγή σχήματος</a:t>
            </a:r>
            <a:endParaRPr lang="en-US" sz="16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7178040" y="2103120"/>
            <a:ext cx="4069080" cy="146304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Εισάγετε μικρό διάγραμμα DynUNet ή block schematic (encoder/decoder + skip connections).</a:t>
            </a:r>
            <a:endParaRPr lang="en-US" sz="130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6903720" y="4160520"/>
            <a:ext cx="4617720" cy="2377440"/>
          </a:xfrm>
          <a:prstGeom prst="roundRect">
            <a:avLst/>
          </a:prstGeom>
          <a:solidFill>
            <a:srgbClr val="0F223A">
              <a:alpha val="88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ns0:spPr>
      </ns0:sp>
      <ns0:sp>
        <ns0:nvSpPr>
          <ns0:cNvPr id="13" name="Text 11"/>
          <ns0:cNvSpPr/>
          <ns0:nvPr/>
        </ns0:nvSpPr>
        <ns0:spPr>
          <a:xfrm>
            <a:off x="7178040" y="4389120"/>
            <a:ext cx="40690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Εισαγωγή ποιοτικού αποτελέσματος</a:t>
            </a:r>
            <a:endParaRPr lang="en-US" sz="1600" dirty="0"/>
          </a:p>
        </ns0:txBody>
      </ns0:sp>
      <ns0:sp>
        <ns0:nvSpPr>
          <ns0:cNvPr id="14" name="Text 12"/>
          <ns0:cNvSpPr/>
          <ns0:nvPr/>
        </ns0:nvSpPr>
        <ns0:spPr>
          <a:xfrm>
            <a:off x="7178040" y="4800600"/>
            <a:ext cx="4069080" cy="146304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Εισάγετε ένα αντιπροσωπευτικό ποιοτικό παράδειγμα DynUNet (MRI | GT | Prediction).</a:t>
            </a:r>
            <a:endParaRPr lang="en-US" sz="1300" dirty="0"/>
          </a:p>
        </ns0:txBody>
      </ns0:sp>
    </ns0:spTree>
  </ns0:cSld>
  <ns0:clrMapOvr>
    <a:masterClrMapping/>
  </ns0:clrMapOvr>
</ns0:sld>
</file>

<file path=ppt/slides/slide15.xml><?xml version="1.0" encoding="utf-8"?>
<ns0:sld xmlns:a="http://schemas.openxmlformats.org/drawingml/2006/main" xmlns:ns0="http://schemas.openxmlformats.org/presentationml/2006/main">
  <ns0:cSld name="Slide 12"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320040"/>
            <a:ext cx="10515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SegResNet</a:t>
            </a:r>
            <a:endParaRPr lang="en-US" sz="26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713232" y="822960"/>
            <a:ext cx="1060704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blocks για βαθύτερα 3D μοντέλα</a:t>
            </a:r>
            <a:endParaRPr lang="en-US" sz="1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1247120" y="393192"/>
            <a:ext cx="822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960120" y="1737360"/>
            <a:ext cx="5394960" cy="1115568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residual connections σταθεροποιούν τη βελτιστοποίηση.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Δύο παραλλαγές: lighter vs heavier (filters).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Στα πειράματά μας: ανάμεσα στους κορυφαίους σε Dice.</a:t>
            </a:r>
            <a:endParaRPr lang="en-US" sz="18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903720" y="1463040"/>
            <a:ext cx="4617720" cy="2377440"/>
          </a:xfrm>
          <a:prstGeom prst="roundRect">
            <a:avLst/>
          </a:prstGeom>
          <a:solidFill>
            <a:srgbClr val="0F223A">
              <a:alpha val="88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7178040" y="1691640"/>
            <a:ext cx="40690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Εισαγωγή σχήματος</a:t>
            </a:r>
            <a:endParaRPr lang="en-US" sz="16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7178040" y="2103120"/>
            <a:ext cx="4069080" cy="146304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Εισάγετε residual block schematic + επισκόπηση SegResNet encoder/decoder.</a:t>
            </a:r>
            <a:endParaRPr lang="en-US" sz="130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6903720" y="4160520"/>
            <a:ext cx="4617720" cy="2377440"/>
          </a:xfrm>
          <a:prstGeom prst="roundRect">
            <a:avLst/>
          </a:prstGeom>
          <a:solidFill>
            <a:srgbClr val="0F223A">
              <a:alpha val="88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ns0:spPr>
      </ns0:sp>
      <ns0:sp>
        <ns0:nvSpPr>
          <ns0:cNvPr id="13" name="Text 11"/>
          <ns0:cNvSpPr/>
          <ns0:nvPr/>
        </ns0:nvSpPr>
        <ns0:spPr>
          <a:xfrm>
            <a:off x="7178040" y="4389120"/>
            <a:ext cx="40690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Εισαγωγή καμπυλών</a:t>
            </a:r>
            <a:endParaRPr lang="en-US" sz="1600" dirty="0"/>
          </a:p>
        </ns0:txBody>
      </ns0:sp>
      <ns0:sp>
        <ns0:nvSpPr>
          <ns0:cNvPr id="14" name="Text 12"/>
          <ns0:cNvSpPr/>
          <ns0:nvPr/>
        </ns0:nvSpPr>
        <ns0:spPr>
          <a:xfrm>
            <a:off x="7178040" y="4800600"/>
            <a:ext cx="4069080" cy="146304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Εισαγάγετε καμπύλες εκπαίδευσης SegResNet (Dice &amp; Val loss ανά epoch).</a:t>
            </a:r>
            <a:endParaRPr lang="en-US" sz="1300" dirty="0"/>
          </a:p>
        </ns0:txBody>
      </ns0:sp>
    </ns0:spTree>
  </ns0:cSld>
  <ns0:clrMapOvr>
    <a:masterClrMapping/>
  </ns0:clrMapOvr>
</ns0:sld>
</file>

<file path=ppt/slides/slide16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13"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320040"/>
            <a:ext cx="10515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στην όραση</a:t>
            </a:r>
            <a:endParaRPr lang="en-US" sz="26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713232" y="822960"/>
            <a:ext cx="1060704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context, patch tokens, υψηλότερο κόστος σε 3D</a:t>
            </a:r>
            <a:endParaRPr lang="en-US" sz="1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1247120" y="393192"/>
            <a:ext cx="822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914400" y="2926080"/>
            <a:ext cx="5394960" cy="201168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Μετατροπή εικόνας/όγκου σε patch tokens.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Self-attention μοντελοποιεί long-range εξαρτήσεις.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Ισχυρό για global context, αλλά ακριβό για μεγάλους 3D όγκους.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Swin: ιεραρχικά παράθυρα → καλύτερο scaling από full ViT.</a:t>
            </a:r>
            <a:endParaRPr lang="en-US" sz="18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903720" y="1463040"/>
            <a:ext cx="4617720" cy="237744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pic>
        <ns0:nvPicPr>
          <ns0:cNvPr id="10" name="Image 0" descr="/mnt/data/swin vs vit.png"/>
          <ns0:cNvPicPr>
            <a:picLocks noChangeAspect="1"/>
          </ns0:cNvPicPr>
          <ns0:nvPr/>
        </ns0:nvPicPr>
        <ns0:blipFill>
          <a:blip ns2:embed="rId3"/>
          <a:stretch>
            <a:fillRect/>
          </a:stretch>
        </ns0:blipFill>
        <ns0:spPr>
          <a:xfrm>
            <a:off x="7288842" y="1645920"/>
            <a:ext cx="3847475" cy="2011680"/>
          </a:xfrm>
          <a:prstGeom prst="rect">
            <a:avLst/>
          </a:prstGeom>
        </ns0:spPr>
      </ns0:pic>
      <ns0:sp>
        <ns0:nvSpPr>
          <ns0:cNvPr id="11" name="Shape 8"/>
          <ns0:cNvSpPr/>
          <ns0:nvPr/>
        </ns0:nvSpPr>
        <ns0:spPr>
          <a:xfrm>
            <a:off x="6903720" y="3749040"/>
            <a:ext cx="4617720" cy="2788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pic>
        <ns0:nvPicPr>
          <ns0:cNvPr id="12" name="Image 1" descr="/mnt/data/attention-module.png"/>
          <ns0:cNvPicPr>
            <a:picLocks noChangeAspect="1"/>
          </ns0:cNvPicPr>
          <ns0:nvPr/>
        </ns0:nvPicPr>
        <ns0:blipFill>
          <a:blip ns2:embed="rId4"/>
          <a:stretch>
            <a:fillRect/>
          </a:stretch>
        </ns0:blipFill>
        <ns0:spPr>
          <a:xfrm>
            <a:off x="7857662" y="3931920"/>
            <a:ext cx="2709835" cy="2423160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17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14"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320040"/>
            <a:ext cx="10515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UNETR</a:t>
            </a:r>
            <a:endParaRPr lang="en-US" sz="26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713232" y="822960"/>
            <a:ext cx="1060704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encoder + U-shaped decoder</a:t>
            </a:r>
            <a:endParaRPr lang="en-US" sz="1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1247120" y="393192"/>
            <a:ext cx="822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960120" y="1737360"/>
            <a:ext cx="5394960" cy="210312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Transformer encoder παρέχει global context.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 decoder ανακατασκευάζει μάσκα σε voxel-level.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Μπορεί να υποαποδώσει με περιορισμένα δεδομένα ή υψηλές ανάγκες regularization.</a:t>
            </a:r>
            <a:endParaRPr lang="en-US" sz="18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903720" y="1463040"/>
            <a:ext cx="461772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pic>
        <ns0:nvPicPr>
          <ns0:cNvPr id="10" name="Image 0" descr="/mnt/data/segmentation_masks_unetR alt.png"/>
          <ns0:cNvPicPr>
            <a:picLocks noChangeAspect="1"/>
          </ns0:cNvPicPr>
          <ns0:nvPr/>
        </ns0:nvPicPr>
        <ns0:blipFill>
          <a:blip ns2:embed="rId3"/>
          <a:stretch>
            <a:fillRect/>
          </a:stretch>
        </ns0:blipFill>
        <ns0:spPr>
          <a:xfrm>
            <a:off x="7086600" y="1853844"/>
            <a:ext cx="4251960" cy="4293313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18.xml><?xml version="1.0" encoding="utf-8"?>
<ns0:sld xmlns:a="http://schemas.openxmlformats.org/drawingml/2006/main" xmlns:ns0="http://schemas.openxmlformats.org/presentationml/2006/main">
  <ns0:cSld name="Slide 15"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320040"/>
            <a:ext cx="10515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SwinUNETR</a:t>
            </a:r>
            <a:endParaRPr lang="en-US" sz="26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713232" y="822960"/>
            <a:ext cx="1060704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Ιεραρχικός Swin encoder (windowed attention)</a:t>
            </a:r>
            <a:endParaRPr lang="en-US" sz="1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1247120" y="393192"/>
            <a:ext cx="822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960120" y="1737360"/>
            <a:ext cx="5394960" cy="210312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Swin attention χρησιμοποιεί shifted windows → scalable context.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Συχνά πολύ καλή απόδοση τμηματοποίησης.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Μεγαλύτερο αποτύπωμα μνήμης/χρόνου σε 3D.</a:t>
            </a:r>
            <a:endParaRPr lang="en-US" sz="18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903720" y="1463040"/>
            <a:ext cx="4617720" cy="2377440"/>
          </a:xfrm>
          <a:prstGeom prst="roundRect">
            <a:avLst/>
          </a:prstGeom>
          <a:solidFill>
            <a:srgbClr val="0F223A">
              <a:alpha val="88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7178040" y="1691640"/>
            <a:ext cx="40690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Εισαγωγή σχήματος</a:t>
            </a:r>
            <a:endParaRPr lang="en-US" sz="16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7178040" y="2103120"/>
            <a:ext cx="4069080" cy="146304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Εισαγάγετε διάγραμμα αρχιτεκτονικής SwinUNETR ή block overview (stages + decoder).</a:t>
            </a:r>
            <a:endParaRPr lang="en-US" sz="130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6903720" y="4160520"/>
            <a:ext cx="4617720" cy="2377440"/>
          </a:xfrm>
          <a:prstGeom prst="roundRect">
            <a:avLst/>
          </a:prstGeom>
          <a:solidFill>
            <a:srgbClr val="0F223A">
              <a:alpha val="88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ns0:spPr>
      </ns0:sp>
      <ns0:sp>
        <ns0:nvSpPr>
          <ns0:cNvPr id="13" name="Text 11"/>
          <ns0:cNvSpPr/>
          <ns0:nvPr/>
        </ns0:nvSpPr>
        <ns0:spPr>
          <a:xfrm>
            <a:off x="7178040" y="4389120"/>
            <a:ext cx="40690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Εισαγωγή ποιοτικού αποτελέσματος</a:t>
            </a:r>
            <a:endParaRPr lang="en-US" sz="1600" dirty="0"/>
          </a:p>
        </ns0:txBody>
      </ns0:sp>
      <ns0:sp>
        <ns0:nvSpPr>
          <ns0:cNvPr id="14" name="Text 12"/>
          <ns0:cNvSpPr/>
          <ns0:nvPr/>
        </ns0:nvSpPr>
        <ns0:spPr>
          <a:xfrm>
            <a:off x="7178040" y="4800600"/>
            <a:ext cx="4069080" cy="146304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Εισαγάγετε αντιπροσωπευτικό ποιοτικό παράδειγμα SwinUNETR.</a:t>
            </a:r>
            <a:endParaRPr lang="en-US" sz="1300" dirty="0"/>
          </a:p>
        </ns0:txBody>
      </ns0:sp>
    </ns0:spTree>
  </ns0:cSld>
  <ns0:clrMapOvr>
    <a:masterClrMapping/>
  </ns0:clrMapOvr>
</ns0:sld>
</file>

<file path=ppt/slides/slide19.xml><?xml version="1.0" encoding="utf-8"?>
<ns0:sld xmlns:a="http://schemas.openxmlformats.org/drawingml/2006/main" xmlns:ns0="http://schemas.openxmlformats.org/presentationml/2006/main">
  <ns0:cSld name="Slide 16"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320040"/>
            <a:ext cx="10515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/ Mamba</a:t>
            </a:r>
            <a:endParaRPr lang="en-US" sz="26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713232" y="822960"/>
            <a:ext cx="1060704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modeling χωρίς πλήρες self-attention</a:t>
            </a:r>
            <a:endParaRPr lang="en-US" sz="1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1247120" y="393192"/>
            <a:ext cx="822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960120" y="1737360"/>
            <a:ext cx="5394960" cy="210312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Τα State Space Models συλλαμβάνουν αποτελεσματικά long-range εξαρτήσεις.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selective scanning τύπου Mamba κλιμακώνεται καλά.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Υποσχόμενο για 3D όπου το attention είναι κοστοβόρο.</a:t>
            </a:r>
            <a:endParaRPr lang="en-US" sz="18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903720" y="1463040"/>
            <a:ext cx="4617720" cy="5074920"/>
          </a:xfrm>
          <a:prstGeom prst="roundRect">
            <a:avLst/>
          </a:prstGeom>
          <a:solidFill>
            <a:srgbClr val="0F223A">
              <a:alpha val="88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7178040" y="1691640"/>
            <a:ext cx="40690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Εισαγωγή διαγράμματος</a:t>
            </a:r>
            <a:endParaRPr lang="en-US" sz="16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7178040" y="2103120"/>
            <a:ext cx="4069080" cy="416052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Εισάγετε απλό block διάγραμμα SSM/Mamba (input → selective scan → output).</a:t>
            </a:r>
            <a:endParaRPr lang="en-US" sz="1300" dirty="0"/>
          </a:p>
        </ns0:txBody>
      </ns0:sp>
    </ns0:spTree>
  </ns0:cSld>
  <ns0:clrMapOvr>
    <a:masterClrMapping/>
  </ns0:clrMapOvr>
</ns0:sld>
</file>

<file path=ppt/slides/slide20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17"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320040"/>
            <a:ext cx="10515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SegMamba</a:t>
            </a:r>
            <a:endParaRPr lang="en-US" sz="26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713232" y="822960"/>
            <a:ext cx="1060704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SSM/Mamba blocks μέσα σε segmentation backbone</a:t>
            </a:r>
            <a:endParaRPr lang="en-US" sz="1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1247120" y="393192"/>
            <a:ext cx="822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960120" y="1737360"/>
            <a:ext cx="5394960" cy="210312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Σχεδιασμένο για συνδυασμό long-range μοντελοποίησης + αποδοτικού υπολογισμού.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Στη μελέτη μας: καλύτερο Dice (Heavier variant).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Ποιοτικά: σταθερές μάσκες με καλή επικάλυψη σε πολλές περιπτώσεις.</a:t>
            </a:r>
            <a:endParaRPr lang="en-US" sz="18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903720" y="1463040"/>
            <a:ext cx="461772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pic>
        <ns0:nvPicPr>
          <ns0:cNvPr id="10" name="Image 0" descr="/mnt/data/segmentation_masks_segmambaHEAVY.png"/>
          <ns0:cNvPicPr>
            <a:picLocks noChangeAspect="1"/>
          </ns0:cNvPicPr>
          <ns0:nvPr/>
        </ns0:nvPicPr>
        <ns0:blipFill>
          <a:blip ns2:embed="rId3"/>
          <a:stretch>
            <a:fillRect/>
          </a:stretch>
        </ns0:blipFill>
        <ns0:spPr>
          <a:xfrm>
            <a:off x="7086600" y="2716411"/>
            <a:ext cx="4251960" cy="2568178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21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18"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2514600"/>
            <a:ext cx="10972800" cy="9144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Πειράματα</a:t>
            </a:r>
            <a:endParaRPr lang="en-US" sz="54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731520" y="3520440"/>
            <a:ext cx="109728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Δεδομένα → Pipeline → Εκπαίδευση → Επικύρωση → Αποτελέσματα</a:t>
            </a:r>
            <a:endParaRPr lang="en-US" sz="20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7406640" y="1280160"/>
            <a:ext cx="4297680" cy="53035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pic>
        <ns0:nvPicPr>
          <ns0:cNvPr id="7" name="Image 0" descr="/mnt/data/Third Slice along segmentation and 3D view.png"/>
          <ns0:cNvPicPr>
            <a:picLocks noChangeAspect="1"/>
          </ns0:cNvPicPr>
          <ns0:nvPr/>
        </ns0:nvPicPr>
        <ns0:blipFill>
          <a:blip ns2:embed="rId3"/>
          <a:stretch>
            <a:fillRect/>
          </a:stretch>
        </ns0:blipFill>
        <ns0:spPr>
          <a:xfrm>
            <a:off x="7589520" y="3217328"/>
            <a:ext cx="3931920" cy="1429185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22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19"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320040"/>
            <a:ext cx="10515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Δεδομένα</a:t>
            </a:r>
            <a:endParaRPr lang="en-US" sz="26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713232" y="822960"/>
            <a:ext cx="1060704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όγκοι NIfTI (.nii) + δυαδικές μάσκες</a:t>
            </a:r>
            <a:endParaRPr lang="en-US" sz="1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1247120" y="393192"/>
            <a:ext cx="822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960120" y="1737360"/>
            <a:ext cx="5394960" cy="292608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Κάθε περίπτωση: όγκος MRI + μάσκα τμηματοποίησης.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Αποθήκευση σε NIfTI (.nii/.nii.gz).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Διαχωρισμός Train/Validation: 80% / 20% (fixed seed).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Στόχος: δίκαιη σύγκριση σε όλα τα μοντέλα.</a:t>
            </a:r>
            <a:endParaRPr lang="en-US" sz="18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960120" y="4754880"/>
            <a:ext cx="5303520" cy="502920"/>
          </a:xfrm>
          <a:prstGeom prst="rect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ns0:spPr>
      </ns0:sp>
      <ns0:sp>
        <ns0:nvSpPr>
          <ns0:cNvPr id="10" name="Shape 8"/>
          <ns0:cNvSpPr/>
          <ns0:nvPr/>
        </ns0:nvSpPr>
        <ns0:spPr>
          <a:xfrm>
            <a:off x="960120" y="4754880"/>
            <a:ext cx="4242816" cy="5029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1051560" y="4828032"/>
            <a:ext cx="38404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Εκπαίδευση 80%</a:t>
            </a:r>
            <a:endParaRPr lang="en-US" sz="14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4754880" y="4828032"/>
            <a:ext cx="146304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Επικύρωση 20%</a:t>
            </a:r>
            <a:endParaRPr lang="en-US" sz="140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6903720" y="1463040"/>
            <a:ext cx="461772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pic>
        <ns0:nvPicPr>
          <ns0:cNvPr id="14" name="Image 0" descr="/mnt/data/Third Slice along segmentation and 3D view.png"/>
          <ns0:cNvPicPr>
            <a:picLocks noChangeAspect="1"/>
          </ns0:cNvPicPr>
          <ns0:nvPr/>
        </ns0:nvPicPr>
        <ns0:blipFill>
          <a:blip ns2:embed="rId3"/>
          <a:stretch>
            <a:fillRect/>
          </a:stretch>
        </ns0:blipFill>
        <ns0:spPr>
          <a:xfrm>
            <a:off x="7086600" y="3204883"/>
            <a:ext cx="4251960" cy="1545514"/>
          </a:xfrm>
          <a:prstGeom prst="rect">
            <a:avLst/>
          </a:prstGeom>
        </ns0:spPr>
      </ns0:pic>
    </ns0:spTree>
  </ns0:cSld>
  <ns0:clrMapOvr>
    <a:masterClrMapping/>
  </ns0:clrMapOvr>
</ns0:sld>
</file>

<file path=ppt/slides/slide23.xml><?xml version="1.0" encoding="utf-8"?>
<ns0:sld xmlns:a="http://schemas.openxmlformats.org/drawingml/2006/main" xmlns:ns0="http://schemas.openxmlformats.org/presentationml/2006/main">
  <ns0:cSld name="Slide 20"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320040"/>
            <a:ext cx="10515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Υπολογιστική πλατφόρμα</a:t>
            </a:r>
            <a:endParaRPr lang="en-US" sz="26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713232" y="822960"/>
            <a:ext cx="1060704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Notebook + NVIDIA T4 GPU</a:t>
            </a:r>
            <a:endParaRPr lang="en-US" sz="1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1247120" y="393192"/>
            <a:ext cx="822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960120" y="1737360"/>
            <a:ext cx="5394960" cy="448056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Περιβάλλον: Kaggle (Python + MONAI + PyTorch).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NVIDIA Tesla T4.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Patch-based εκπαίδευση ώστε οι 3D όγκοι να χωρούν στη μνήμη.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Συνεπείς ρυθμίσεις για δίκαιη σύγκριση μοντέλων.</a:t>
            </a:r>
            <a:endParaRPr lang="en-US" sz="18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903720" y="1463040"/>
            <a:ext cx="461772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sp>
        <ns0:nvSpPr>
          <ns0:cNvPr id="10" name="Shape 8"/>
          <ns0:cNvSpPr/>
          <ns0:nvPr/>
        </ns0:nvSpPr>
        <ns0:spPr>
          <a:xfrm>
            <a:off x="7543800" y="1874520"/>
            <a:ext cx="3337560" cy="2148840"/>
          </a:xfrm>
          <a:prstGeom prst="roundRect">
            <a:avLst/>
          </a:prstGeom>
          <a:solidFill>
            <a:srgbClr val="1B2A44"/>
          </a:solidFill>
          <a:ln w="12700">
            <a:solidFill>
              <a:srgbClr val="60A5FA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7543800" y="1965960"/>
            <a:ext cx="333756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8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7543800" y="2331720"/>
            <a:ext cx="333756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T4</a:t>
            </a:r>
            <a:endParaRPr lang="en-US" sz="220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7909560" y="2971800"/>
            <a:ext cx="2606040" cy="685800"/>
          </a:xfrm>
          <a:prstGeom prst="rect">
            <a:avLst/>
          </a:prstGeom>
          <a:solidFill>
            <a:srgbClr val="2A3A55"/>
          </a:solidFill>
          <a:ln w="12700">
            <a:solidFill>
              <a:srgbClr val="2A3A55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7909560" y="3017520"/>
            <a:ext cx="260604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training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SWI inference</a:t>
            </a:r>
            <a:endParaRPr lang="en-US" sz="1400" dirty="0"/>
          </a:p>
        </ns0:txBody>
      </ns0:sp>
    </ns0:spTree>
  </ns0:cSld>
  <ns0:clrMapOvr>
    <a:masterClrMapping/>
  </ns0:clrMapOvr>
</ns0:sld>
</file>

<file path=ppt/slides/slide24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21"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320040"/>
            <a:ext cx="10515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προεπεξεργασίας</a:t>
            </a:r>
            <a:endParaRPr lang="en-US" sz="26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713232" y="822960"/>
            <a:ext cx="1060704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MONAI (deterministic → cached)</a:t>
            </a:r>
            <a:endParaRPr lang="en-US" sz="1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1247120" y="393192"/>
            <a:ext cx="822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612648" y="1514063"/>
            <a:ext cx="1097280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sp>
        <ns0:nvSpPr>
          <ns0:cNvPr id="8" name="Shape 6"/>
          <ns0:cNvSpPr/>
          <ns0:nvPr/>
        </ns0:nvSpPr>
        <ns0:spPr>
          <a:xfrm>
            <a:off x="1106424" y="1865376"/>
            <a:ext cx="1565910" cy="726948"/>
          </a:xfrm>
          <a:prstGeom prst="roundRect">
            <a:avLst/>
          </a:prstGeom>
          <a:solidFill>
            <a:srgbClr val="162642"/>
          </a:solidFill>
          <a:ln w="12700">
            <a:solidFill>
              <a:srgbClr val="2A3A55"/>
            </a:solidFill>
            <a:prstDash val="solid"/>
          </a:ln>
        </ns0:spPr>
      </ns0:sp>
      <ns0:sp>
        <ns0:nvSpPr>
          <ns0:cNvPr id="9" name="Text 7"/>
          <ns0:cNvSpPr/>
          <ns0:nvPr/>
        </ns0:nvSpPr>
        <ns0:spPr>
          <a:xfrm>
            <a:off x="1216152" y="1980590"/>
            <a:ext cx="1398879" cy="63002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Φόρτωση +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channel-first</a:t>
            </a:r>
            <a:endParaRPr lang="en-US" sz="1400" dirty="0"/>
          </a:p>
        </ns0:txBody>
      </ns0:sp>
      <ns0:sp>
        <ns0:nvSpPr>
          <ns0:cNvPr id="11" name="Shape 9"/>
          <ns0:cNvSpPr/>
          <ns0:nvPr/>
        </ns0:nvSpPr>
        <ns0:spPr>
          <a:xfrm>
            <a:off x="2770176" y="1865376"/>
            <a:ext cx="1565910" cy="726948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2A3A55"/>
            </a:solidFill>
            <a:prstDash val="solid"/>
          </a:ln>
        </ns0:spPr>
      </ns0:sp>
      <ns0:sp>
        <ns0:nvSpPr>
          <ns0:cNvPr id="12" name="Text 10"/>
          <ns0:cNvSpPr/>
          <ns0:nvPr/>
        </ns0:nvSpPr>
        <ns0:spPr>
          <a:xfrm>
            <a:off x="2879904" y="1980590"/>
            <a:ext cx="1398879" cy="63002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Προσανατολισμός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(RAS)</a:t>
            </a:r>
            <a:endParaRPr lang="en-US" sz="1400" dirty="0"/>
          </a:p>
        </ns0:txBody>
      </ns0:sp>
      <ns0:sp>
        <ns0:nvSpPr>
          <ns0:cNvPr id="14" name="Shape 12"/>
          <ns0:cNvSpPr/>
          <ns0:nvPr/>
        </ns0:nvSpPr>
        <ns0:spPr>
          <a:xfrm>
            <a:off x="4414419" y="1865376"/>
            <a:ext cx="1565910" cy="726948"/>
          </a:xfrm>
          <a:prstGeom prst="roundRect">
            <a:avLst/>
          </a:prstGeom>
          <a:solidFill>
            <a:srgbClr val="162642"/>
          </a:solidFill>
          <a:ln w="12700">
            <a:solidFill>
              <a:srgbClr val="2A3A55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4524147" y="1980590"/>
            <a:ext cx="1398879" cy="63002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Αναδειγματοληψία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(spacing)</a:t>
            </a:r>
            <a:endParaRPr lang="en-US" sz="140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6086552" y="1865376"/>
            <a:ext cx="1565910" cy="726948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2A3A55"/>
            </a:solidFill>
            <a:prstDash val="solid"/>
          </a:ln>
        </ns0:spPr>
      </ns0:sp>
      <ns0:sp>
        <ns0:nvSpPr>
          <ns0:cNvPr id="18" name="Text 16"/>
          <ns0:cNvSpPr/>
          <ns0:nvPr/>
        </ns0:nvSpPr>
        <ns0:spPr>
          <a:xfrm>
            <a:off x="6196280" y="1980590"/>
            <a:ext cx="1398879" cy="63002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Ένταση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κλιμάκωση</a:t>
            </a:r>
            <a:endParaRPr lang="en-US" sz="140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7758685" y="1873789"/>
            <a:ext cx="1565910" cy="726948"/>
          </a:xfrm>
          <a:prstGeom prst="roundRect">
            <a:avLst/>
          </a:prstGeom>
          <a:solidFill>
            <a:srgbClr val="162642"/>
          </a:solidFill>
          <a:ln w="12700">
            <a:solidFill>
              <a:srgbClr val="2A3A55"/>
            </a:solidFill>
            <a:prstDash val="solid"/>
          </a:ln>
        </ns0:spPr>
      </ns0:sp>
      <ns0:sp>
        <ns0:nvSpPr>
          <ns0:cNvPr id="21" name="Text 19"/>
          <ns0:cNvSpPr/>
          <ns0:nvPr/>
        </ns0:nvSpPr>
        <ns0:spPr>
          <a:xfrm>
            <a:off x="7868413" y="1989003"/>
            <a:ext cx="1398879" cy="63002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περικοπή</a:t>
            </a:r>
            <a:endParaRPr lang="en-US" sz="1400" dirty="0"/>
          </a:p>
        </ns0:txBody>
      </ns0:sp>
      <ns0:sp>
        <ns0:nvSpPr>
          <ns0:cNvPr id="23" name="Shape 21"/>
          <ns0:cNvSpPr/>
          <ns0:nvPr/>
        </ns0:nvSpPr>
        <ns0:spPr>
          <a:xfrm>
            <a:off x="9430818" y="1877322"/>
            <a:ext cx="1565910" cy="726948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2A3A55"/>
            </a:solidFill>
            <a:prstDash val="solid"/>
          </a:ln>
        </ns0:spPr>
      </ns0:sp>
      <ns0:sp>
        <ns0:nvSpPr>
          <ns0:cNvPr id="24" name="Text 22"/>
          <ns0:cNvSpPr/>
          <ns0:nvPr/>
        </ns0:nvSpPr>
        <ns0:spPr>
          <a:xfrm>
            <a:off x="9540546" y="1992536"/>
            <a:ext cx="1398879" cy="63002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sampling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augmentations</a:t>
            </a:r>
            <a:endParaRPr lang="en-US" sz="1400" dirty="0"/>
          </a:p>
        </ns0:txBody>
      </ns0:sp>
      <ns0:sp>
        <ns0:nvSpPr>
          <ns0:cNvPr id="25" name="Text 23"/>
          <ns0:cNvSpPr/>
          <ns0:nvPr/>
        </ns0:nvSpPr>
        <ns0:spPr>
          <a:xfrm>
            <a:off x="960120" y="2880360"/>
            <a:ext cx="1051560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Σημείωση: τα deterministic βήματα γίνονται cache στον δίσκο, ενώ τα augmentations είναι στοχαστικά στην εκπαίδευση.</a:t>
            </a:r>
            <a:endParaRPr lang="en-US" sz="1400" dirty="0"/>
          </a:p>
        </ns0:txBody>
      </ns0:sp>
      <ns0:sp>
        <ns0:nvSpPr>
          <ns0:cNvPr id="26" name="Shape 24"/>
          <ns0:cNvSpPr/>
          <ns0:nvPr/>
        </ns0:nvSpPr>
        <ns0:spPr>
          <a:xfrm>
            <a:off x="960120" y="3383280"/>
            <a:ext cx="10698480" cy="297180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pic>
        <ns0:nvPicPr>
          <ns0:cNvPr id="27" name="Image 0" descr="/mnt/data/Third Slice along segmentation and 3D view.png"/>
          <ns0:cNvPicPr>
            <a:picLocks noChangeAspect="1"/>
          </ns0:cNvPicPr>
          <ns0:nvPr/>
        </ns0:nvPicPr>
        <ns0:blipFill>
          <a:blip ns2:embed="rId3"/>
          <a:stretch>
            <a:fillRect/>
          </a:stretch>
        </ns0:blipFill>
        <ns0:spPr>
          <a:xfrm>
            <a:off x="1143000" y="3988403"/>
            <a:ext cx="4846320" cy="1761553"/>
          </a:xfrm>
          <a:prstGeom prst="rect">
            <a:avLst/>
          </a:prstGeom>
        </ns0:spPr>
      </ns0:pic>
      <ns0:sp>
        <ns0:nvSpPr>
          <ns0:cNvPr id="28" name="Text 25"/>
          <ns0:cNvSpPr/>
          <ns0:nvPr/>
        </ns0:nvSpPr>
        <ns0:spPr>
          <a:xfrm>
            <a:off x="6172200" y="3703320"/>
            <a:ext cx="5303520" cy="219456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Γιατί: μείωση background, τυποποίηση γεωμετρίας, βελτίωση sample efficiency.</a:t>
            </a:r>
            <a:endParaRPr lang="en-US" sz="16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patch sampling αντιμετωπίζει class imbalance και περιορισμούς GPU.</a:t>
            </a:r>
            <a:endParaRPr lang="en-US" sz="160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4274427" y="2095072"/>
            <a:ext cx="222707" cy="310165"/>
          </a:xfrm>
          <a:prstGeom prst="rightArrow">
            <a:avLst/>
          </a:prstGeom>
          <a:solidFill>
            <a:srgbClr val="2DD4BF">
              <a:alpha val="90000"/>
            </a:srgbClr>
          </a:solidFill>
          <a:ln w="12700">
            <a:solidFill>
              <a:srgbClr val="2DD4BF">
                <a:alpha val="90000"/>
              </a:srgbClr>
            </a:solidFill>
            <a:prstDash val="solid"/>
          </a:ln>
        </ns0:spPr>
      </ns0:sp>
      <ns0:sp>
        <ns0:nvSpPr>
          <ns0:cNvPr id="10" name="Shape 8"/>
          <ns0:cNvSpPr/>
          <ns0:nvPr/>
        </ns0:nvSpPr>
        <ns0:spPr>
          <a:xfrm>
            <a:off x="2620439" y="2082565"/>
            <a:ext cx="222707" cy="310165"/>
          </a:xfrm>
          <a:prstGeom prst="rightArrow">
            <a:avLst/>
          </a:prstGeom>
          <a:solidFill>
            <a:srgbClr val="2DD4BF">
              <a:alpha val="90000"/>
            </a:srgbClr>
          </a:solidFill>
          <a:ln w="12700">
            <a:solidFill>
              <a:srgbClr val="2DD4BF">
                <a:alpha val="90000"/>
              </a:srgbClr>
            </a:solidFill>
            <a:prstDash val="solid"/>
          </a:ln>
        </ns0:spPr>
      </ns0:sp>
      <ns0:sp>
        <ns0:nvSpPr>
          <ns0:cNvPr id="16" name="Shape 14"/>
          <ns0:cNvSpPr/>
          <ns0:nvPr/>
        </ns0:nvSpPr>
        <ns0:spPr>
          <a:xfrm>
            <a:off x="5923026" y="2078166"/>
            <a:ext cx="222707" cy="310165"/>
          </a:xfrm>
          <a:prstGeom prst="rightArrow">
            <a:avLst/>
          </a:prstGeom>
          <a:solidFill>
            <a:srgbClr val="2DD4BF">
              <a:alpha val="90000"/>
            </a:srgbClr>
          </a:solidFill>
          <a:ln w="12700">
            <a:solidFill>
              <a:srgbClr val="2DD4BF">
                <a:alpha val="90000"/>
              </a:srgbClr>
            </a:solidFill>
            <a:prstDash val="solid"/>
          </a:ln>
        </ns0:spPr>
      </ns0:sp>
      <ns0:sp>
        <ns0:nvSpPr>
          <ns0:cNvPr id="19" name="Shape 17"/>
          <ns0:cNvSpPr/>
          <ns0:nvPr/>
        </ns0:nvSpPr>
        <ns0:spPr>
          <a:xfrm>
            <a:off x="7587591" y="2076419"/>
            <a:ext cx="222707" cy="310165"/>
          </a:xfrm>
          <a:prstGeom prst="rightArrow">
            <a:avLst/>
          </a:prstGeom>
          <a:solidFill>
            <a:srgbClr val="2DD4BF">
              <a:alpha val="90000"/>
            </a:srgbClr>
          </a:solidFill>
          <a:ln w="12700">
            <a:solidFill>
              <a:srgbClr val="2DD4BF">
                <a:alpha val="90000"/>
              </a:srgbClr>
            </a:solidFill>
            <a:prstDash val="solid"/>
          </a:ln>
        </ns0:spPr>
      </ns0:sp>
      <ns0:sp>
        <ns0:nvSpPr>
          <ns0:cNvPr id="22" name="Shape 20"/>
          <ns0:cNvSpPr/>
          <ns0:nvPr/>
        </ns0:nvSpPr>
        <ns0:spPr>
          <a:xfrm>
            <a:off x="9265414" y="2044415"/>
            <a:ext cx="222707" cy="310165"/>
          </a:xfrm>
          <a:prstGeom prst="rightArrow">
            <a:avLst/>
          </a:prstGeom>
          <a:solidFill>
            <a:srgbClr val="2DD4BF">
              <a:alpha val="90000"/>
            </a:srgbClr>
          </a:solidFill>
          <a:ln w="12700">
            <a:solidFill>
              <a:srgbClr val="2DD4BF">
                <a:alpha val="90000"/>
              </a:srgbClr>
            </a:solidFill>
            <a:prstDash val="solid"/>
          </a:ln>
        </ns0:spPr>
      </ns0:sp>
    </ns0:spTree>
  </ns0:cSld>
  <ns0:clrMapOvr>
    <a:masterClrMapping/>
  </ns0:clrMapOvr>
</ns0:sld>
</file>

<file path=ppt/slides/slide25.xml><?xml version="1.0" encoding="utf-8"?>
<ns0:sld xmlns:a="http://schemas.openxmlformats.org/drawingml/2006/main" xmlns:ns0="http://schemas.openxmlformats.org/presentationml/2006/main">
  <ns0:cSld name="Slide 22"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320040"/>
            <a:ext cx="10515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Ρύθμιση εκπαίδευσης</a:t>
            </a:r>
            <a:endParaRPr lang="en-US" sz="26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713232" y="822960"/>
            <a:ext cx="1060704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• optimizer • scheduler</a:t>
            </a:r>
            <a:endParaRPr lang="en-US" sz="1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1247120" y="393192"/>
            <a:ext cx="822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685800" y="1463040"/>
            <a:ext cx="1097280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960120" y="1737360"/>
            <a:ext cx="1051560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Εισάγετε λεπτομέρειες από τον κώδικά σας:</a:t>
            </a:r>
            <a:endParaRPr lang="en-US" sz="1800" dirty="0"/>
          </a:p>
        </ns0:txBody>
      </ns0:sp>
      <ns0:sp>
        <ns0:nvSpPr>
          <ns0:cNvPr id="9" name="Text 7"/>
          <ns0:cNvSpPr/>
          <ns0:nvPr/>
        </ns0:nvSpPr>
        <ns0:spPr>
          <a:xfrm>
            <a:off x="960120" y="2240280"/>
            <a:ext cx="10424160" cy="384048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[π.χ., DiceLoss + CrossEntropyLoss]  (εισάγετε ακριβές config).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[π.χ., AdamW]  (lr = …, weight decay = …).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Scheduler: [π.χ., CosineAnnealing / ReduceLROnPlateau]  (εισάγετε).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120  •  το καλύτερο μοντέλο επιλέγεται με βάση το mean Dice επικύρωσης.</a:t>
            </a:r>
            <a:endParaRPr lang="en-US" sz="1800" dirty="0"/>
          </a:p>
        </ns0:txBody>
      </ns0:sp>
    </ns0:spTree>
  </ns0:cSld>
  <ns0:clrMapOvr>
    <a:masterClrMapping/>
  </ns0:clrMapOvr>
</ns0:sld>
</file>

<file path=ppt/slides/slide26.xml><?xml version="1.0" encoding="utf-8"?>
<ns0:sld xmlns:a="http://schemas.openxmlformats.org/drawingml/2006/main" xmlns:ns0="http://schemas.openxmlformats.org/presentationml/2006/main">
  <ns0:cSld name="Slide 23"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320040"/>
            <a:ext cx="10515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Επικύρωση και inference</a:t>
            </a:r>
            <a:endParaRPr lang="en-US" sz="26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713232" y="822960"/>
            <a:ext cx="1060704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+ Sliding Window Inference (SWI)</a:t>
            </a:r>
            <a:endParaRPr lang="en-US" sz="1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1247120" y="393192"/>
            <a:ext cx="822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4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685800" y="1463040"/>
            <a:ext cx="585216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960120" y="1737360"/>
            <a:ext cx="5394960" cy="448056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EMA: εξομαλύνει τα weights → πιο σταθερή επικύρωση.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SWI: εκτέλεση του μοντέλου σε επικαλυπτόμενα 3D patches.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Συνάθροιση προβλέψεων για ανακατασκευή πλήρους 3D μάσκας.</a:t>
            </a:r>
            <a:endParaRPr lang="en-US" sz="1800" dirty="0"/>
          </a:p>
          <a:p>
            <a:pPr marL="254000" indent="-254000">
              <a:lnSpc>
                <a:spcPct val="112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Υπολογισμός μετρικών στον ανακατασκευασμένο όγκο.</a:t>
            </a:r>
            <a:endParaRPr lang="en-US" sz="18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903720" y="1463040"/>
            <a:ext cx="461772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sp>
        <ns0:nvSpPr>
          <ns0:cNvPr id="10" name="Shape 8"/>
          <ns0:cNvSpPr/>
          <ns0:nvPr/>
        </ns0:nvSpPr>
        <ns0:spPr>
          <a:xfrm>
            <a:off x="7223760" y="1874520"/>
            <a:ext cx="3977640" cy="777240"/>
          </a:xfrm>
          <a:prstGeom prst="roundRect">
            <a:avLst/>
          </a:prstGeom>
          <a:solidFill>
            <a:srgbClr val="162642"/>
          </a:solidFill>
          <a:ln w="12700">
            <a:solidFill>
              <a:srgbClr val="2A3A55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7223760" y="2057400"/>
            <a:ext cx="397764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όγκος</a:t>
            </a:r>
            <a:endParaRPr lang="en-US" sz="160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9098280" y="2697480"/>
            <a:ext cx="228600" cy="411480"/>
          </a:xfrm>
          <a:prstGeom prst="downArrow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13" name="Shape 11"/>
          <ns0:cNvSpPr/>
          <ns0:nvPr/>
        </ns0:nvSpPr>
        <ns0:spPr>
          <a:xfrm>
            <a:off x="7223760" y="3154680"/>
            <a:ext cx="3977640" cy="868680"/>
          </a:xfrm>
          <a:prstGeom prst="roundRect">
            <a:avLst/>
          </a:prstGeom>
          <a:solidFill>
            <a:srgbClr val="13223A"/>
          </a:solidFill>
          <a:ln w="12700">
            <a:solidFill>
              <a:srgbClr val="2A3A55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7223760" y="3246120"/>
            <a:ext cx="3977640" cy="6858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Επικαλυπτόμενα patches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(sliding window)</a:t>
            </a:r>
            <a:endParaRPr lang="en-US" sz="1400" dirty="0"/>
          </a:p>
        </ns0:txBody>
      </ns0:sp>
      <ns0:sp>
        <ns0:nvSpPr>
          <ns0:cNvPr id="15" name="Shape 13"/>
          <ns0:cNvSpPr/>
          <ns0:nvPr/>
        </ns0:nvSpPr>
        <ns0:spPr>
          <a:xfrm>
            <a:off x="9098280" y="4160520"/>
            <a:ext cx="228600" cy="411480"/>
          </a:xfrm>
          <a:prstGeom prst="downArrow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16" name="Shape 14"/>
          <ns0:cNvSpPr/>
          <ns0:nvPr/>
        </ns0:nvSpPr>
        <ns0:spPr>
          <a:xfrm>
            <a:off x="7223760" y="4617720"/>
            <a:ext cx="3977640" cy="777240"/>
          </a:xfrm>
          <a:prstGeom prst="roundRect">
            <a:avLst/>
          </a:prstGeom>
          <a:solidFill>
            <a:srgbClr val="162642"/>
          </a:solidFill>
          <a:ln w="12700">
            <a:solidFill>
              <a:srgbClr val="2A3A55"/>
            </a:solidFill>
            <a:prstDash val="solid"/>
          </a:ln>
        </ns0:spPr>
      </ns0:sp>
      <ns0:sp>
        <ns0:nvSpPr>
          <ns0:cNvPr id="17" name="Text 15"/>
          <ns0:cNvSpPr/>
          <ns0:nvPr/>
        </ns0:nvSpPr>
        <ns0:spPr>
          <a:xfrm>
            <a:off x="7223760" y="4709160"/>
            <a:ext cx="3977640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Συντεθειμένη μάσκα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metrics</a:t>
            </a:r>
            <a:endParaRPr lang="en-US" sz="1400" dirty="0"/>
          </a:p>
        </ns0:txBody>
      </ns0:sp>
    </ns0:spTree>
  </ns0:cSld>
  <ns0:clrMapOvr>
    <a:masterClrMapping/>
  </ns0:clrMapOvr>
</ns0:sld>
</file>

<file path=ppt/slides/slide27.xml><?xml version="1.0" encoding="utf-8"?>
<ns0:sld xmlns:a="http://schemas.openxmlformats.org/drawingml/2006/main" xmlns:ns0="http://schemas.openxmlformats.org/presentationml/2006/main" xmlns:ns2="http://schemas.openxmlformats.org/drawingml/2006/chart" xmlns:ns3="http://schemas.openxmlformats.org/officeDocument/2006/relationships">
  <ns0:cSld name="Slide 24"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320040"/>
            <a:ext cx="10515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Αποτελέσματα</a:t>
            </a:r>
            <a:endParaRPr lang="en-US" sz="26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713232" y="822960"/>
            <a:ext cx="1060704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Μετρικές + καμπύλες εκπαίδευσης</a:t>
            </a:r>
            <a:endParaRPr lang="en-US" sz="1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1247120" y="393192"/>
            <a:ext cx="822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4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685800" y="1463040"/>
            <a:ext cx="594360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960120" y="1737360"/>
            <a:ext cx="54864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επικύρωσης (best epoch)</a:t>
            </a:r>
            <a:endParaRPr lang="en-US" sz="1600" dirty="0"/>
          </a:p>
        </ns0:txBody>
      </ns0:sp>
      <ns0:graphicFrame>
        <ns0:nvGraphicFramePr>
          <ns0:cNvPr id="9" name="Chart 0"/>
          <ns0:cNvGraphicFramePr/>
          <ns0:nvPr/>
        </ns0:nvGraphicFramePr>
        <ns0:xfrm>
          <a:off x="914400" y="2057400"/>
          <a:ext cx="5623560" cy="2468880"/>
        </ns0:xfrm>
        <a:graphic>
          <a:graphicData uri="http://schemas.openxmlformats.org/drawingml/2006/chart">
            <ns2:chart ns3:id="rId3"/>
          </a:graphicData>
        </a:graphic>
      </ns0:graphicFrame>
      <ns0:sp>
        <ns0:nvSpPr>
          <ns0:cNvPr id="10" name="Text 7"/>
          <ns0:cNvSpPr/>
          <ns0:nvPr/>
        </ns0:nvSpPr>
        <ns0:spPr>
          <a:xfrm>
            <a:off x="960120" y="4617720"/>
            <a:ext cx="557784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SegMamba (H) ≈ 0.8606  •  SegResNet (H) ≈ 0.8601</a:t>
            </a:r>
            <a:endParaRPr lang="en-US" sz="1400" dirty="0"/>
          </a:p>
        </ns0:txBody>
      </ns0:sp>
      <ns0:sp>
        <ns0:nvSpPr>
          <ns0:cNvPr id="11" name="Shape 8"/>
          <ns0:cNvSpPr/>
          <ns0:nvPr/>
        </ns0:nvSpPr>
        <ns0:spPr>
          <a:xfrm>
            <a:off x="6812280" y="1463040"/>
            <a:ext cx="4709160" cy="288036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sp>
        <ns0:nvSpPr>
          <ns0:cNvPr id="12" name="Text 9"/>
          <ns0:cNvSpPr/>
          <ns0:nvPr/>
        </ns0:nvSpPr>
        <ns0:spPr>
          <a:xfrm>
            <a:off x="7086600" y="1737360"/>
            <a:ext cx="420624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Καμπύλες εκπαίδευσης (Dice &amp; Val loss)</a:t>
            </a:r>
            <a:endParaRPr lang="en-US" sz="1600" dirty="0"/>
          </a:p>
        </ns0:txBody>
      </ns0:sp>
      <ns0:pic>
        <ns0:nvPicPr>
          <ns0:cNvPr id="13" name="Image 0" descr="/mnt/data/curves_6_2_clean2.png"/>
          <ns0:cNvPicPr>
            <a:picLocks noChangeAspect="1"/>
          </ns0:cNvPicPr>
          <ns0:nvPr/>
        </ns0:nvPicPr>
        <ns0:blipFill>
          <a:blip ns3:embed="rId4"/>
          <a:stretch>
            <a:fillRect/>
          </a:stretch>
        </ns0:blipFill>
        <ns0:spPr>
          <a:xfrm>
            <a:off x="7592628" y="2057400"/>
            <a:ext cx="3239903" cy="2148840"/>
          </a:xfrm>
          <a:prstGeom prst="rect">
            <a:avLst/>
          </a:prstGeom>
        </ns0:spPr>
      </ns0:pic>
      <ns0:sp>
        <ns0:nvSpPr>
          <ns0:cNvPr id="14" name="Shape 10"/>
          <ns0:cNvSpPr/>
          <ns0:nvPr/>
        </ns0:nvSpPr>
        <ns0:spPr>
          <a:xfrm>
            <a:off x="6812280" y="4526280"/>
            <a:ext cx="4709160" cy="201168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sp>
        <ns0:nvSpPr>
          <ns0:cNvPr id="15" name="Text 11"/>
          <ns0:cNvSpPr/>
          <ns0:nvPr/>
        </ns0:nvSpPr>
        <ns0:spPr>
          <a:xfrm>
            <a:off x="7086600" y="4754880"/>
            <a:ext cx="420624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Χρόνος εκτέλεσης (ενδεικτικός)</a:t>
            </a:r>
            <a:endParaRPr lang="en-US" sz="1600" dirty="0"/>
          </a:p>
        </ns0:txBody>
      </ns0:sp>
      <ns0:graphicFrame>
        <ns0:nvGraphicFramePr>
          <ns0:cNvPr id="16" name="Chart 1"/>
          <ns0:cNvGraphicFramePr/>
          <ns0:nvPr/>
        </ns0:nvGraphicFramePr>
        <ns0:xfrm>
          <a:off x="7040880" y="5074920"/>
          <a:ext cx="4434840" cy="1417320"/>
        </ns0:xfrm>
        <a:graphic>
          <a:graphicData uri="http://schemas.openxmlformats.org/drawingml/2006/chart">
            <ns2:chart ns3:id="rId5"/>
          </a:graphicData>
        </a:graphic>
      </ns0:graphicFrame>
    </ns0:spTree>
  </ns0:cSld>
  <ns0:clrMapOvr>
    <a:masterClrMapping/>
  </ns0:clrMapOvr>
</ns0:sld>
</file>

<file path=ppt/slides/slide28.xml><?xml version="1.0" encoding="utf-8"?>
<ns0:sld xmlns:a="http://schemas.openxmlformats.org/drawingml/2006/main" xmlns:ns0="http://schemas.openxmlformats.org/presentationml/2006/main" xmlns:ns2="http://schemas.openxmlformats.org/officeDocument/2006/relationships">
  <ns0:cSld name="Slide 25">
    <ns0:bg>
      <ns0:bgPr>
        <a:solidFill>
          <a:srgbClr val="0B1320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91695" cy="1234440"/>
          </a:xfrm>
          <a:prstGeom prst="rect">
            <a:avLst/>
          </a:prstGeom>
          <a:solidFill>
            <a:srgbClr val="0E1A2E">
              <a:alpha val="95000"/>
            </a:srgbClr>
          </a:solidFill>
          <a:ln w="12700">
            <a:solidFill>
              <a:srgbClr val="0E1A2E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1170432"/>
            <a:ext cx="12191695" cy="4572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85800" y="320040"/>
            <a:ext cx="105156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Ποιοτικά αποτελέσματα</a:t>
            </a:r>
            <a:endParaRPr lang="en-US" sz="26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713232" y="822960"/>
            <a:ext cx="1060704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| Ground Truth | Prediction (παραδείγματα)</a:t>
            </a:r>
            <a:endParaRPr lang="en-US" sz="1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11247120" y="393192"/>
            <a:ext cx="8229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B6C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4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685800" y="1463040"/>
            <a:ext cx="10972800" cy="5074920"/>
          </a:xfrm>
          <a:prstGeom prst="roundRect">
            <a:avLst/>
          </a:prstGeom>
          <a:solidFill>
            <a:srgbClr val="121F33">
              <a:alpha val="92000"/>
            </a:srgbClr>
          </a:solidFill>
          <a:ln w="12700">
            <a:solidFill>
              <a:srgbClr val="2A3A55">
                <a:alpha val="85000"/>
              </a:srgbClr>
            </a:solidFill>
            <a:prstDash val="solid"/>
          </a:ln>
        </ns0:spPr>
      </ns0:sp>
      <ns0:sp>
        <ns0:nvSpPr>
          <ns0:cNvPr id="8" name="Text 6"/>
          <ns0:cNvSpPr/>
          <ns0:nvPr/>
        </ns0:nvSpPr>
        <ns0:spPr>
          <a:xfrm>
            <a:off x="960120" y="1737360"/>
            <a:ext cx="256032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</a:t>
            </a:r>
            <a:endParaRPr lang="en-US" sz="1400" dirty="0"/>
          </a:p>
        </ns0:txBody>
      </ns0:sp>
      <ns0:pic>
        <ns0:nvPicPr>
          <ns0:cNvPr id="9" name="Image 0" descr="/mnt/data/segmentation_masks_UNet.png"/>
          <ns0:cNvPicPr>
            <a:picLocks noChangeAspect="1"/>
          </ns0:cNvPicPr>
          <ns0:nvPr/>
        </ns0:nvPicPr>
        <ns0:blipFill>
          <a:blip ns2:embed="rId3"/>
          <a:stretch>
            <a:fillRect/>
          </a:stretch>
        </ns0:blipFill>
        <ns0:spPr>
          <a:xfrm>
            <a:off x="1824613" y="2011680"/>
            <a:ext cx="3300215" cy="2011680"/>
          </a:xfrm>
          <a:prstGeom prst="rect">
            <a:avLst/>
          </a:prstGeom>
        </ns0:spPr>
      </ns0:pic>
      <ns0:sp>
        <ns0:nvSpPr>
          <ns0:cNvPr id="10" name="Text 7"/>
          <ns0:cNvSpPr/>
          <ns0:nvPr/>
        </ns0:nvSpPr>
        <ns0:spPr>
          <a:xfrm>
            <a:off x="960120" y="4160520"/>
            <a:ext cx="320040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U-Net</a:t>
            </a:r>
            <a:endParaRPr lang="en-US" sz="1400" dirty="0"/>
          </a:p>
        </ns0:txBody>
      </ns0:sp>
      <ns0:pic>
        <ns0:nvPicPr>
          <ns0:cNvPr id="11" name="Image 1" descr="/mnt/data/segmentation_masks_AttentionUnet.png"/>
          <ns0:cNvPicPr>
            <a:picLocks noChangeAspect="1"/>
          </ns0:cNvPicPr>
          <ns0:nvPr/>
        </ns0:nvPicPr>
        <ns0:blipFill>
          <a:blip ns2:embed="rId4"/>
          <a:stretch>
            <a:fillRect/>
          </a:stretch>
        </ns0:blipFill>
        <ns0:spPr>
          <a:xfrm>
            <a:off x="1814534" y="4434840"/>
            <a:ext cx="3320372" cy="2011680"/>
          </a:xfrm>
          <a:prstGeom prst="rect">
            <a:avLst/>
          </a:prstGeom>
        </ns0:spPr>
      </ns0:pic>
      <ns0:sp>
        <ns0:nvSpPr>
          <ns0:cNvPr id="12" name="Text 8"/>
          <ns0:cNvSpPr/>
          <ns0:nvPr/>
        </ns0:nvSpPr>
        <ns0:spPr>
          <a:xfrm>
            <a:off x="6355080" y="1737360"/>
            <a:ext cx="256032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UNETR</a:t>
            </a:r>
            <a:endParaRPr lang="en-US" sz="1400" dirty="0"/>
          </a:p>
        </ns0:txBody>
      </ns0:sp>
      <ns0:pic>
        <ns0:nvPicPr>
          <ns0:cNvPr id="13" name="Image 2" descr="/mnt/data/segmentation_masks_unetR alt.png"/>
          <ns0:cNvPicPr>
            <a:picLocks noChangeAspect="1"/>
          </ns0:cNvPicPr>
          <ns0:nvPr/>
        </ns0:nvPicPr>
        <ns0:blipFill>
          <a:blip ns2:embed="rId5"/>
          <a:stretch>
            <a:fillRect/>
          </a:stretch>
        </ns0:blipFill>
        <ns0:spPr>
          <a:xfrm>
            <a:off x="7873528" y="2011680"/>
            <a:ext cx="1992304" cy="2011680"/>
          </a:xfrm>
          <a:prstGeom prst="rect">
            <a:avLst/>
          </a:prstGeom>
        </ns0:spPr>
      </ns0:pic>
      <ns0:sp>
        <ns0:nvSpPr>
          <ns0:cNvPr id="14" name="Text 9"/>
          <ns0:cNvSpPr/>
          <ns0:nvPr/>
        </ns0:nvSpPr>
        <ns0:spPr>
          <a:xfrm>
            <a:off x="6355080" y="4160520"/>
            <a:ext cx="365760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SegMamba (Heavier)</a:t>
            </a:r>
            <a:endParaRPr lang="en-US" sz="1400" dirty="0"/>
          </a:p>
        </ns0:txBody>
      </ns0:sp>
      <ns0:pic>
        <ns0:nvPicPr>
          <ns0:cNvPr id="15" name="Image 3" descr="/mnt/data/segmentation_masks_segmambaHEAVY.png"/>
          <ns0:cNvPicPr>
            <a:picLocks noChangeAspect="1"/>
          </ns0:cNvPicPr>
          <ns0:nvPr/>
        </ns0:nvPicPr>
        <ns0:blipFill>
          <a:blip ns2:embed="rId6"/>
          <a:stretch>
            <a:fillRect/>
          </a:stretch>
        </ns0:blipFill>
        <ns0:spPr>
          <a:xfrm>
            <a:off x="7204378" y="4434840"/>
            <a:ext cx="3330604" cy="2011680"/>
          </a:xfrm>
          <a:prstGeom prst="rect">
            <a:avLst/>
          </a:prstGeom>
        </ns0:spPr>
      </ns0:pic>
    </ns0:spTree>
  </ns0:cSld>
  <ns0:clrMapOvr>
    <a:masterClrMapping/>
  </ns0:clrMapOvr>
</ns0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{22563137-1A4F-4B4C-8640-9787A24165A6}tf10001062</Template>
  <TotalTime>807</TotalTime>
  <Words>1523</Words>
  <Application>Microsoft Macintosh PowerPoint</Application>
  <PresentationFormat>Widescreen</PresentationFormat>
  <Paragraphs>272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Cambria Math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Εθνικό Μετσόβιο Πολυτεχνείο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Placenta segmentation in fetal MRI with Deep Learning</dc:subject>
  <dc:creator>Γρηγόριος Τσένος</dc:creator>
  <cp:lastModifiedBy>Γρηγόριος Τσένος</cp:lastModifiedBy>
  <cp:revision>137</cp:revision>
  <dcterms:created xsi:type="dcterms:W3CDTF">2026-02-13T14:48:51Z</dcterms:created>
  <dcterms:modified xsi:type="dcterms:W3CDTF">2026-02-20T13:37:40Z</dcterms:modified>
</cp:coreProperties>
</file>