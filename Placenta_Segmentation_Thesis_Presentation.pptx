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Placenta Segmentation in MRI with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Diploma Thesis Presentation</a:t>
            </a:r>
            <a:br/>
            <a:br/>
            <a:r>
              <a:rPr/>
              <a:t>Grigorios Tsenos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Topic and Context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National Technical University of Athens (ECE School)</a:t>
            </a:r>
          </a:p>
          <a:p>
            <a:pPr lvl="0"/>
            <a:r>
              <a:rPr/>
              <a:t>Thesis focus: 3D placenta segmentation from MRI</a:t>
            </a:r>
          </a:p>
          <a:p>
            <a:pPr lvl="0"/>
            <a:r>
              <a:rPr/>
              <a:t>Goal: fair and reproducible model comparison</a:t>
            </a:r>
          </a:p>
        </p:txBody>
      </p:sp>
      <p:pic>
        <p:nvPicPr>
          <p:cNvPr descr="/Users/gregtsen/Desktop/notes/MRI-Placental-Seg-with-MONAI/presentation_assets/page_36-36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This Problem Matters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Placenta health is critical for pregnancy outcome</a:t>
            </a:r>
          </a:p>
          <a:p>
            <a:pPr lvl="0"/>
            <a:r>
              <a:rPr/>
              <a:t>Quantification needs reliable segmentation masks</a:t>
            </a:r>
          </a:p>
          <a:p>
            <a:pPr lvl="0"/>
            <a:r>
              <a:rPr/>
              <a:t>Manual delineation is slow and observer-dependent</a:t>
            </a:r>
          </a:p>
          <a:p>
            <a:pPr lvl="0"/>
            <a:r>
              <a:rPr/>
              <a:t>Automation enables scalable analysis</a:t>
            </a:r>
          </a:p>
        </p:txBody>
      </p:sp>
      <p:pic>
        <p:nvPicPr>
          <p:cNvPr descr="/Users/gregtsen/Desktop/notes/MRI-Placental-Seg-with-MONAI/presentation_assets/page_36-36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Core Challenges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Strong shape and location variability</a:t>
            </a:r>
          </a:p>
          <a:p>
            <a:pPr lvl="0"/>
            <a:r>
              <a:rPr/>
              <a:t>Ambiguous organ boundaries in MRI</a:t>
            </a:r>
          </a:p>
          <a:p>
            <a:pPr lvl="0"/>
            <a:r>
              <a:rPr/>
              <a:t>Motion artifacts and intensity inhomogeneity</a:t>
            </a:r>
          </a:p>
          <a:p>
            <a:pPr lvl="0"/>
            <a:r>
              <a:rPr/>
              <a:t>Limited amount of annotated 3D data</a:t>
            </a:r>
          </a:p>
        </p:txBody>
      </p:sp>
      <p:pic>
        <p:nvPicPr>
          <p:cNvPr descr="/Users/gregtsen/Desktop/notes/MRI-Placental-Seg-with-MONAI/presentation_assets/page_36-36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Study Objectives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Build one unified experimental protocol</a:t>
            </a:r>
          </a:p>
          <a:p>
            <a:pPr lvl="0"/>
            <a:r>
              <a:rPr/>
              <a:t>Compare CNN, Transformer, and SSM families</a:t>
            </a:r>
          </a:p>
          <a:p>
            <a:pPr lvl="0"/>
            <a:r>
              <a:rPr/>
              <a:t>Keep training conditions identical across models</a:t>
            </a:r>
          </a:p>
          <a:p>
            <a:pPr lvl="0"/>
            <a:r>
              <a:rPr/>
              <a:t>Combine quantitative and qualitative evaluation</a:t>
            </a:r>
          </a:p>
        </p:txBody>
      </p:sp>
      <p:pic>
        <p:nvPicPr>
          <p:cNvPr descr="/Users/gregtsen/Desktop/notes/MRI-Placental-Seg-with-MONAI/presentation_assets/diagram_model_famil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Architecture Families Compared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CNN: U-Net, Attention U-Net, DynUNet, SegResNet</a:t>
            </a:r>
          </a:p>
          <a:p>
            <a:pPr lvl="0"/>
            <a:r>
              <a:rPr/>
              <a:t>Transformer: UNETR, SwinUNETR</a:t>
            </a:r>
          </a:p>
          <a:p>
            <a:pPr lvl="0"/>
            <a:r>
              <a:rPr/>
              <a:t>State-space: SegMamba</a:t>
            </a:r>
          </a:p>
          <a:p>
            <a:pPr lvl="0"/>
            <a:r>
              <a:rPr/>
              <a:t>Same data pipeline for all runs</a:t>
            </a:r>
          </a:p>
        </p:txBody>
      </p:sp>
      <p:pic>
        <p:nvPicPr>
          <p:cNvPr descr="/Users/gregtsen/Desktop/notes/MRI-Placental-Seg-with-MONAI/presentation_assets/diagram_model_famil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Unified Experimental Pipeline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Input standardization and geometric alignment</a:t>
            </a:r>
          </a:p>
          <a:p>
            <a:pPr lvl="0"/>
            <a:r>
              <a:rPr/>
              <a:t>Patch sampling and augmentation strategy</a:t>
            </a:r>
          </a:p>
          <a:p>
            <a:pPr lvl="0"/>
            <a:r>
              <a:rPr/>
              <a:t>Common optimization and validation flow</a:t>
            </a:r>
          </a:p>
          <a:p>
            <a:pPr lvl="0"/>
            <a:r>
              <a:rPr/>
              <a:t>Fair comparison by design</a:t>
            </a:r>
          </a:p>
        </p:txBody>
      </p:sp>
      <p:pic>
        <p:nvPicPr>
          <p:cNvPr descr="/Users/gregtsen/Desktop/notes/MRI-Placental-Seg-with-MONAI/presentation_assets/diagram_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33500"/>
            <a:ext cx="51054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Dataset and Split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Total MRI volumes: 137</a:t>
            </a:r>
          </a:p>
          <a:p>
            <a:pPr lvl="0"/>
            <a:r>
              <a:rPr/>
              <a:t>Training set: 109 volumes</a:t>
            </a:r>
          </a:p>
          <a:p>
            <a:pPr lvl="0"/>
            <a:r>
              <a:rPr/>
              <a:t>Validation set: 28 volumes</a:t>
            </a:r>
          </a:p>
          <a:p>
            <a:pPr lvl="0"/>
            <a:r>
              <a:rPr/>
              <a:t>3D volume-level evaluation</a:t>
            </a:r>
          </a:p>
        </p:txBody>
      </p:sp>
      <p:pic>
        <p:nvPicPr>
          <p:cNvPr descr="/Users/gregtsen/Desktop/notes/MRI-Placental-Seg-with-MONAI/presentation_assets/chart_data_spl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Preprocessing Choices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Orientation normalization to RAS</a:t>
            </a:r>
          </a:p>
          <a:p>
            <a:pPr lvl="0"/>
            <a:r>
              <a:rPr/>
              <a:t>Resampling to voxel spacing (2.0, 2.0, 2.0) mm</a:t>
            </a:r>
          </a:p>
          <a:p>
            <a:pPr lvl="0"/>
            <a:r>
              <a:rPr/>
              <a:t>Intensity normalization with percentiles</a:t>
            </a:r>
          </a:p>
          <a:p>
            <a:pPr lvl="0"/>
            <a:r>
              <a:rPr/>
              <a:t>Foreground ROI cropping and fixed patch shape</a:t>
            </a:r>
          </a:p>
        </p:txBody>
      </p:sp>
      <p:pic>
        <p:nvPicPr>
          <p:cNvPr descr="/Users/gregtsen/Desktop/notes/MRI-Placental-Seg-with-MONAI/presentation_assets/page_57-57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51400" y="203200"/>
            <a:ext cx="25527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Training Protocol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Patch size: (96, 96, 64)</a:t>
            </a:r>
          </a:p>
          <a:p>
            <a:pPr lvl="0"/>
            <a:r>
              <a:rPr/>
              <a:t>Loss: DiceCE (with sigmoid, no background)</a:t>
            </a:r>
          </a:p>
          <a:p>
            <a:pPr lvl="0"/>
            <a:r>
              <a:rPr/>
              <a:t>Optimizer: AdamW + CyclicLR scheduler</a:t>
            </a:r>
          </a:p>
          <a:p>
            <a:pPr lvl="0"/>
            <a:r>
              <a:rPr/>
              <a:t>120 epochs, EMA, sliding-window inference</a:t>
            </a:r>
          </a:p>
        </p:txBody>
      </p:sp>
      <p:pic>
        <p:nvPicPr>
          <p:cNvPr descr="/Users/gregtsen/Desktop/notes/MRI-Placental-Seg-with-MONAI/presentation_assets/page_60-60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14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U-Net Foundation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Encoder-decoder with skip connections</a:t>
            </a:r>
          </a:p>
          <a:p>
            <a:pPr lvl="0"/>
            <a:r>
              <a:rPr/>
              <a:t>Strong baseline for medical segmentation</a:t>
            </a:r>
          </a:p>
          <a:p>
            <a:pPr lvl="0"/>
            <a:r>
              <a:rPr/>
              <a:t>3D variants capture volumetric context</a:t>
            </a:r>
          </a:p>
        </p:txBody>
      </p:sp>
      <p:pic>
        <p:nvPicPr>
          <p:cNvPr descr="/Users/gregtsen/Desktop/notes/MRI-Placental-Seg-with-MONAI/presentation_assets/page_48-48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Residual and Attention Ideas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Residual blocks support deeper optimization</a:t>
            </a:r>
          </a:p>
          <a:p>
            <a:pPr lvl="0"/>
            <a:r>
              <a:rPr/>
              <a:t>Attention gates refine skip features</a:t>
            </a:r>
          </a:p>
          <a:p>
            <a:pPr lvl="0"/>
            <a:r>
              <a:rPr/>
              <a:t>Better focus on the target organ boundaries</a:t>
            </a:r>
          </a:p>
        </p:txBody>
      </p:sp>
      <p:pic>
        <p:nvPicPr>
          <p:cNvPr descr="/Users/gregtsen/Desktop/notes/MRI-Placental-Seg-with-MONAI/presentation_assets/page_49-49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14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Transformer Design Choices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UNETR: ViT-style encoder with U-shaped decoder</a:t>
            </a:r>
          </a:p>
          <a:p>
            <a:pPr lvl="0"/>
            <a:r>
              <a:rPr/>
              <a:t>SwinUNETR: hierarchical windows and patch merging</a:t>
            </a:r>
          </a:p>
          <a:p>
            <a:pPr lvl="0"/>
            <a:r>
              <a:rPr/>
              <a:t>Locality priors improved stability versus pure ViT</a:t>
            </a:r>
          </a:p>
        </p:txBody>
      </p:sp>
      <p:pic>
        <p:nvPicPr>
          <p:cNvPr descr="/Users/gregtsen/Desktop/notes/MRI-Placental-Seg-with-MONAI/presentation_assets/page_50-50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14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Quantitative Results (Validation Set)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Best Dice: SegMamba Heavier = 0.8606</a:t>
            </a:r>
          </a:p>
          <a:p>
            <a:pPr lvl="0"/>
            <a:r>
              <a:rPr/>
              <a:t>Very close: SegResNet Heavier = 0.8601</a:t>
            </a:r>
          </a:p>
          <a:p>
            <a:pPr lvl="0"/>
            <a:r>
              <a:rPr/>
              <a:t>Strong Transformer baseline: SwinUNETR ~0.849</a:t>
            </a:r>
          </a:p>
          <a:p>
            <a:pPr lvl="0"/>
            <a:r>
              <a:rPr/>
              <a:t>Lowest performer: UNETR = 0.772</a:t>
            </a:r>
          </a:p>
        </p:txBody>
      </p:sp>
      <p:pic>
        <p:nvPicPr>
          <p:cNvPr descr="/Users/gregtsen/Desktop/notes/MRI-Placental-Seg-with-MONAI/presentation_assets/page_64-64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Ranking by Dice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Top cluster around Dice ~0.86</a:t>
            </a:r>
          </a:p>
          <a:p>
            <a:pPr lvl="0"/>
            <a:r>
              <a:rPr/>
              <a:t>Small differences among top 4 models</a:t>
            </a:r>
          </a:p>
          <a:p>
            <a:pPr lvl="0"/>
            <a:r>
              <a:rPr/>
              <a:t>Classic U-Net still competitive baseline</a:t>
            </a:r>
          </a:p>
        </p:txBody>
      </p:sp>
      <p:pic>
        <p:nvPicPr>
          <p:cNvPr descr="/Users/gregtsen/Desktop/notes/MRI-Placental-Seg-with-MONAI/presentation_assets/chart_dice_rank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Training Curves: Group 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Attention U-Net, DynUNet, and SwinUNETR converge fast</a:t>
            </a:r>
          </a:p>
          <a:p>
            <a:pPr lvl="0"/>
            <a:r>
              <a:rPr/>
              <a:t>Early gains in first epochs, then plateau behavior</a:t>
            </a:r>
          </a:p>
          <a:p>
            <a:pPr lvl="0"/>
            <a:r>
              <a:rPr/>
              <a:t>Best epoch selected by validation Dice</a:t>
            </a:r>
          </a:p>
        </p:txBody>
      </p:sp>
      <p:pic>
        <p:nvPicPr>
          <p:cNvPr descr="/Users/gregtsen/Desktop/notes/MRI-Placental-Seg-with-MONAI/presentation_assets/page_65-65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14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Training Curves: Group 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SegResNet and SegMamba show strong stability</a:t>
            </a:r>
          </a:p>
          <a:p>
            <a:pPr lvl="0"/>
            <a:r>
              <a:rPr/>
              <a:t>UNETR behaves as an outlier in convergence quality</a:t>
            </a:r>
          </a:p>
          <a:p>
            <a:pPr lvl="0"/>
            <a:r>
              <a:rPr/>
              <a:t>Curves support the final ranking trend</a:t>
            </a:r>
          </a:p>
        </p:txBody>
      </p:sp>
      <p:pic>
        <p:nvPicPr>
          <p:cNvPr descr="/Users/gregtsen/Desktop/notes/MRI-Placental-Seg-with-MONAI/presentation_assets/page_66-66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14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Qualitative Results (Set 1)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Clear masks for DynUNet and SwinUNETR variants</a:t>
            </a:r>
          </a:p>
          <a:p>
            <a:pPr lvl="0"/>
            <a:r>
              <a:rPr/>
              <a:t>Good shape consistency across examples</a:t>
            </a:r>
          </a:p>
          <a:p>
            <a:pPr lvl="0"/>
            <a:r>
              <a:rPr/>
              <a:t>Boundary quality aligns with Dice/IoU trends</a:t>
            </a:r>
          </a:p>
        </p:txBody>
      </p:sp>
      <p:pic>
        <p:nvPicPr>
          <p:cNvPr descr="/Users/gregtsen/Desktop/notes/MRI-Placental-Seg-with-MONAI/presentation_assets/page_69-69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14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Qualitative Results (Set 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SegResNet variants yield clean, continuous masks</a:t>
            </a:r>
          </a:p>
          <a:p>
            <a:pPr lvl="0"/>
            <a:r>
              <a:rPr/>
              <a:t>U-Net is acceptable but less consistent at boundaries</a:t>
            </a:r>
          </a:p>
          <a:p>
            <a:pPr lvl="0"/>
            <a:r>
              <a:rPr/>
              <a:t>Visual behavior matches quantitative scores</a:t>
            </a:r>
          </a:p>
        </p:txBody>
      </p:sp>
      <p:pic>
        <p:nvPicPr>
          <p:cNvPr descr="/Users/gregtsen/Desktop/notes/MRI-Placental-Seg-with-MONAI/presentation_assets/page_70-70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14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Qualitative Results (Set 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SegMamba predictions are close to ground truth</a:t>
            </a:r>
          </a:p>
          <a:p>
            <a:pPr lvl="0"/>
            <a:r>
              <a:rPr/>
              <a:t>UNETR shows more false positives and instability</a:t>
            </a:r>
          </a:p>
          <a:p>
            <a:pPr lvl="0"/>
            <a:r>
              <a:rPr/>
              <a:t>Qualitative inspection reinforces outlier behavior</a:t>
            </a:r>
          </a:p>
        </p:txBody>
      </p:sp>
      <p:pic>
        <p:nvPicPr>
          <p:cNvPr descr="/Users/gregtsen/Desktop/notes/MRI-Placental-Seg-with-MONAI/presentation_assets/page_71-71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14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Runtime and Practical Cost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Fastest run: U-Net (~0.77 h)</a:t>
            </a:r>
          </a:p>
          <a:p>
            <a:pPr lvl="0"/>
            <a:r>
              <a:rPr/>
              <a:t>SwinUNETR and SegResNet Heavier are costly</a:t>
            </a:r>
          </a:p>
          <a:p>
            <a:pPr lvl="0"/>
            <a:r>
              <a:rPr/>
              <a:t>SegMamba includes additional loading overhead</a:t>
            </a:r>
          </a:p>
          <a:p>
            <a:pPr lvl="0"/>
            <a:r>
              <a:rPr/>
              <a:t>Accuracy gains must justify compute cost</a:t>
            </a:r>
          </a:p>
        </p:txBody>
      </p:sp>
      <p:pic>
        <p:nvPicPr>
          <p:cNvPr descr="/Users/gregtsen/Desktop/notes/MRI-Placental-Seg-with-MONAI/presentation_assets/page_74-74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Accuracy vs Compute Trade-off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Top accuracy does not always mean best efficiency</a:t>
            </a:r>
          </a:p>
          <a:p>
            <a:pPr lvl="0"/>
            <a:r>
              <a:rPr/>
              <a:t>Lighter variants are often near-identical in quality</a:t>
            </a:r>
          </a:p>
          <a:p>
            <a:pPr lvl="0"/>
            <a:r>
              <a:rPr/>
              <a:t>Practical deployment should optimize both axes</a:t>
            </a:r>
          </a:p>
        </p:txBody>
      </p:sp>
      <p:pic>
        <p:nvPicPr>
          <p:cNvPr descr="/Users/gregtsen/Desktop/notes/MRI-Placental-Seg-with-MONAI/presentation_assets/chart_dice_vs_run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89000"/>
            <a:ext cx="5105400" cy="300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Conclusions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Unified protocol enabled fair cross-family comparison</a:t>
            </a:r>
          </a:p>
          <a:p>
            <a:pPr lvl="0"/>
            <a:r>
              <a:rPr/>
              <a:t>Best overall performers: SegMamba and SegResNet</a:t>
            </a:r>
          </a:p>
          <a:p>
            <a:pPr lvl="0"/>
            <a:r>
              <a:rPr/>
              <a:t>SwinUNETR remained competitive with higher cost</a:t>
            </a:r>
          </a:p>
          <a:p>
            <a:pPr lvl="0"/>
            <a:r>
              <a:rPr/>
              <a:t>UNETR underperformed in this dataset/split</a:t>
            </a:r>
          </a:p>
        </p:txBody>
      </p:sp>
      <p:pic>
        <p:nvPicPr>
          <p:cNvPr descr="/Users/gregtsen/Desktop/notes/MRI-Placental-Seg-with-MONAI/presentation_assets/chart_run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Future Work and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Add independent test set and cross-validation</a:t>
            </a:r>
          </a:p>
          <a:p>
            <a:pPr lvl="0"/>
            <a:r>
              <a:rPr/>
              <a:t>Validate on external, multi-center datasets</a:t>
            </a:r>
          </a:p>
          <a:p>
            <a:pPr lvl="0"/>
            <a:r>
              <a:rPr/>
              <a:t>Integrate uncertainty estimation for trust</a:t>
            </a:r>
          </a:p>
          <a:p>
            <a:pPr lvl="0"/>
            <a:r>
              <a:rPr/>
              <a:t>Explore fine-tuning from best checkpoints</a:t>
            </a:r>
          </a:p>
          <a:p>
            <a:pPr lvl="0"/>
            <a:r>
              <a:rPr/>
              <a:t>Extend to multimodal and multi-task learning</a:t>
            </a:r>
          </a:p>
        </p:txBody>
      </p:sp>
      <p:pic>
        <p:nvPicPr>
          <p:cNvPr descr="/Users/gregtsen/Desktop/notes/MRI-Placental-Seg-with-MONAI/presentation_assets/page_36-36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Questions and discussion</a:t>
            </a:r>
          </a:p>
        </p:txBody>
      </p:sp>
      <p:pic>
        <p:nvPicPr>
          <p:cNvPr descr="/Users/gregtsen/Desktop/notes/MRI-Placental-Seg-with-MONAI/presentation_assets/page_36-36_tri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203200"/>
            <a:ext cx="252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Placenta Segmentation in MRI with Deep Learning</dc:title>
  <dc:creator>Grigorios Tsenos</dc:creator>
  <cp:keywords/>
  <dcterms:created xsi:type="dcterms:W3CDTF">2026-02-13T13:53:14Z</dcterms:created>
  <dcterms:modified xsi:type="dcterms:W3CDTF">2026-02-13T13:53:14Z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2026</vt:lpwstr>
  </property>
  <property fmtid="{D5CDD505-2E9C-101B-9397-08002B2CF9AE}" pid="3" name="subtitle">
    <vt:lpwstr>Diploma Thesis Presentation</vt:lpwstr>
  </property>
</Properties>
</file>