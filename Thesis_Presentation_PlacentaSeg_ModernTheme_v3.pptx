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595" r:id="rId1"/>
  </p:sldMasterIdLst>
  <p:notesMasterIdLst>
    <p:notesMasterId r:id="rId30"/>
  </p:notesMasterIdLst>
  <p:sldIdLst>
    <p:sldId id="256" r:id="rId2"/>
    <p:sldId id="282" r:id="rId3"/>
    <p:sldId id="283" r:id="rId4"/>
    <p:sldId id="259" r:id="rId5"/>
    <p:sldId id="257" r:id="rId6"/>
    <p:sldId id="258" r:id="rId7"/>
    <p:sldId id="284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480"/>
    <p:restoredTop sz="94610"/>
  </p:normalViewPr>
  <p:slideViewPr>
    <p:cSldViewPr snapToGrid="0" snapToObjects="1">
      <p:cViewPr varScale="1">
        <p:scale>
          <a:sx n="156" d="100"/>
          <a:sy n="156" d="100"/>
        </p:scale>
        <p:origin x="13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Dice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UNETR</c:v>
                </c:pt>
                <c:pt idx="1">
                  <c:v>U-Net</c:v>
                </c:pt>
                <c:pt idx="2">
                  <c:v>DynUNet</c:v>
                </c:pt>
                <c:pt idx="3">
                  <c:v>Swin (L)</c:v>
                </c:pt>
                <c:pt idx="4">
                  <c:v>Swin (H)</c:v>
                </c:pt>
                <c:pt idx="5">
                  <c:v>Att U-Net</c:v>
                </c:pt>
                <c:pt idx="6">
                  <c:v>SegRes (L)</c:v>
                </c:pt>
                <c:pt idx="7">
                  <c:v>SegRes (H)</c:v>
                </c:pt>
                <c:pt idx="8">
                  <c:v>SegMamba (L)</c:v>
                </c:pt>
                <c:pt idx="9">
                  <c:v>SegMamba (H)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0.77200000000000002</c:v>
                </c:pt>
                <c:pt idx="1">
                  <c:v>0.82299999999999995</c:v>
                </c:pt>
                <c:pt idx="2">
                  <c:v>0.84599999999999997</c:v>
                </c:pt>
                <c:pt idx="3">
                  <c:v>0.84899999999999998</c:v>
                </c:pt>
                <c:pt idx="4">
                  <c:v>0.84970000000000001</c:v>
                </c:pt>
                <c:pt idx="5">
                  <c:v>0.85099999999999998</c:v>
                </c:pt>
                <c:pt idx="6">
                  <c:v>0.85899999999999999</c:v>
                </c:pt>
                <c:pt idx="7">
                  <c:v>0.86009999999999998</c:v>
                </c:pt>
                <c:pt idx="8">
                  <c:v>0.85809999999999997</c:v>
                </c:pt>
                <c:pt idx="9">
                  <c:v>0.86060000000000003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819-A943-A4E5-415F894AAA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8"/>
          <c:min val="0.7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Hours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UNETR</c:v>
                </c:pt>
                <c:pt idx="1">
                  <c:v>U-Net</c:v>
                </c:pt>
                <c:pt idx="2">
                  <c:v>DynUNet</c:v>
                </c:pt>
                <c:pt idx="3">
                  <c:v>Swin (L)</c:v>
                </c:pt>
                <c:pt idx="4">
                  <c:v>Swin (H)</c:v>
                </c:pt>
                <c:pt idx="5">
                  <c:v>Att U-Net</c:v>
                </c:pt>
                <c:pt idx="6">
                  <c:v>SegRes (L)</c:v>
                </c:pt>
                <c:pt idx="7">
                  <c:v>SegRes (H)</c:v>
                </c:pt>
                <c:pt idx="8">
                  <c:v>SegMamba (L)</c:v>
                </c:pt>
                <c:pt idx="9">
                  <c:v>SegMamba (H)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2.8946999999999998</c:v>
                </c:pt>
                <c:pt idx="1">
                  <c:v>0.76690000000000003</c:v>
                </c:pt>
                <c:pt idx="2">
                  <c:v>2.8666999999999998</c:v>
                </c:pt>
                <c:pt idx="3">
                  <c:v>6</c:v>
                </c:pt>
                <c:pt idx="4">
                  <c:v>8.6999999999999993</c:v>
                </c:pt>
                <c:pt idx="5">
                  <c:v>1.6203000000000001</c:v>
                </c:pt>
                <c:pt idx="6">
                  <c:v>4.4760999999999997</c:v>
                </c:pt>
                <c:pt idx="7">
                  <c:v>9.7786000000000008</c:v>
                </c:pt>
                <c:pt idx="8">
                  <c:v>5.1224999999999996</c:v>
                </c:pt>
                <c:pt idx="9">
                  <c:v>5.0252999999999997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BD2-934D-A921-AF42BF8D39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65750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0061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6487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809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51639-B2D6-4652-B8C3-1B4C224A7BAF}" type="datetimeFigureOut">
              <a:rPr lang="en-US" smtClean="0"/>
              <a:t>2/20/26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342895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48EC7-AF6A-48D3-8284-14BACBEBDD84}" type="datetimeFigureOut">
              <a:rPr lang="en-US" smtClean="0"/>
              <a:t>2/20/26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713815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961B7-6B89-48AB-966F-622E2788EECC}" type="datetimeFigureOut">
              <a:rPr lang="en-US" smtClean="0"/>
              <a:t>2/20/26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140936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48EC7-AF6A-48D3-8284-14BACBEBDD84}" type="datetimeFigureOut">
              <a:rPr lang="en-US" smtClean="0"/>
              <a:t>2/20/26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01808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48EC7-AF6A-48D3-8284-14BACBEBDD84}" type="datetimeFigureOut">
              <a:rPr lang="en-US" smtClean="0"/>
              <a:t>2/20/26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98153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90D90-AA62-404D-A741-635B4370F9CB}" type="datetimeFigureOut">
              <a:rPr lang="en-US" smtClean="0"/>
              <a:t>2/20/26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153038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002E4-6836-46D1-9DBB-3C27C0DD3A89}" type="datetimeFigureOut">
              <a:rPr lang="en-US" smtClean="0"/>
              <a:t>2/20/26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64066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48EC7-AF6A-48D3-8284-14BACBEBDD84}" type="datetimeFigureOut">
              <a:rPr lang="en-US" smtClean="0"/>
              <a:t>2/20/26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52988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48EC7-AF6A-48D3-8284-14BACBEBDD84}" type="datetimeFigureOut">
              <a:rPr lang="en-US" smtClean="0"/>
              <a:t>2/20/26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478339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48EC7-AF6A-48D3-8284-14BACBEBDD84}" type="datetimeFigureOut">
              <a:rPr lang="en-US" smtClean="0"/>
              <a:t>2/20/26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8639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48EC7-AF6A-48D3-8284-14BACBEBDD84}" type="datetimeFigureOut">
              <a:rPr lang="en-US" smtClean="0"/>
              <a:t>2/20/26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39987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48EC7-AF6A-48D3-8284-14BACBEBDD84}" type="datetimeFigureOut">
              <a:rPr lang="en-US" smtClean="0"/>
              <a:t>2/20/26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4274207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48EC7-AF6A-48D3-8284-14BACBEBDD84}" type="datetimeFigureOut">
              <a:rPr lang="en-US" smtClean="0"/>
              <a:t>2/20/26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068032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48EC7-AF6A-48D3-8284-14BACBEBDD84}" type="datetimeFigureOut">
              <a:rPr lang="en-US" smtClean="0"/>
              <a:t>2/20/26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290943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48EC7-AF6A-48D3-8284-14BACBEBDD84}" type="datetimeFigureOut">
              <a:rPr lang="en-US" smtClean="0"/>
              <a:t>2/20/26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329563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48EC7-AF6A-48D3-8284-14BACBEBDD84}" type="datetimeFigureOut">
              <a:rPr lang="en-US" smtClean="0"/>
              <a:t>2/20/26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07617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48EC7-AF6A-48D3-8284-14BACBEBDD84}" type="datetimeFigureOut">
              <a:rPr lang="en-US" smtClean="0"/>
              <a:t>2/20/26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6940310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6111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BC48EC7-AF6A-48D3-8284-14BACBEBDD84}" type="datetimeFigureOut">
              <a:rPr lang="en-US" smtClean="0"/>
              <a:t>2/20/26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2193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596" r:id="rId1"/>
    <p:sldLayoutId id="2147484597" r:id="rId2"/>
    <p:sldLayoutId id="2147484598" r:id="rId3"/>
    <p:sldLayoutId id="2147484599" r:id="rId4"/>
    <p:sldLayoutId id="2147484600" r:id="rId5"/>
    <p:sldLayoutId id="2147484601" r:id="rId6"/>
    <p:sldLayoutId id="2147484602" r:id="rId7"/>
    <p:sldLayoutId id="2147484603" r:id="rId8"/>
    <p:sldLayoutId id="2147484604" r:id="rId9"/>
    <p:sldLayoutId id="2147484605" r:id="rId10"/>
    <p:sldLayoutId id="2147484606" r:id="rId11"/>
    <p:sldLayoutId id="2147484607" r:id="rId12"/>
    <p:sldLayoutId id="2147484608" r:id="rId13"/>
    <p:sldLayoutId id="2147484609" r:id="rId14"/>
    <p:sldLayoutId id="2147484610" r:id="rId15"/>
    <p:sldLayoutId id="2147484611" r:id="rId16"/>
    <p:sldLayoutId id="2147484612" r:id="rId17"/>
    <p:sldLayoutId id="2147484613" r:id="rId18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7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jpe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8.xml"/><Relationship Id="rId5" Type="http://schemas.openxmlformats.org/officeDocument/2006/relationships/chart" Target="../charts/chart2.xml"/><Relationship Id="rId4" Type="http://schemas.openxmlformats.org/officeDocument/2006/relationships/image" Target="../media/image4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7004"/>
            <a:ext cx="12191695" cy="1234440"/>
          </a:xfrm>
          <a:prstGeom prst="rect">
            <a:avLst/>
          </a:prstGeom>
          <a:solidFill>
            <a:srgbClr val="0E1A2E">
              <a:alpha val="95000"/>
            </a:srgbClr>
          </a:solidFill>
          <a:ln w="12700">
            <a:solidFill>
              <a:srgbClr val="0E1A2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170430"/>
            <a:ext cx="12191695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502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l-GR" sz="1600" dirty="0">
                <a:solidFill>
                  <a:srgbClr val="B6C2D9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Διπλωματική Εργασία</a:t>
            </a:r>
            <a:endParaRPr lang="en-US" sz="1600" dirty="0">
              <a:latin typeface="Century Gothic" panose="020B0502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1488453"/>
            <a:ext cx="11018520" cy="16034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0" i="0" u="none" strike="noStrike" dirty="0">
                <a:effectLst/>
                <a:latin typeface="+mj-lt"/>
              </a:rPr>
              <a:t>Placenta Segmentation in MRI with Deep Learning Techniques</a:t>
            </a:r>
            <a:endParaRPr lang="en-US" sz="3600" dirty="0">
              <a:latin typeface="+mj-lt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l-GR" sz="1400" dirty="0">
                <a:solidFill>
                  <a:srgbClr val="B6C2D9"/>
                </a:solidFill>
                <a:ea typeface="Calibri" pitchFamily="34" charset="-122"/>
                <a:cs typeface="Calibri" pitchFamily="34" charset="-120"/>
              </a:rPr>
              <a:t>Γρηγόριος </a:t>
            </a:r>
            <a:r>
              <a:rPr lang="el-GR" sz="1400" dirty="0" err="1">
                <a:solidFill>
                  <a:srgbClr val="B6C2D9"/>
                </a:solidFill>
                <a:ea typeface="Calibri" pitchFamily="34" charset="-122"/>
                <a:cs typeface="Calibri" pitchFamily="34" charset="-120"/>
              </a:rPr>
              <a:t>Τσένος</a:t>
            </a:r>
            <a:r>
              <a:rPr lang="en-US" sz="1400" dirty="0">
                <a:solidFill>
                  <a:srgbClr val="B6C2D9"/>
                </a:solidFill>
                <a:ea typeface="Calibri" pitchFamily="34" charset="-122"/>
                <a:cs typeface="Calibri" pitchFamily="34" charset="-120"/>
              </a:rPr>
              <a:t>| </a:t>
            </a:r>
            <a:r>
              <a:rPr lang="el-GR" sz="1400" dirty="0">
                <a:solidFill>
                  <a:srgbClr val="B6C2D9"/>
                </a:solidFill>
                <a:ea typeface="Calibri" pitchFamily="34" charset="-122"/>
                <a:cs typeface="Calibri" pitchFamily="34" charset="-120"/>
              </a:rPr>
              <a:t>ΕΜΠ</a:t>
            </a:r>
            <a:r>
              <a:rPr lang="en-US" sz="1400" dirty="0">
                <a:solidFill>
                  <a:srgbClr val="B6C2D9"/>
                </a:solidFill>
                <a:ea typeface="Calibri" pitchFamily="34" charset="-122"/>
                <a:cs typeface="Calibri" pitchFamily="34" charset="-120"/>
              </a:rPr>
              <a:t> | 2026</a:t>
            </a:r>
            <a:endParaRPr lang="en-US" sz="14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89009E3B-7AF8-CE31-3698-8E8CA5A81663}"/>
              </a:ext>
            </a:extLst>
          </p:cNvPr>
          <p:cNvSpPr/>
          <p:nvPr/>
        </p:nvSpPr>
        <p:spPr>
          <a:xfrm>
            <a:off x="685800" y="3708542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l-GR" dirty="0">
                <a:solidFill>
                  <a:srgbClr val="2DD4BF"/>
                </a:solidFill>
                <a:cs typeface="Calibri" pitchFamily="34" charset="-120"/>
              </a:rPr>
              <a:t>Επιβλέπων</a:t>
            </a:r>
            <a:r>
              <a:rPr lang="en-US" dirty="0">
                <a:solidFill>
                  <a:srgbClr val="2DD4BF"/>
                </a:solidFill>
                <a:cs typeface="Calibri" pitchFamily="34" charset="-120"/>
              </a:rPr>
              <a:t>: </a:t>
            </a:r>
            <a:r>
              <a:rPr lang="el-GR" dirty="0">
                <a:solidFill>
                  <a:srgbClr val="2DD4BF"/>
                </a:solidFill>
                <a:cs typeface="Calibri" pitchFamily="34" charset="-120"/>
              </a:rPr>
              <a:t>Γεώργιος </a:t>
            </a:r>
            <a:r>
              <a:rPr lang="el-GR" dirty="0" err="1">
                <a:solidFill>
                  <a:srgbClr val="2DD4BF"/>
                </a:solidFill>
                <a:cs typeface="Calibri" pitchFamily="34" charset="-120"/>
              </a:rPr>
              <a:t>Ματσόπουλος</a:t>
            </a:r>
            <a:r>
              <a:rPr lang="en-US" dirty="0">
                <a:solidFill>
                  <a:srgbClr val="2DD4BF"/>
                </a:solidFill>
                <a:cs typeface="Calibri" pitchFamily="34" charset="-120"/>
              </a:rPr>
              <a:t>, </a:t>
            </a:r>
            <a:r>
              <a:rPr lang="el-GR" dirty="0">
                <a:solidFill>
                  <a:srgbClr val="2DD4BF"/>
                </a:solidFill>
                <a:cs typeface="Calibri" pitchFamily="34" charset="-120"/>
              </a:rPr>
              <a:t>Καθηγητής, ΕΜΠ</a:t>
            </a: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27F2C68B-1605-C203-01ED-F312C09C9237}"/>
              </a:ext>
            </a:extLst>
          </p:cNvPr>
          <p:cNvSpPr/>
          <p:nvPr/>
        </p:nvSpPr>
        <p:spPr>
          <a:xfrm>
            <a:off x="685800" y="4690925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DD4BF"/>
                </a:solidFill>
                <a:cs typeface="Calibri" pitchFamily="34" charset="-120"/>
              </a:rPr>
              <a:t>School of Electrical and Computer Engineering, NTUA</a:t>
            </a:r>
            <a:endParaRPr lang="el-GR" dirty="0">
              <a:solidFill>
                <a:srgbClr val="2DD4BF"/>
              </a:solidFill>
              <a:cs typeface="Calibri" pitchFamily="34" charset="-12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641AE4-7DC4-66E4-7BDD-DC20DB3D1EF9}"/>
              </a:ext>
            </a:extLst>
          </p:cNvPr>
          <p:cNvSpPr txBox="1"/>
          <p:nvPr/>
        </p:nvSpPr>
        <p:spPr>
          <a:xfrm>
            <a:off x="8028000" y="51984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4098" name="Picture 2" descr="Literature Review] Recent Advances in Medical Imaging Segmentation: A Survey">
            <a:extLst>
              <a:ext uri="{FF2B5EF4-FFF2-40B4-BE49-F238E27FC236}">
                <a16:creationId xmlns:a16="http://schemas.microsoft.com/office/drawing/2014/main" id="{B77A20C5-D733-2327-34C5-036575D1B3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8312" y="3255484"/>
            <a:ext cx="4467888" cy="2264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5" y="223813"/>
            <a:ext cx="12191695" cy="1234440"/>
          </a:xfrm>
          <a:prstGeom prst="rect">
            <a:avLst/>
          </a:prstGeom>
          <a:solidFill>
            <a:srgbClr val="0E1A2E">
              <a:alpha val="95000"/>
            </a:srgbClr>
          </a:solidFill>
          <a:ln w="12700">
            <a:solidFill>
              <a:srgbClr val="0E1A2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170432"/>
            <a:ext cx="12191695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rtl="0"/>
            <a:r>
              <a:rPr lang="en-US" sz="2800" b="1" i="0" dirty="0">
                <a:solidFill>
                  <a:srgbClr val="F7F8FC"/>
                </a:solidFill>
                <a:effectLst/>
              </a:rPr>
              <a:t>Presentation Outline</a:t>
            </a:r>
          </a:p>
        </p:txBody>
      </p:sp>
      <p:sp>
        <p:nvSpPr>
          <p:cNvPr id="5" name="Text 3"/>
          <p:cNvSpPr/>
          <p:nvPr/>
        </p:nvSpPr>
        <p:spPr>
          <a:xfrm>
            <a:off x="713232" y="82296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247120" y="39319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l-GR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13232" y="1463040"/>
            <a:ext cx="5852160" cy="507492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737360"/>
            <a:ext cx="539496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2000"/>
              </a:lnSpc>
              <a:buSzPct val="100000"/>
              <a:buFontTx/>
              <a:buChar char="•"/>
            </a:pPr>
            <a:endParaRPr lang="en-US" sz="1800" dirty="0">
              <a:solidFill>
                <a:srgbClr val="FFFFFF"/>
              </a:solidFill>
              <a:cs typeface="Calibri" pitchFamily="34" charset="-120"/>
            </a:endParaRPr>
          </a:p>
          <a:p>
            <a:pPr marL="254000" indent="-254000">
              <a:lnSpc>
                <a:spcPct val="112000"/>
              </a:lnSpc>
              <a:buSzPct val="100000"/>
              <a:buFontTx/>
              <a:buChar char="•"/>
            </a:pPr>
            <a:r>
              <a:rPr lang="en-US" dirty="0">
                <a:solidFill>
                  <a:srgbClr val="FFFFFF"/>
                </a:solidFill>
                <a:cs typeface="Calibri" pitchFamily="34" charset="-120"/>
              </a:rPr>
              <a:t>Introduction &amp; Clinical Motivation</a:t>
            </a:r>
          </a:p>
          <a:p>
            <a:pPr marL="254000" indent="-254000">
              <a:lnSpc>
                <a:spcPct val="112000"/>
              </a:lnSpc>
              <a:buSzPct val="100000"/>
              <a:buFontTx/>
              <a:buChar char="•"/>
            </a:pPr>
            <a:r>
              <a:rPr lang="en-US" sz="1800" dirty="0">
                <a:solidFill>
                  <a:srgbClr val="FFFFFF"/>
                </a:solidFill>
                <a:cs typeface="Calibri" pitchFamily="34" charset="-120"/>
              </a:rPr>
              <a:t>Theoretical Background (MRI, </a:t>
            </a:r>
            <a:r>
              <a:rPr lang="en-US" dirty="0">
                <a:solidFill>
                  <a:srgbClr val="FFFFFF"/>
                </a:solidFill>
                <a:cs typeface="Calibri" pitchFamily="34" charset="-120"/>
              </a:rPr>
              <a:t>Placenta, Metrics</a:t>
            </a:r>
          </a:p>
          <a:p>
            <a:pPr marL="254000" indent="-254000">
              <a:lnSpc>
                <a:spcPct val="112000"/>
              </a:lnSpc>
              <a:buSzPct val="100000"/>
              <a:buFontTx/>
              <a:buChar char="•"/>
            </a:pPr>
            <a:r>
              <a:rPr lang="en-US" sz="1800" dirty="0">
                <a:solidFill>
                  <a:srgbClr val="FFFFFF"/>
                </a:solidFill>
                <a:cs typeface="Calibri" pitchFamily="34" charset="-120"/>
              </a:rPr>
              <a:t>Deep Learning Architectures (CNN, Transformers, Mamba)</a:t>
            </a:r>
          </a:p>
          <a:p>
            <a:pPr marL="254000" indent="-254000">
              <a:lnSpc>
                <a:spcPct val="112000"/>
              </a:lnSpc>
              <a:buSzPct val="100000"/>
              <a:buFontTx/>
              <a:buChar char="•"/>
            </a:pPr>
            <a:r>
              <a:rPr lang="en-US" dirty="0">
                <a:solidFill>
                  <a:srgbClr val="FFFFFF"/>
                </a:solidFill>
                <a:cs typeface="Calibri" pitchFamily="34" charset="-120"/>
              </a:rPr>
              <a:t>Experimental Protocol (Data, Preprocessing, Training)</a:t>
            </a:r>
          </a:p>
          <a:p>
            <a:pPr marL="254000" indent="-254000">
              <a:lnSpc>
                <a:spcPct val="112000"/>
              </a:lnSpc>
              <a:buSzPct val="100000"/>
              <a:buFontTx/>
              <a:buChar char="•"/>
            </a:pPr>
            <a:r>
              <a:rPr lang="en-US" sz="1800" dirty="0">
                <a:solidFill>
                  <a:srgbClr val="FFFFFF"/>
                </a:solidFill>
                <a:cs typeface="Calibri" pitchFamily="34" charset="-120"/>
              </a:rPr>
              <a:t>Results (Quantitative, Qualitative, Timing)</a:t>
            </a:r>
          </a:p>
          <a:p>
            <a:pPr marL="254000" indent="-254000">
              <a:lnSpc>
                <a:spcPct val="112000"/>
              </a:lnSpc>
              <a:buSzPct val="100000"/>
              <a:buFontTx/>
              <a:buChar char="•"/>
            </a:pPr>
            <a:r>
              <a:rPr lang="en-US" dirty="0">
                <a:solidFill>
                  <a:srgbClr val="FFFFFF"/>
                </a:solidFill>
                <a:cs typeface="Calibri" pitchFamily="34" charset="-120"/>
              </a:rPr>
              <a:t>Conclusions &amp; Future Work</a:t>
            </a:r>
            <a:endParaRPr lang="en-US" sz="1800" dirty="0">
              <a:solidFill>
                <a:srgbClr val="FFFFFF"/>
              </a:solidFill>
              <a:cs typeface="Calibri" pitchFamily="34" charset="-120"/>
            </a:endParaRPr>
          </a:p>
        </p:txBody>
      </p:sp>
      <p:pic>
        <p:nvPicPr>
          <p:cNvPr id="2050" name="Picture 2" descr="Nanoplastics and microplastics in the human placenta">
            <a:extLst>
              <a:ext uri="{FF2B5EF4-FFF2-40B4-BE49-F238E27FC236}">
                <a16:creationId xmlns:a16="http://schemas.microsoft.com/office/drawing/2014/main" id="{BC5D00EB-E65D-D94A-34B5-D480E5DEDF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7348" y="2753360"/>
            <a:ext cx="3741420" cy="2494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8113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5" y="223815"/>
            <a:ext cx="12191695" cy="1234440"/>
          </a:xfrm>
          <a:prstGeom prst="rect">
            <a:avLst/>
          </a:prstGeom>
          <a:solidFill>
            <a:srgbClr val="0E1A2E">
              <a:alpha val="95000"/>
            </a:srgbClr>
          </a:solidFill>
          <a:ln w="12700">
            <a:solidFill>
              <a:srgbClr val="0E1A2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170432"/>
            <a:ext cx="12191695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rtl="0"/>
            <a:r>
              <a:rPr lang="en-US" sz="2800" b="1" dirty="0">
                <a:solidFill>
                  <a:srgbClr val="F7F8FC"/>
                </a:solidFill>
              </a:rPr>
              <a:t>The Placenta and Clinical Significance</a:t>
            </a:r>
            <a:endParaRPr lang="en-US" sz="2800" b="1" i="0" dirty="0">
              <a:solidFill>
                <a:srgbClr val="F7F8FC"/>
              </a:solidFill>
              <a:effectLst/>
            </a:endParaRPr>
          </a:p>
        </p:txBody>
      </p:sp>
      <p:sp>
        <p:nvSpPr>
          <p:cNvPr id="5" name="Text 3"/>
          <p:cNvSpPr/>
          <p:nvPr/>
        </p:nvSpPr>
        <p:spPr>
          <a:xfrm>
            <a:off x="713232" y="82296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247120" y="39319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13232" y="1463040"/>
            <a:ext cx="5852160" cy="507492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993128"/>
            <a:ext cx="5394960" cy="44648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2000"/>
              </a:lnSpc>
              <a:buSzPct val="100000"/>
              <a:buFontTx/>
              <a:buChar char="•"/>
            </a:pPr>
            <a:r>
              <a:rPr lang="en-US" b="1" dirty="0">
                <a:solidFill>
                  <a:srgbClr val="F7F8FC"/>
                </a:solidFill>
                <a:cs typeface="Calibri" pitchFamily="34" charset="-120"/>
              </a:rPr>
              <a:t>Development</a:t>
            </a:r>
            <a:r>
              <a:rPr lang="en-US" dirty="0">
                <a:solidFill>
                  <a:srgbClr val="F7F8FC"/>
                </a:solidFill>
                <a:cs typeface="Calibri" pitchFamily="34" charset="-120"/>
              </a:rPr>
              <a:t>: from trophoblast of blastocyst (~7-12 days post-fertilization)</a:t>
            </a:r>
            <a:endParaRPr lang="en-US" sz="1800" dirty="0">
              <a:solidFill>
                <a:srgbClr val="FFFFFF"/>
              </a:solidFill>
              <a:cs typeface="Calibri" pitchFamily="34" charset="-120"/>
            </a:endParaRPr>
          </a:p>
          <a:p>
            <a:pPr marL="254000" indent="-254000">
              <a:lnSpc>
                <a:spcPct val="112000"/>
              </a:lnSpc>
              <a:buSzPct val="100000"/>
              <a:buFontTx/>
              <a:buChar char="•"/>
            </a:pPr>
            <a:r>
              <a:rPr lang="en-US" dirty="0">
                <a:solidFill>
                  <a:srgbClr val="FFFFFF"/>
                </a:solidFill>
                <a:cs typeface="Calibri" pitchFamily="34" charset="-120"/>
              </a:rPr>
              <a:t>Critical organ of pregnancy (maternal-fetal interface)</a:t>
            </a:r>
          </a:p>
          <a:p>
            <a:pPr marL="254000" indent="-254000">
              <a:lnSpc>
                <a:spcPct val="112000"/>
              </a:lnSpc>
              <a:buSzPct val="100000"/>
              <a:buFontTx/>
              <a:buChar char="•"/>
            </a:pPr>
            <a:r>
              <a:rPr lang="en-US" dirty="0">
                <a:solidFill>
                  <a:srgbClr val="FFFFFF"/>
                </a:solidFill>
                <a:cs typeface="Calibri" pitchFamily="34" charset="-120"/>
              </a:rPr>
              <a:t>Functions: Gas exchange, nutrients, endocrine role</a:t>
            </a:r>
          </a:p>
          <a:p>
            <a:pPr marL="254000" indent="-254000">
              <a:lnSpc>
                <a:spcPct val="112000"/>
              </a:lnSpc>
              <a:buSzPct val="100000"/>
              <a:buFontTx/>
              <a:buChar char="•"/>
            </a:pPr>
            <a:r>
              <a:rPr lang="en-US" dirty="0">
                <a:solidFill>
                  <a:srgbClr val="FFFFFF"/>
                </a:solidFill>
                <a:cs typeface="Calibri" pitchFamily="34" charset="-120"/>
              </a:rPr>
              <a:t>Dysfunction linked to complications (preeclampsia, abnormal implantation, miscarriage)</a:t>
            </a:r>
          </a:p>
          <a:p>
            <a:pPr marL="254000" indent="-254000">
              <a:lnSpc>
                <a:spcPct val="112000"/>
              </a:lnSpc>
              <a:buSzPct val="100000"/>
              <a:buFontTx/>
              <a:buChar char="•"/>
            </a:pPr>
            <a:r>
              <a:rPr lang="en-US" dirty="0">
                <a:solidFill>
                  <a:srgbClr val="FFFFFF"/>
                </a:solidFill>
                <a:cs typeface="Calibri" pitchFamily="34" charset="-120"/>
              </a:rPr>
              <a:t>Quantitative assessment (volume, shape) requires accurate segmentation</a:t>
            </a:r>
          </a:p>
          <a:p>
            <a:pPr marL="254000" indent="-254000">
              <a:lnSpc>
                <a:spcPct val="112000"/>
              </a:lnSpc>
              <a:buSzPct val="100000"/>
              <a:buFontTx/>
              <a:buChar char="•"/>
            </a:pPr>
            <a:r>
              <a:rPr lang="en-US" dirty="0">
                <a:solidFill>
                  <a:srgbClr val="FFFFFF"/>
                </a:solidFill>
                <a:cs typeface="Calibri" pitchFamily="34" charset="-120"/>
              </a:rPr>
              <a:t>Manual segmentation: time-consuming, observer-dependent, not scalable</a:t>
            </a:r>
          </a:p>
          <a:p>
            <a:pPr>
              <a:lnSpc>
                <a:spcPct val="112000"/>
              </a:lnSpc>
              <a:buSzPct val="100000"/>
            </a:pPr>
            <a:endParaRPr lang="en-US" dirty="0">
              <a:solidFill>
                <a:srgbClr val="FFFFFF"/>
              </a:solidFill>
              <a:cs typeface="Calibri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903720" y="1463040"/>
            <a:ext cx="4617720" cy="507492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p:spPr>
      </p:sp>
      <p:pic>
        <p:nvPicPr>
          <p:cNvPr id="11" name="Image 0" descr="/mnt/data/Stages-Placenta.png">
            <a:extLst>
              <a:ext uri="{FF2B5EF4-FFF2-40B4-BE49-F238E27FC236}">
                <a16:creationId xmlns:a16="http://schemas.microsoft.com/office/drawing/2014/main" id="{4C4BB85C-95E6-97FA-F7AE-C60E491800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4028" y="1840892"/>
            <a:ext cx="3937104" cy="2000975"/>
          </a:xfrm>
          <a:prstGeom prst="rect">
            <a:avLst/>
          </a:prstGeom>
        </p:spPr>
      </p:pic>
      <p:pic>
        <p:nvPicPr>
          <p:cNvPr id="12" name="Picture 2" descr="Low-lying placenta at 20 week scan - University Hospitals Sussex NHS  Foundation Trust">
            <a:extLst>
              <a:ext uri="{FF2B5EF4-FFF2-40B4-BE49-F238E27FC236}">
                <a16:creationId xmlns:a16="http://schemas.microsoft.com/office/drawing/2014/main" id="{7847235A-EDF2-12B4-6E00-2AE1A99CF5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2575" y="4220938"/>
            <a:ext cx="2900009" cy="1814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6219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737"/>
            <a:ext cx="12191695" cy="1234440"/>
          </a:xfrm>
          <a:prstGeom prst="rect">
            <a:avLst/>
          </a:prstGeom>
          <a:solidFill>
            <a:srgbClr val="0E1A2E">
              <a:alpha val="95000"/>
            </a:srgbClr>
          </a:solidFill>
          <a:ln w="12700">
            <a:solidFill>
              <a:srgbClr val="0E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cs typeface="Calibri" pitchFamily="34" charset="-120"/>
              </a:rPr>
              <a:t>MRI Challenges for Placenta Imaging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13232" y="82296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247120" y="39319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25779" y="1490472"/>
            <a:ext cx="10835640" cy="237109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64311" y="1554480"/>
            <a:ext cx="10863072" cy="22989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dirty="0"/>
              <a:t>Advantages: superior soft-tissue contrast, 3D volumetric data, no ionizing radiation</a:t>
            </a:r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dirty="0"/>
              <a:t>Challenges specific to placental MRI:</a:t>
            </a:r>
          </a:p>
          <a:p>
            <a:pPr marL="711200" lvl="1" indent="-254000">
              <a:lnSpc>
                <a:spcPct val="112000"/>
              </a:lnSpc>
              <a:buSzPct val="100000"/>
              <a:buChar char="•"/>
            </a:pPr>
            <a:r>
              <a:rPr lang="en-US" sz="1600" dirty="0"/>
              <a:t>Motion artifacts (fetal/maternal movement) -&gt; blurring distortions</a:t>
            </a:r>
          </a:p>
          <a:p>
            <a:pPr marL="711200" lvl="1" indent="-254000">
              <a:lnSpc>
                <a:spcPct val="112000"/>
              </a:lnSpc>
              <a:buSzPct val="100000"/>
              <a:buChar char="•"/>
            </a:pPr>
            <a:r>
              <a:rPr lang="en-US" sz="1600" dirty="0"/>
              <a:t>Intensity inhomogeneity (bias field) -&gt; same tissue appears with varying intensities</a:t>
            </a:r>
          </a:p>
          <a:p>
            <a:pPr marL="711200" lvl="1" indent="-254000">
              <a:lnSpc>
                <a:spcPct val="112000"/>
              </a:lnSpc>
              <a:buSzPct val="100000"/>
              <a:buChar char="•"/>
            </a:pPr>
            <a:r>
              <a:rPr lang="en-US" sz="1600" dirty="0"/>
              <a:t>Low boundary contrast between placenta and myometrium</a:t>
            </a:r>
          </a:p>
          <a:p>
            <a:pPr marL="711200" lvl="1" indent="-254000">
              <a:lnSpc>
                <a:spcPct val="112000"/>
              </a:lnSpc>
              <a:buSzPct val="100000"/>
              <a:buChar char="•"/>
            </a:pPr>
            <a:r>
              <a:rPr lang="en-US" sz="1600" dirty="0"/>
              <a:t>Class imbalance: placenta occupies small foreground volume</a:t>
            </a:r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dirty="0"/>
              <a:t>Necessitates robust preprocessing and architecture design</a:t>
            </a:r>
          </a:p>
          <a:p>
            <a:pPr lvl="1">
              <a:lnSpc>
                <a:spcPct val="112000"/>
              </a:lnSpc>
              <a:buSzPct val="100000"/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517881" y="4117594"/>
            <a:ext cx="4851435" cy="2211064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p:spPr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3BC7B9C-01D1-CEAB-4EA3-60027B270F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6268" y="4337010"/>
            <a:ext cx="3974660" cy="1772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737"/>
            <a:ext cx="12191695" cy="1234440"/>
          </a:xfrm>
          <a:prstGeom prst="rect">
            <a:avLst/>
          </a:prstGeom>
          <a:solidFill>
            <a:srgbClr val="0E1A2E">
              <a:alpha val="95000"/>
            </a:srgbClr>
          </a:solidFill>
          <a:ln w="12700">
            <a:solidFill>
              <a:srgbClr val="0E1A2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170432"/>
            <a:ext cx="12191695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rtl="0"/>
            <a:r>
              <a:rPr lang="en-US" sz="2800" b="1" i="0" dirty="0">
                <a:solidFill>
                  <a:srgbClr val="F7F8FC"/>
                </a:solidFill>
                <a:effectLst/>
              </a:rPr>
              <a:t>Research Objectives &amp; Methodology</a:t>
            </a:r>
          </a:p>
        </p:txBody>
      </p:sp>
      <p:sp>
        <p:nvSpPr>
          <p:cNvPr id="5" name="Text 3"/>
          <p:cNvSpPr/>
          <p:nvPr/>
        </p:nvSpPr>
        <p:spPr>
          <a:xfrm>
            <a:off x="713232" y="82296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247120" y="39319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8611" y="1490472"/>
            <a:ext cx="10634472" cy="507492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90294" y="1947672"/>
            <a:ext cx="10422789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b="1" dirty="0"/>
              <a:t>Primary objective</a:t>
            </a:r>
            <a:r>
              <a:rPr lang="en-US" dirty="0"/>
              <a:t>: Systematic comparative evaluation of modern deep learning architectures for 3D placenta segmentation</a:t>
            </a:r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u="sng" dirty="0"/>
              <a:t>Key methodological principles</a:t>
            </a:r>
            <a:r>
              <a:rPr lang="en-US" dirty="0"/>
              <a:t>:</a:t>
            </a:r>
          </a:p>
          <a:p>
            <a:pPr marL="711200" lvl="1" indent="-254000">
              <a:lnSpc>
                <a:spcPct val="112000"/>
              </a:lnSpc>
              <a:buSzPct val="100000"/>
              <a:buChar char="•"/>
            </a:pPr>
            <a:r>
              <a:rPr lang="en-US" sz="1600" b="1" dirty="0"/>
              <a:t>Unified</a:t>
            </a:r>
            <a:r>
              <a:rPr lang="en-US" sz="1600" dirty="0"/>
              <a:t> pipeline (MONAI/</a:t>
            </a:r>
            <a:r>
              <a:rPr lang="en-US" sz="1600" dirty="0" err="1"/>
              <a:t>PyTorch</a:t>
            </a:r>
            <a:r>
              <a:rPr lang="en-US" sz="1600" dirty="0"/>
              <a:t>) for preprocessing, training, inference</a:t>
            </a:r>
          </a:p>
          <a:p>
            <a:pPr marL="711200" lvl="1" indent="-254000">
              <a:lnSpc>
                <a:spcPct val="112000"/>
              </a:lnSpc>
              <a:buSzPct val="100000"/>
              <a:buChar char="•"/>
            </a:pPr>
            <a:r>
              <a:rPr lang="en-US" sz="1600" b="1" dirty="0"/>
              <a:t>Strict</a:t>
            </a:r>
            <a:r>
              <a:rPr lang="en-US" sz="1600" dirty="0"/>
              <a:t> standardization of hyperparameters, augmentation, sampling strategy</a:t>
            </a:r>
          </a:p>
          <a:p>
            <a:pPr marL="711200" lvl="1" indent="-254000">
              <a:lnSpc>
                <a:spcPct val="112000"/>
              </a:lnSpc>
              <a:buSzPct val="100000"/>
              <a:buChar char="•"/>
            </a:pPr>
            <a:r>
              <a:rPr lang="en-US" sz="1600" b="1" dirty="0"/>
              <a:t>Fair</a:t>
            </a:r>
            <a:r>
              <a:rPr lang="en-US" sz="1600" dirty="0"/>
              <a:t> comparison isolating architectural differences from implementation artifacts</a:t>
            </a:r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b="1" dirty="0"/>
              <a:t>Secondary objective</a:t>
            </a:r>
            <a:r>
              <a:rPr lang="en-US" dirty="0"/>
              <a:t>: Identify architectural strengths/weaknesses for placenta-specific challenges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C9B37DF-5A20-C2BF-00CE-4CAD7D3A1AF2}"/>
              </a:ext>
            </a:extLst>
          </p:cNvPr>
          <p:cNvSpPr/>
          <p:nvPr/>
        </p:nvSpPr>
        <p:spPr>
          <a:xfrm>
            <a:off x="1394085" y="4924269"/>
            <a:ext cx="2233535" cy="906905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MRI Images + Masks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9CFD53CC-F4EA-9D51-B18D-FB757FCD94AF}"/>
              </a:ext>
            </a:extLst>
          </p:cNvPr>
          <p:cNvSpPr/>
          <p:nvPr/>
        </p:nvSpPr>
        <p:spPr>
          <a:xfrm>
            <a:off x="3749874" y="5107898"/>
            <a:ext cx="563074" cy="539646"/>
          </a:xfrm>
          <a:prstGeom prst="rightArrow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9B6427-D50D-4D6F-B999-9372716472E2}"/>
              </a:ext>
            </a:extLst>
          </p:cNvPr>
          <p:cNvSpPr/>
          <p:nvPr/>
        </p:nvSpPr>
        <p:spPr>
          <a:xfrm>
            <a:off x="4522832" y="4376153"/>
            <a:ext cx="3672590" cy="200313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dirty="0"/>
              <a:t>BLACKBOX EXPERIMENTAL FRAMEWORK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CBB5A62-211F-665B-1167-7A213F28F629}"/>
              </a:ext>
            </a:extLst>
          </p:cNvPr>
          <p:cNvSpPr/>
          <p:nvPr/>
        </p:nvSpPr>
        <p:spPr>
          <a:xfrm>
            <a:off x="5717398" y="4859811"/>
            <a:ext cx="1283458" cy="1035820"/>
          </a:xfrm>
          <a:prstGeom prst="round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Segmentation model</a:t>
            </a: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06B73E43-5AD9-6213-B7F2-6C03C0990E8B}"/>
              </a:ext>
            </a:extLst>
          </p:cNvPr>
          <p:cNvSpPr/>
          <p:nvPr/>
        </p:nvSpPr>
        <p:spPr>
          <a:xfrm>
            <a:off x="8560816" y="4654446"/>
            <a:ext cx="563074" cy="539646"/>
          </a:xfrm>
          <a:prstGeom prst="rightArrow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C05FDA45-242A-0DB8-649A-302C874F8039}"/>
              </a:ext>
            </a:extLst>
          </p:cNvPr>
          <p:cNvSpPr/>
          <p:nvPr/>
        </p:nvSpPr>
        <p:spPr>
          <a:xfrm>
            <a:off x="8560816" y="5625808"/>
            <a:ext cx="563074" cy="539646"/>
          </a:xfrm>
          <a:prstGeom prst="rightArrow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1EAEC63-5D58-81FD-EE97-8AD1A2300C35}"/>
              </a:ext>
            </a:extLst>
          </p:cNvPr>
          <p:cNvSpPr/>
          <p:nvPr/>
        </p:nvSpPr>
        <p:spPr>
          <a:xfrm>
            <a:off x="9335573" y="4594860"/>
            <a:ext cx="1385702" cy="658817"/>
          </a:xfrm>
          <a:prstGeom prst="round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Placenta Mask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9DFBA12-79E9-862C-62D4-97428B228E82}"/>
              </a:ext>
            </a:extLst>
          </p:cNvPr>
          <p:cNvSpPr/>
          <p:nvPr/>
        </p:nvSpPr>
        <p:spPr>
          <a:xfrm>
            <a:off x="9335573" y="5566222"/>
            <a:ext cx="1385702" cy="658817"/>
          </a:xfrm>
          <a:prstGeom prst="round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Volume/Morphology Metrics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916"/>
            <a:ext cx="12191695" cy="1234440"/>
          </a:xfrm>
          <a:prstGeom prst="rect">
            <a:avLst/>
          </a:prstGeom>
          <a:solidFill>
            <a:srgbClr val="0E1A2E">
              <a:alpha val="95000"/>
            </a:srgbClr>
          </a:solidFill>
          <a:ln w="12700">
            <a:solidFill>
              <a:srgbClr val="0E1A2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170432"/>
            <a:ext cx="12191695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/>
              <a:t>Magnetic Resonance Imaging (MRI)</a:t>
            </a:r>
          </a:p>
        </p:txBody>
      </p:sp>
      <p:sp>
        <p:nvSpPr>
          <p:cNvPr id="5" name="Text 3"/>
          <p:cNvSpPr/>
          <p:nvPr/>
        </p:nvSpPr>
        <p:spPr>
          <a:xfrm>
            <a:off x="713232" y="82296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247120" y="39319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852160" cy="507492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6"/>
              <p:cNvSpPr/>
              <p:nvPr/>
            </p:nvSpPr>
            <p:spPr>
              <a:xfrm>
                <a:off x="914399" y="1549908"/>
                <a:ext cx="5394960" cy="3189557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254000" indent="-254000">
                  <a:lnSpc>
                    <a:spcPct val="112000"/>
                  </a:lnSpc>
                  <a:buSzPct val="100000"/>
                  <a:buChar char="•"/>
                </a:pPr>
                <a:endParaRPr lang="en-US" sz="1600" dirty="0">
                  <a:solidFill>
                    <a:srgbClr val="FFFFFF"/>
                  </a:solidFill>
                  <a:cs typeface="Calibri" pitchFamily="34" charset="-120"/>
                </a:endParaRPr>
              </a:p>
              <a:p>
                <a:pPr marL="254000" indent="-254000">
                  <a:lnSpc>
                    <a:spcPct val="112000"/>
                  </a:lnSpc>
                  <a:buSzPct val="100000"/>
                  <a:buFontTx/>
                  <a:buChar char="•"/>
                </a:pPr>
                <a:r>
                  <a:rPr lang="en-US" sz="1600" b="0" i="0" dirty="0">
                    <a:solidFill>
                      <a:srgbClr val="F7F8FC"/>
                    </a:solidFill>
                    <a:effectLst/>
                  </a:rPr>
                  <a:t>Imaging technique based on nuclear magnetic resonance</a:t>
                </a:r>
              </a:p>
              <a:p>
                <a:pPr marL="254000" indent="-254000">
                  <a:lnSpc>
                    <a:spcPct val="112000"/>
                  </a:lnSpc>
                  <a:buSzPct val="100000"/>
                  <a:buFontTx/>
                  <a:buChar char="•"/>
                </a:pPr>
                <a:r>
                  <a:rPr lang="en-US" sz="1600" b="0" i="0" dirty="0">
                    <a:solidFill>
                      <a:srgbClr val="F7F8FC"/>
                    </a:solidFill>
                    <a:effectLst/>
                  </a:rPr>
                  <a:t>Gradient coils causes position dependent magnetic field and each position has a different Larmor Frequency: </a:t>
                </a:r>
                <a14:m>
                  <m:oMath xmlns:m="http://schemas.openxmlformats.org/officeDocument/2006/math">
                    <m:r>
                      <a:rPr lang="el-GR" sz="1600" b="0" i="1" smtClean="0">
                        <a:solidFill>
                          <a:srgbClr val="F7F8FC"/>
                        </a:solidFill>
                        <a:effectLst/>
                        <a:latin typeface="Cambria Math" panose="02040503050406030204" pitchFamily="18" charset="0"/>
                      </a:rPr>
                      <m:t>𝜔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rgbClr val="F7F8FC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rgbClr val="F7F8FC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1600" b="0" i="1" smtClean="0">
                        <a:solidFill>
                          <a:srgbClr val="F7F8FC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l-GR" sz="1600" b="0" i="1" smtClean="0">
                        <a:solidFill>
                          <a:srgbClr val="F7F8FC"/>
                        </a:solidFill>
                        <a:effectLst/>
                        <a:latin typeface="Cambria Math" panose="02040503050406030204" pitchFamily="18" charset="0"/>
                      </a:rPr>
                      <m:t>𝛾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rgbClr val="F7F8FC"/>
                        </a:solidFill>
                        <a:effectLst/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sz="1600" b="0" i="0" smtClean="0">
                        <a:solidFill>
                          <a:srgbClr val="F7F8FC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rgbClr val="F7F8FC"/>
                        </a:solidFill>
                        <a:effectLst/>
                        <a:latin typeface="Cambria Math" panose="02040503050406030204" pitchFamily="18" charset="0"/>
                      </a:rPr>
                      <m:t>z</m:t>
                    </m:r>
                    <m:r>
                      <a:rPr lang="en-US" sz="1600" b="0" i="0" smtClean="0">
                        <a:solidFill>
                          <a:srgbClr val="F7F8FC"/>
                        </a:solidFill>
                        <a:effectLst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b="0" i="0" dirty="0">
                  <a:solidFill>
                    <a:srgbClr val="F7F8FC"/>
                  </a:solidFill>
                  <a:effectLst/>
                </a:endParaRPr>
              </a:p>
              <a:p>
                <a:pPr marL="254000" indent="-254000">
                  <a:lnSpc>
                    <a:spcPct val="112000"/>
                  </a:lnSpc>
                  <a:buSzPct val="100000"/>
                  <a:buFontTx/>
                  <a:buChar char="•"/>
                </a:pPr>
                <a:r>
                  <a:rPr lang="en-US" sz="1600" dirty="0">
                    <a:solidFill>
                      <a:srgbClr val="F7F8FC"/>
                    </a:solidFill>
                  </a:rPr>
                  <a:t>Advantages: High soft tissue contrast, 3D information, no ionizing radiation</a:t>
                </a:r>
              </a:p>
              <a:p>
                <a:pPr marL="254000" indent="-254000">
                  <a:lnSpc>
                    <a:spcPct val="112000"/>
                  </a:lnSpc>
                  <a:buSzPct val="100000"/>
                  <a:buFontTx/>
                  <a:buChar char="•"/>
                </a:pPr>
                <a:r>
                  <a:rPr lang="en-US" sz="1600" b="0" i="0" dirty="0">
                    <a:solidFill>
                      <a:srgbClr val="F7F8FC"/>
                    </a:solidFill>
                    <a:effectLst/>
                  </a:rPr>
                  <a:t>Preprocessing: Bias field correction (N4ITK), intensity normalization</a:t>
                </a:r>
              </a:p>
              <a:p>
                <a:pPr marL="254000" indent="-254000">
                  <a:lnSpc>
                    <a:spcPct val="112000"/>
                  </a:lnSpc>
                  <a:buSzPct val="100000"/>
                  <a:buFontTx/>
                  <a:buChar char="•"/>
                </a:pPr>
                <a:r>
                  <a:rPr lang="en-US" sz="1600" dirty="0">
                    <a:solidFill>
                      <a:srgbClr val="F7F8FC"/>
                    </a:solidFill>
                  </a:rPr>
                  <a:t>Requires precise ROI definition for quantification</a:t>
                </a:r>
              </a:p>
              <a:p>
                <a:pPr>
                  <a:lnSpc>
                    <a:spcPct val="112000"/>
                  </a:lnSpc>
                  <a:buSzPct val="100000"/>
                </a:pPr>
                <a:endParaRPr lang="en-US" sz="1600" b="0" i="0" dirty="0">
                  <a:solidFill>
                    <a:srgbClr val="F7F8FC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8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399" y="1549908"/>
                <a:ext cx="5394960" cy="3189557"/>
              </a:xfrm>
              <a:prstGeom prst="rect">
                <a:avLst/>
              </a:prstGeom>
              <a:blipFill>
                <a:blip r:embed="rId3"/>
                <a:stretch>
                  <a:fillRect l="-70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8" name="Picture 4" descr="undefined">
            <a:extLst>
              <a:ext uri="{FF2B5EF4-FFF2-40B4-BE49-F238E27FC236}">
                <a16:creationId xmlns:a16="http://schemas.microsoft.com/office/drawing/2014/main" id="{A9A6657A-D6C2-0233-AEA9-785EF18214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0821" y="4931489"/>
            <a:ext cx="4542117" cy="1296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C31E23B-1B73-3C00-0C1B-21ABFF61D4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0" y="1549908"/>
            <a:ext cx="3073260" cy="204679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1EB71EE-874D-170E-B9F5-5B9464B3FE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2280" y="3756893"/>
            <a:ext cx="4038899" cy="279662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916"/>
            <a:ext cx="12191695" cy="1234440"/>
          </a:xfrm>
          <a:prstGeom prst="rect">
            <a:avLst/>
          </a:prstGeom>
          <a:solidFill>
            <a:srgbClr val="0E1A2E">
              <a:alpha val="95000"/>
            </a:srgbClr>
          </a:solidFill>
          <a:ln w="12700">
            <a:solidFill>
              <a:srgbClr val="0E1A2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170432"/>
            <a:ext cx="12191695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/>
              <a:t>Medical Image Segmentation: Formal Definition</a:t>
            </a:r>
          </a:p>
        </p:txBody>
      </p:sp>
      <p:sp>
        <p:nvSpPr>
          <p:cNvPr id="5" name="Text 3"/>
          <p:cNvSpPr/>
          <p:nvPr/>
        </p:nvSpPr>
        <p:spPr>
          <a:xfrm>
            <a:off x="713232" y="82296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247120" y="39319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852160" cy="507492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6"/>
              <p:cNvSpPr/>
              <p:nvPr/>
            </p:nvSpPr>
            <p:spPr>
              <a:xfrm>
                <a:off x="914400" y="2236361"/>
                <a:ext cx="5394960" cy="3528278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254000" indent="-254000">
                  <a:lnSpc>
                    <a:spcPct val="112000"/>
                  </a:lnSpc>
                  <a:buSzPct val="100000"/>
                  <a:buChar char="•"/>
                </a:pPr>
                <a:endParaRPr lang="en-US" sz="1600" dirty="0">
                  <a:solidFill>
                    <a:srgbClr val="FFFFFF"/>
                  </a:solidFill>
                  <a:cs typeface="Calibri" pitchFamily="34" charset="-120"/>
                </a:endParaRPr>
              </a:p>
              <a:p>
                <a:pPr marL="254000" indent="-254000">
                  <a:lnSpc>
                    <a:spcPct val="112000"/>
                  </a:lnSpc>
                  <a:buSzPct val="100000"/>
                  <a:buFontTx/>
                  <a:buChar char="•"/>
                </a:pPr>
                <a:r>
                  <a:rPr lang="en-US" sz="1600" b="1" i="0" dirty="0">
                    <a:solidFill>
                      <a:srgbClr val="F7F8FC"/>
                    </a:solidFill>
                    <a:effectLst/>
                  </a:rPr>
                  <a:t>Input: </a:t>
                </a:r>
                <a:r>
                  <a:rPr lang="en-US" sz="1600" i="0" dirty="0">
                    <a:solidFill>
                      <a:srgbClr val="F7F8FC"/>
                    </a:solidFill>
                    <a:effectLst/>
                  </a:rPr>
                  <a:t>3D MRI volume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F7F8FC"/>
                        </a:solidFill>
                        <a:effectLst/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600" b="0" i="1" smtClean="0">
                        <a:solidFill>
                          <a:srgbClr val="F7F8FC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600" b="0" i="1" smtClean="0">
                            <a:solidFill>
                              <a:srgbClr val="F7F8FC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solidFill>
                              <a:srgbClr val="F7F8FC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rgbClr val="F7F8FC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  <m:r>
                          <a:rPr lang="en-US" sz="1600" b="0" i="1" smtClean="0">
                            <a:solidFill>
                              <a:srgbClr val="F7F8FC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1600" b="0" i="1" smtClean="0">
                            <a:solidFill>
                              <a:srgbClr val="F7F8FC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  <m:r>
                          <a:rPr lang="en-US" sz="1600" b="0" i="1" smtClean="0">
                            <a:solidFill>
                              <a:srgbClr val="F7F8FC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1600" b="0" i="1" smtClean="0">
                            <a:solidFill>
                              <a:srgbClr val="F7F8FC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sup>
                    </m:sSup>
                  </m:oMath>
                </a14:m>
                <a:endParaRPr lang="en-US" sz="1600" b="0" i="0" dirty="0">
                  <a:solidFill>
                    <a:srgbClr val="F7F8FC"/>
                  </a:solidFill>
                  <a:effectLst/>
                  <a:ea typeface="Cambria Math" panose="02040503050406030204" pitchFamily="18" charset="0"/>
                </a:endParaRPr>
              </a:p>
              <a:p>
                <a:pPr marL="254000" indent="-254000">
                  <a:lnSpc>
                    <a:spcPct val="112000"/>
                  </a:lnSpc>
                  <a:buSzPct val="100000"/>
                  <a:buFontTx/>
                  <a:buChar char="•"/>
                </a:pPr>
                <a:r>
                  <a:rPr lang="en-US" sz="1600" b="1" i="0" dirty="0">
                    <a:solidFill>
                      <a:srgbClr val="F7F8FC"/>
                    </a:solidFill>
                    <a:effectLst/>
                  </a:rPr>
                  <a:t>Output: </a:t>
                </a:r>
                <a:r>
                  <a:rPr lang="en-US" sz="1600" i="0" dirty="0">
                    <a:solidFill>
                      <a:srgbClr val="F7F8FC"/>
                    </a:solidFill>
                    <a:effectLst/>
                  </a:rPr>
                  <a:t>Binary </a:t>
                </a:r>
                <a:r>
                  <a:rPr lang="en-US" sz="1600" dirty="0">
                    <a:solidFill>
                      <a:srgbClr val="F7F8FC"/>
                    </a:solidFill>
                  </a:rPr>
                  <a:t>mask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F7F8FC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1600" b="0" i="1" smtClean="0">
                        <a:solidFill>
                          <a:srgbClr val="F7F8F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600" b="0" i="1" smtClean="0">
                            <a:solidFill>
                              <a:srgbClr val="F7F8F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1600" b="0" i="1" smtClean="0">
                                <a:solidFill>
                                  <a:srgbClr val="F7F8FC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solidFill>
                                  <a:srgbClr val="F7F8FC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sz="1600" b="0" i="1" smtClean="0">
                            <a:solidFill>
                              <a:srgbClr val="F7F8F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  <m:r>
                          <a:rPr lang="en-US" sz="1600" b="0" i="1" smtClean="0">
                            <a:solidFill>
                              <a:srgbClr val="F7F8F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1600" b="0" i="1" smtClean="0">
                            <a:solidFill>
                              <a:srgbClr val="F7F8F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  <m:r>
                          <a:rPr lang="en-US" sz="1600" b="0" i="1" smtClean="0">
                            <a:solidFill>
                              <a:srgbClr val="F7F8F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1600" b="0" i="1" smtClean="0">
                            <a:solidFill>
                              <a:srgbClr val="F7F8F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sup>
                    </m:sSup>
                    <m:r>
                      <a:rPr lang="en-US" sz="1600" b="1" i="0" smtClean="0">
                        <a:solidFill>
                          <a:srgbClr val="F7F8F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i="0" dirty="0">
                    <a:solidFill>
                      <a:srgbClr val="F7F8FC"/>
                    </a:solidFill>
                    <a:effectLst/>
                  </a:rPr>
                  <a:t>indicating placenta voxels</a:t>
                </a:r>
              </a:p>
              <a:p>
                <a:pPr marL="254000" indent="-254000">
                  <a:lnSpc>
                    <a:spcPct val="112000"/>
                  </a:lnSpc>
                  <a:buSzPct val="100000"/>
                  <a:buFontTx/>
                  <a:buChar char="•"/>
                </a:pPr>
                <a:r>
                  <a:rPr lang="en-US" sz="1600" b="1" dirty="0">
                    <a:solidFill>
                      <a:srgbClr val="F7F8FC"/>
                    </a:solidFill>
                  </a:rPr>
                  <a:t>Learning formulation: </a:t>
                </a:r>
                <a:r>
                  <a:rPr lang="en-US" sz="1600" dirty="0">
                    <a:solidFill>
                      <a:srgbClr val="F7F8FC"/>
                    </a:solidFill>
                  </a:rPr>
                  <a:t>Supervised learning with pairs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F7F8FC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600" b="0" i="1" smtClean="0">
                            <a:solidFill>
                              <a:srgbClr val="F7F8F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F7F8FC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F7F8FC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F7F8FC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600" b="0" i="1" smtClean="0">
                            <a:solidFill>
                              <a:srgbClr val="F7F8F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F7F8FC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F7F8FC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F7F8F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b="1" i="0" dirty="0">
                  <a:solidFill>
                    <a:srgbClr val="F7F8FC"/>
                  </a:solidFill>
                  <a:effectLst/>
                </a:endParaRPr>
              </a:p>
              <a:p>
                <a:pPr marL="254000" indent="-254000">
                  <a:lnSpc>
                    <a:spcPct val="112000"/>
                  </a:lnSpc>
                  <a:buSzPct val="100000"/>
                  <a:buFontTx/>
                  <a:buChar char="•"/>
                </a:pPr>
                <a:r>
                  <a:rPr lang="en-US" sz="1600" b="1" dirty="0">
                    <a:solidFill>
                      <a:srgbClr val="F7F8FC"/>
                    </a:solidFill>
                  </a:rPr>
                  <a:t>Goal: </a:t>
                </a:r>
                <a:r>
                  <a:rPr lang="en-US" sz="1600" dirty="0">
                    <a:solidFill>
                      <a:srgbClr val="F7F8FC"/>
                    </a:solidFill>
                  </a:rPr>
                  <a:t>Learn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rgbClr val="F7F8F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F7F8FC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l-GR" sz="1600" b="0" i="1" smtClean="0">
                            <a:solidFill>
                              <a:srgbClr val="F7F8FC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sz="1600" b="1" i="0" smtClean="0">
                        <a:solidFill>
                          <a:srgbClr val="F7F8FC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i="0" dirty="0">
                    <a:solidFill>
                      <a:srgbClr val="F7F8FC"/>
                    </a:solidFill>
                    <a:effectLst/>
                  </a:rPr>
                  <a:t>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1600" b="0" i="1" smtClean="0">
                            <a:solidFill>
                              <a:srgbClr val="F7F8FC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F7F8FC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l-GR" sz="1600" b="0" i="1" smtClean="0">
                            <a:solidFill>
                              <a:srgbClr val="F7F8FC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l-GR" sz="1600" b="0" i="1" smtClean="0">
                            <a:solidFill>
                              <a:srgbClr val="F7F8FC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rgbClr val="F7F8FC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600" b="0" i="1" smtClean="0">
                        <a:solidFill>
                          <a:srgbClr val="F7F8FC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1600" b="0" i="1" smtClean="0">
                        <a:solidFill>
                          <a:srgbClr val="F7F8FC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endParaRPr lang="en-US" sz="1600" b="1" i="0" dirty="0">
                  <a:solidFill>
                    <a:srgbClr val="F7F8FC"/>
                  </a:solidFill>
                  <a:effectLst/>
                </a:endParaRPr>
              </a:p>
              <a:p>
                <a:pPr marL="254000" indent="-254000">
                  <a:lnSpc>
                    <a:spcPct val="112000"/>
                  </a:lnSpc>
                  <a:buSzPct val="100000"/>
                  <a:buFontTx/>
                  <a:buChar char="•"/>
                </a:pPr>
                <a:r>
                  <a:rPr lang="en-US" sz="1600" b="1" i="0" dirty="0">
                    <a:solidFill>
                      <a:srgbClr val="F7F8FC"/>
                    </a:solidFill>
                    <a:effectLst/>
                  </a:rPr>
                  <a:t>Key distinction from classification: </a:t>
                </a:r>
                <a:r>
                  <a:rPr lang="en-US" sz="1600" i="0" dirty="0">
                    <a:solidFill>
                      <a:srgbClr val="F7F8FC"/>
                    </a:solidFill>
                    <a:effectLst/>
                  </a:rPr>
                  <a:t>Dense prediction (per-voxel) vs image-level </a:t>
                </a:r>
                <a:r>
                  <a:rPr lang="en-US" sz="1600" dirty="0">
                    <a:solidFill>
                      <a:srgbClr val="F7F8FC"/>
                    </a:solidFill>
                  </a:rPr>
                  <a:t>label</a:t>
                </a:r>
              </a:p>
              <a:p>
                <a:pPr marL="254000" indent="-254000">
                  <a:lnSpc>
                    <a:spcPct val="112000"/>
                  </a:lnSpc>
                  <a:buSzPct val="100000"/>
                  <a:buFontTx/>
                  <a:buChar char="•"/>
                </a:pPr>
                <a:r>
                  <a:rPr lang="en-US" sz="1600" b="1" i="0" dirty="0">
                    <a:solidFill>
                      <a:srgbClr val="F7F8FC"/>
                    </a:solidFill>
                    <a:effectLst/>
                  </a:rPr>
                  <a:t>3</a:t>
                </a:r>
                <a:r>
                  <a:rPr lang="en-US" sz="1600" b="1" dirty="0">
                    <a:solidFill>
                      <a:srgbClr val="F7F8FC"/>
                    </a:solidFill>
                  </a:rPr>
                  <a:t>D challenge: </a:t>
                </a:r>
                <a:r>
                  <a:rPr lang="en-US" sz="1600" dirty="0">
                    <a:solidFill>
                      <a:srgbClr val="F7F8FC"/>
                    </a:solidFill>
                  </a:rPr>
                  <a:t>High computational/memory demands → patch-based training, sliding-window inference</a:t>
                </a:r>
                <a:endParaRPr lang="en-US" sz="1600" b="1" i="0" dirty="0">
                  <a:solidFill>
                    <a:srgbClr val="F7F8FC"/>
                  </a:solidFill>
                  <a:effectLst/>
                </a:endParaRPr>
              </a:p>
              <a:p>
                <a:pPr>
                  <a:lnSpc>
                    <a:spcPct val="112000"/>
                  </a:lnSpc>
                  <a:buSzPct val="100000"/>
                </a:pPr>
                <a:endParaRPr lang="en-US" sz="1600" b="0" i="0" dirty="0">
                  <a:solidFill>
                    <a:srgbClr val="F7F8FC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8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2236361"/>
                <a:ext cx="5394960" cy="3528278"/>
              </a:xfrm>
              <a:prstGeom prst="rect">
                <a:avLst/>
              </a:prstGeom>
              <a:blipFill>
                <a:blip r:embed="rId3"/>
                <a:stretch>
                  <a:fillRect l="-706" r="-70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CCBB5BBF-3320-B1C4-BC15-162CC7F92D0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289" t="2455" r="12166" b="3273"/>
          <a:stretch/>
        </p:blipFill>
        <p:spPr>
          <a:xfrm>
            <a:off x="7595917" y="2404872"/>
            <a:ext cx="941210" cy="12980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7636796-08B2-FC93-9AA4-28F052F79E2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605" t="1171" r="2324" b="2288"/>
          <a:stretch/>
        </p:blipFill>
        <p:spPr>
          <a:xfrm>
            <a:off x="10024164" y="2404872"/>
            <a:ext cx="988760" cy="1298064"/>
          </a:xfrm>
          <a:prstGeom prst="rect">
            <a:avLst/>
          </a:prstGeom>
        </p:spPr>
      </p:pic>
      <p:sp>
        <p:nvSpPr>
          <p:cNvPr id="11" name="Down Arrow 10">
            <a:extLst>
              <a:ext uri="{FF2B5EF4-FFF2-40B4-BE49-F238E27FC236}">
                <a16:creationId xmlns:a16="http://schemas.microsoft.com/office/drawing/2014/main" id="{C3E84BA1-0F55-C1EE-D4AB-5548B6D9E737}"/>
              </a:ext>
            </a:extLst>
          </p:cNvPr>
          <p:cNvSpPr/>
          <p:nvPr/>
        </p:nvSpPr>
        <p:spPr>
          <a:xfrm rot="16200000">
            <a:off x="9251353" y="2654388"/>
            <a:ext cx="325677" cy="451558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E9F56AC-7DC5-22FE-44FC-9A3907F36B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5916" y="4790414"/>
            <a:ext cx="3681684" cy="1137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684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739"/>
            <a:ext cx="12191695" cy="1234440"/>
          </a:xfrm>
          <a:prstGeom prst="rect">
            <a:avLst/>
          </a:prstGeom>
          <a:solidFill>
            <a:srgbClr val="0E1A2E">
              <a:alpha val="95000"/>
            </a:srgbClr>
          </a:solidFill>
          <a:ln w="12700">
            <a:solidFill>
              <a:srgbClr val="0E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cs typeface="Calibri" pitchFamily="34" charset="-120"/>
              </a:rPr>
              <a:t>Performance Metrics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13232" y="82296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247120" y="39319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10972800" cy="507492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 b="0" i="1" dirty="0">
              <a:latin typeface="Cambria Math" panose="02040503050406030204" pitchFamily="18" charset="0"/>
            </a:endParaRPr>
          </a:p>
          <a:p>
            <a:endParaRPr lang="en-US" i="1" dirty="0">
              <a:latin typeface="Cambria Math" panose="02040503050406030204" pitchFamily="18" charset="0"/>
            </a:endParaRPr>
          </a:p>
          <a:p>
            <a:endParaRPr lang="en-US" b="0" i="1" dirty="0">
              <a:latin typeface="Cambria Math" panose="02040503050406030204" pitchFamily="18" charset="0"/>
            </a:endParaRPr>
          </a:p>
          <a:p>
            <a:endParaRPr lang="en-US" i="1" dirty="0">
              <a:latin typeface="Cambria Math" panose="02040503050406030204" pitchFamily="18" charset="0"/>
            </a:endParaRPr>
          </a:p>
          <a:p>
            <a:endParaRPr lang="en-US" b="0" i="1" dirty="0">
              <a:latin typeface="Cambria Math" panose="02040503050406030204" pitchFamily="18" charset="0"/>
            </a:endParaRPr>
          </a:p>
          <a:p>
            <a:endParaRPr lang="en-US" i="1" dirty="0">
              <a:latin typeface="Cambria Math" panose="02040503050406030204" pitchFamily="18" charset="0"/>
            </a:endParaRPr>
          </a:p>
          <a:p>
            <a:endParaRPr lang="en-US" b="0" i="1" dirty="0">
              <a:latin typeface="Cambria Math" panose="02040503050406030204" pitchFamily="18" charset="0"/>
            </a:endParaRPr>
          </a:p>
          <a:p>
            <a:endParaRPr lang="en-US" i="1" dirty="0">
              <a:latin typeface="Cambria Math" panose="020405030504060302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05840" y="1737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D4BF"/>
                </a:solidFill>
                <a:ea typeface="Calibri" pitchFamily="34" charset="-122"/>
                <a:cs typeface="Calibri" pitchFamily="34" charset="-120"/>
              </a:rPr>
              <a:t>Dice Coefficient (DSC) (Figure on the right)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7"/>
              <p:cNvSpPr/>
              <p:nvPr/>
            </p:nvSpPr>
            <p:spPr>
              <a:xfrm>
                <a:off x="1005840" y="1930527"/>
                <a:ext cx="10241280" cy="215569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𝐷𝑆𝐶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∩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𝐺</m:t>
                            </m:r>
                          </m:e>
                        </m:d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d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𝐺</m:t>
                            </m:r>
                          </m:e>
                        </m:d>
                      </m:den>
                    </m:f>
                  </m:oMath>
                </a14:m>
                <a:r>
                  <a:rPr lang="en-US" sz="2200" i="1" dirty="0"/>
                  <a:t> </a:t>
                </a:r>
              </a:p>
              <a:p>
                <a:endParaRPr lang="en-US" dirty="0"/>
              </a:p>
              <a:p>
                <a:r>
                  <a:rPr lang="en-US" dirty="0"/>
                  <a:t>Values [0,1], 1 = perfect overlap.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200" dirty="0"/>
              </a:p>
            </p:txBody>
          </p:sp>
        </mc:Choice>
        <mc:Fallback xmlns="">
          <p:sp>
            <p:nvSpPr>
              <p:cNvPr id="9" name="Text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840" y="1930527"/>
                <a:ext cx="10241280" cy="2155698"/>
              </a:xfrm>
              <a:prstGeom prst="rect">
                <a:avLst/>
              </a:prstGeom>
              <a:blipFill>
                <a:blip r:embed="rId3"/>
                <a:stretch>
                  <a:fillRect l="-49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8"/>
          <p:cNvSpPr/>
          <p:nvPr/>
        </p:nvSpPr>
        <p:spPr>
          <a:xfrm>
            <a:off x="1005840" y="2880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329184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05839" y="3463286"/>
            <a:ext cx="663653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D4BF"/>
                </a:solidFill>
                <a:ea typeface="Calibri" pitchFamily="34" charset="-122"/>
                <a:cs typeface="Calibri" pitchFamily="34" charset="-120"/>
              </a:rPr>
              <a:t>Intersection over Union (</a:t>
            </a:r>
            <a:r>
              <a:rPr lang="en-US" b="1" dirty="0" err="1">
                <a:solidFill>
                  <a:srgbClr val="2DD4BF"/>
                </a:solidFill>
                <a:ea typeface="Calibri" pitchFamily="34" charset="-122"/>
                <a:cs typeface="Calibri" pitchFamily="34" charset="-120"/>
              </a:rPr>
              <a:t>IoU</a:t>
            </a:r>
            <a:r>
              <a:rPr lang="en-US" b="1" dirty="0">
                <a:solidFill>
                  <a:srgbClr val="2DD4BF"/>
                </a:solidFill>
                <a:ea typeface="Calibri" pitchFamily="34" charset="-122"/>
                <a:cs typeface="Calibri" pitchFamily="34" charset="-120"/>
              </a:rPr>
              <a:t>/Jaccard)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15841" y="3323987"/>
            <a:ext cx="10241280" cy="18519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1AE4819-B564-E687-BDEA-342088C547C1}"/>
                  </a:ext>
                </a:extLst>
              </p:cNvPr>
              <p:cNvSpPr txBox="1"/>
              <p:nvPr/>
            </p:nvSpPr>
            <p:spPr>
              <a:xfrm>
                <a:off x="91315" y="3943923"/>
                <a:ext cx="3074580" cy="9666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i="1" dirty="0"/>
                  <a:t>								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𝐼𝑜𝑈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endParaRPr lang="en-US" sz="2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1AE4819-B564-E687-BDEA-342088C547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15" y="3943923"/>
                <a:ext cx="3074580" cy="966611"/>
              </a:xfrm>
              <a:prstGeom prst="rect">
                <a:avLst/>
              </a:prstGeom>
              <a:blipFill>
                <a:blip r:embed="rId4"/>
                <a:stretch>
                  <a:fillRect b="-38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57319C2B-4D81-B854-C242-95679D5CF019}"/>
              </a:ext>
            </a:extLst>
          </p:cNvPr>
          <p:cNvSpPr txBox="1"/>
          <p:nvPr/>
        </p:nvSpPr>
        <p:spPr>
          <a:xfrm>
            <a:off x="1005840" y="5012762"/>
            <a:ext cx="94871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Suitable for severe class imbalance (especially DSC).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Additional monitoring:</a:t>
            </a:r>
            <a:r>
              <a:rPr lang="en-US" dirty="0"/>
              <a:t> Training/validation loss (</a:t>
            </a:r>
            <a:r>
              <a:rPr lang="en-US" dirty="0" err="1"/>
              <a:t>DiceCELoss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Qualitative assessment: </a:t>
            </a:r>
            <a:r>
              <a:rPr lang="en-US" dirty="0"/>
              <a:t>Visual inspection of boundary quality, false positives/negatives</a:t>
            </a:r>
            <a:endParaRPr lang="en-US" b="1" dirty="0"/>
          </a:p>
        </p:txBody>
      </p:sp>
      <p:pic>
        <p:nvPicPr>
          <p:cNvPr id="16" name="Picture 15" descr="Dice Coefficient Illustrated&#10;">
            <a:extLst>
              <a:ext uri="{FF2B5EF4-FFF2-40B4-BE49-F238E27FC236}">
                <a16:creationId xmlns:a16="http://schemas.microsoft.com/office/drawing/2014/main" id="{7A07BF30-E10A-C41A-BE13-C289ED28C8B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6265" y="1707412"/>
            <a:ext cx="1908215" cy="2121634"/>
          </a:xfrm>
          <a:prstGeom prst="rect">
            <a:avLst/>
          </a:prstGeom>
        </p:spPr>
      </p:pic>
      <p:pic>
        <p:nvPicPr>
          <p:cNvPr id="2050" name="Picture 2" descr="Intersection Over Union IoU in Object Detection Segmentation">
            <a:extLst>
              <a:ext uri="{FF2B5EF4-FFF2-40B4-BE49-F238E27FC236}">
                <a16:creationId xmlns:a16="http://schemas.microsoft.com/office/drawing/2014/main" id="{29FF591A-63A3-DEE0-4D41-D80A6A7512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054"/>
          <a:stretch/>
        </p:blipFill>
        <p:spPr bwMode="auto">
          <a:xfrm>
            <a:off x="3175896" y="3939981"/>
            <a:ext cx="3598455" cy="1303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739"/>
            <a:ext cx="12191695" cy="1234440"/>
          </a:xfrm>
          <a:prstGeom prst="rect">
            <a:avLst/>
          </a:prstGeom>
          <a:solidFill>
            <a:srgbClr val="0E1A2E">
              <a:alpha val="95000"/>
            </a:srgbClr>
          </a:solidFill>
          <a:ln w="12700">
            <a:solidFill>
              <a:srgbClr val="0E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Convolutional Networks (CNNs) &amp; U-Net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13232" y="82296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247120" y="39319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852160" cy="507492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737360"/>
            <a:ext cx="53949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Dominant family of models for medical segmentation.</a:t>
            </a:r>
            <a:endParaRPr lang="en-US" sz="1800" dirty="0"/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U-Net: </a:t>
            </a:r>
            <a:r>
              <a:rPr lang="en-US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Symmetric encoder-decoder architecture with skip connections.</a:t>
            </a:r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Advantag</a:t>
            </a:r>
            <a:r>
              <a:rPr lang="en-US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es: </a:t>
            </a:r>
            <a:r>
              <a:rPr lang="en-US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Efficiency, emphasis on local morphological features.</a:t>
            </a:r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Variants:</a:t>
            </a:r>
            <a:r>
              <a:rPr lang="en-US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DynUNet</a:t>
            </a:r>
            <a:r>
              <a:rPr lang="en-US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 (dynamic adaptation), </a:t>
            </a:r>
            <a:r>
              <a:rPr lang="en-US" dirty="0" err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SegResNet</a:t>
            </a:r>
            <a:r>
              <a:rPr lang="en-US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 (residual blocks), Attention U-Net.</a:t>
            </a:r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endParaRPr lang="en-US" sz="1800" dirty="0"/>
          </a:p>
        </p:txBody>
      </p:sp>
      <p:pic>
        <p:nvPicPr>
          <p:cNvPr id="11" name="Image 0" descr="/mnt/data/u-net-architecture.jpeg">
            <a:extLst>
              <a:ext uri="{FF2B5EF4-FFF2-40B4-BE49-F238E27FC236}">
                <a16:creationId xmlns:a16="http://schemas.microsoft.com/office/drawing/2014/main" id="{7309049A-6B17-67E6-3D80-B3AB3A7525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422672"/>
            <a:ext cx="3585719" cy="2388145"/>
          </a:xfrm>
          <a:prstGeom prst="rect">
            <a:avLst/>
          </a:prstGeom>
        </p:spPr>
      </p:pic>
      <p:pic>
        <p:nvPicPr>
          <p:cNvPr id="1026" name="Picture 2" descr="unet和segnet的结合-论文笔记-CSDN博客">
            <a:extLst>
              <a:ext uri="{FF2B5EF4-FFF2-40B4-BE49-F238E27FC236}">
                <a16:creationId xmlns:a16="http://schemas.microsoft.com/office/drawing/2014/main" id="{D4F01ADA-A7DE-762B-D2D8-16B80BB029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2280" y="3910239"/>
            <a:ext cx="4273144" cy="1525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B1E4D91-8135-41AA-F257-D84DC3EFCB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9054" y="4672783"/>
            <a:ext cx="1945651" cy="122373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B1183BC-8E34-732B-A7D5-02489EB4E0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2280" y="5534750"/>
            <a:ext cx="3802977" cy="11128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736"/>
            <a:ext cx="12191695" cy="1234440"/>
          </a:xfrm>
          <a:prstGeom prst="rect">
            <a:avLst/>
          </a:prstGeom>
          <a:solidFill>
            <a:srgbClr val="0E1A2E">
              <a:alpha val="95000"/>
            </a:srgbClr>
          </a:solidFill>
          <a:ln w="12700">
            <a:solidFill>
              <a:srgbClr val="0E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Attention Models &amp; Transformers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13232" y="82296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247120" y="39319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Shape 5"/>
              <p:cNvSpPr/>
              <p:nvPr/>
            </p:nvSpPr>
            <p:spPr>
              <a:xfrm>
                <a:off x="685800" y="1463040"/>
                <a:ext cx="7315200" cy="2468880"/>
              </a:xfrm>
              <a:prstGeom prst="roundRect">
                <a:avLst/>
              </a:prstGeom>
              <a:solidFill>
                <a:srgbClr val="121F33">
                  <a:alpha val="92000"/>
                </a:srgbClr>
              </a:solidFill>
              <a:ln w="12700">
                <a:solidFill>
                  <a:srgbClr val="2A3A55">
                    <a:alpha val="8500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en-US" dirty="0"/>
                  <a:t>Self-Attention mechanism for modeling long-range dependencies (global context).</a:t>
                </a:r>
              </a:p>
              <a:p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Challenge:</a:t>
                </a:r>
                <a:r>
                  <a:rPr lang="en-US" dirty="0"/>
                  <a:t> Quadratic cost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for high-resolution 3D data.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Solutions: </a:t>
                </a:r>
                <a:r>
                  <a:rPr lang="en-US" dirty="0"/>
                  <a:t>Hierarchy, local windows (Window Attention).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Models: </a:t>
                </a:r>
                <a:r>
                  <a:rPr lang="en-US" dirty="0"/>
                  <a:t>UNETR (</a:t>
                </a:r>
                <a:r>
                  <a:rPr lang="en-US" dirty="0" err="1"/>
                  <a:t>ViT</a:t>
                </a:r>
                <a:r>
                  <a:rPr lang="en-US" dirty="0"/>
                  <a:t> encoder), </a:t>
                </a:r>
                <a:r>
                  <a:rPr lang="en-US" dirty="0" err="1"/>
                  <a:t>SwinUNETR</a:t>
                </a:r>
                <a:r>
                  <a:rPr lang="en-US" dirty="0"/>
                  <a:t> (</a:t>
                </a:r>
                <a:r>
                  <a:rPr lang="en-US" dirty="0" err="1"/>
                  <a:t>Swin</a:t>
                </a:r>
                <a:r>
                  <a:rPr lang="en-US" dirty="0"/>
                  <a:t> Transformer encoder).</a:t>
                </a:r>
              </a:p>
            </p:txBody>
          </p:sp>
        </mc:Choice>
        <mc:Fallback xmlns="">
          <p:sp>
            <p:nvSpPr>
              <p:cNvPr id="7" name="Shap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1463040"/>
                <a:ext cx="7315200" cy="2468880"/>
              </a:xfrm>
              <a:prstGeom prst="roundRect">
                <a:avLst/>
              </a:prstGeom>
              <a:blipFill>
                <a:blip r:embed="rId3"/>
                <a:stretch>
                  <a:fillRect b="-1015"/>
                </a:stretch>
              </a:blipFill>
              <a:ln w="12700">
                <a:solidFill>
                  <a:srgbClr val="2A3A55">
                    <a:alpha val="8500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6"/>
          <p:cNvSpPr/>
          <p:nvPr/>
        </p:nvSpPr>
        <p:spPr>
          <a:xfrm>
            <a:off x="960120" y="1737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205740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2000"/>
              </a:lnSpc>
              <a:buSzPct val="100000"/>
              <a:buChar char="•"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3611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0120" y="393192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2000"/>
              </a:lnSpc>
              <a:buSzPct val="100000"/>
            </a:pP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17373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92040" y="2057400"/>
            <a:ext cx="31546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2000"/>
              </a:lnSpc>
              <a:buSzPct val="100000"/>
              <a:buChar char="•"/>
            </a:pPr>
            <a:endParaRPr lang="en-US" sz="1400" dirty="0"/>
          </a:p>
        </p:txBody>
      </p:sp>
      <p:pic>
        <p:nvPicPr>
          <p:cNvPr id="16" name="Image 0" descr="/mnt/data/attention-module.png"/>
          <p:cNvPicPr>
            <a:picLocks noChangeAspect="1"/>
          </p:cNvPicPr>
          <p:nvPr/>
        </p:nvPicPr>
        <p:blipFill rotWithShape="1">
          <a:blip r:embed="rId4"/>
          <a:srcRect l="7911" r="22242"/>
          <a:stretch/>
        </p:blipFill>
        <p:spPr>
          <a:xfrm>
            <a:off x="8693331" y="2037994"/>
            <a:ext cx="2708692" cy="3467812"/>
          </a:xfrm>
          <a:prstGeom prst="rect">
            <a:avLst/>
          </a:prstGeom>
        </p:spPr>
      </p:pic>
      <p:pic>
        <p:nvPicPr>
          <p:cNvPr id="18" name="Image 1" descr="/mnt/data/swin vs v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3943350"/>
            <a:ext cx="2476429" cy="1294819"/>
          </a:xfrm>
          <a:prstGeom prst="rect">
            <a:avLst/>
          </a:prstGeom>
        </p:spPr>
      </p:pic>
      <p:pic>
        <p:nvPicPr>
          <p:cNvPr id="6146" name="Picture 2" descr="2103.14030] Swin Transformer: Hierarchical Vision Transformer using Shifted  Windows">
            <a:extLst>
              <a:ext uri="{FF2B5EF4-FFF2-40B4-BE49-F238E27FC236}">
                <a16:creationId xmlns:a16="http://schemas.microsoft.com/office/drawing/2014/main" id="{14E50D46-5CDD-157F-2F9D-5C78DFD104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120" y="5147817"/>
            <a:ext cx="3200400" cy="1238905"/>
          </a:xfrm>
          <a:prstGeom prst="rect">
            <a:avLst/>
          </a:prstGeom>
          <a:solidFill>
            <a:schemeClr val="tx1"/>
          </a:solidFill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8862C21-63A9-9CA0-3FAA-B0E6FC9E00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8753" y="4145986"/>
            <a:ext cx="1982289" cy="2003661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DF9F549-AFB5-52A3-D56F-16F0BEC017BF}"/>
              </a:ext>
            </a:extLst>
          </p:cNvPr>
          <p:cNvCxnSpPr>
            <a:cxnSpLocks/>
          </p:cNvCxnSpPr>
          <p:nvPr/>
        </p:nvCxnSpPr>
        <p:spPr>
          <a:xfrm flipH="1">
            <a:off x="5584371" y="3611880"/>
            <a:ext cx="1004208" cy="43760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5" y="219737"/>
            <a:ext cx="12191695" cy="1234440"/>
          </a:xfrm>
          <a:prstGeom prst="rect">
            <a:avLst/>
          </a:prstGeom>
          <a:solidFill>
            <a:srgbClr val="0E1A2E">
              <a:alpha val="95000"/>
            </a:srgbClr>
          </a:solidFill>
          <a:ln w="12700">
            <a:solidFill>
              <a:srgbClr val="0E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Emerging Approach: State Space Models (SSMs)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13232" y="82296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247120" y="39319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cs typeface="Calibri" pitchFamily="34" charset="-120"/>
              </a:rPr>
              <a:t>10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Shape 5"/>
              <p:cNvSpPr/>
              <p:nvPr/>
            </p:nvSpPr>
            <p:spPr>
              <a:xfrm>
                <a:off x="685799" y="1463041"/>
                <a:ext cx="6449785" cy="2545624"/>
              </a:xfrm>
              <a:prstGeom prst="roundRect">
                <a:avLst/>
              </a:prstGeom>
              <a:solidFill>
                <a:srgbClr val="121F33">
                  <a:alpha val="92000"/>
                </a:srgbClr>
              </a:solidFill>
              <a:ln w="12700">
                <a:solidFill>
                  <a:srgbClr val="2A3A55">
                    <a:alpha val="8500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en-US" sz="1200" b="1" dirty="0"/>
                  <a:t>RNNs:  </a:t>
                </a:r>
                <a:r>
                  <a:rPr lang="en-US" sz="1200" dirty="0"/>
                  <a:t>“Great memory… until sequence gets long and they </a:t>
                </a:r>
                <a:r>
                  <a:rPr lang="en-US" sz="1200" i="1" dirty="0"/>
                  <a:t>forget </a:t>
                </a:r>
                <a:r>
                  <a:rPr lang="en-US" sz="1200" dirty="0"/>
                  <a:t>(and training gets slow).”</a:t>
                </a:r>
              </a:p>
              <a:p>
                <a:r>
                  <a:rPr lang="en-US" sz="1200" b="1" dirty="0"/>
                  <a:t>Transformers: </a:t>
                </a:r>
                <a:r>
                  <a:rPr lang="en-US" sz="1200" dirty="0"/>
                  <a:t>“Great context… until attention decides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b="1" dirty="0"/>
                  <a:t> </a:t>
                </a:r>
                <a:r>
                  <a:rPr lang="en-US" sz="1200" dirty="0"/>
                  <a:t>is a perfectly normal lifestyle.”</a:t>
                </a:r>
              </a:p>
              <a:p>
                <a:r>
                  <a:rPr lang="en-US" sz="1200" b="1" dirty="0"/>
                  <a:t>SSMs(S6): </a:t>
                </a:r>
                <a:r>
                  <a:rPr lang="en-US" sz="1200" dirty="0"/>
                  <a:t>“Same long-range vibe, but </a:t>
                </a:r>
                <a:r>
                  <a:rPr lang="en-US" sz="1200" i="1" dirty="0"/>
                  <a:t>linear-time-</a:t>
                </a:r>
                <a:r>
                  <a:rPr lang="en-US" sz="1200" dirty="0"/>
                  <a:t>like attention, but on a budget.”</a:t>
                </a:r>
                <a:endParaRPr lang="en-US" sz="1200" b="1" dirty="0"/>
              </a:p>
            </p:txBody>
          </p:sp>
        </mc:Choice>
        <mc:Fallback xmlns="">
          <p:sp>
            <p:nvSpPr>
              <p:cNvPr id="7" name="Shap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799" y="1463041"/>
                <a:ext cx="6449785" cy="2545624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2A3A55">
                    <a:alpha val="8500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6"/>
          <p:cNvSpPr/>
          <p:nvPr/>
        </p:nvSpPr>
        <p:spPr>
          <a:xfrm>
            <a:off x="926966" y="2883297"/>
            <a:ext cx="6208618" cy="11253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cs typeface="Calibri" pitchFamily="34" charset="-120"/>
              </a:rPr>
              <a:t>Long-range dependencies + linear scaling.</a:t>
            </a:r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cs typeface="Calibri" pitchFamily="34" charset="-120"/>
              </a:rPr>
              <a:t>Mamba:  </a:t>
            </a:r>
            <a:r>
              <a:rPr lang="en-US" sz="1200" dirty="0">
                <a:solidFill>
                  <a:srgbClr val="FFFFFF"/>
                </a:solidFill>
                <a:cs typeface="Calibri" pitchFamily="34" charset="-120"/>
              </a:rPr>
              <a:t>Selective State Space Models, ability to </a:t>
            </a:r>
            <a:r>
              <a:rPr lang="en-US" sz="1200" b="1" dirty="0">
                <a:solidFill>
                  <a:srgbClr val="FFFFFF"/>
                </a:solidFill>
                <a:cs typeface="Calibri" pitchFamily="34" charset="-120"/>
              </a:rPr>
              <a:t>filter</a:t>
            </a:r>
            <a:r>
              <a:rPr lang="en-US" sz="1200" dirty="0">
                <a:solidFill>
                  <a:srgbClr val="FFFFFF"/>
                </a:solidFill>
                <a:cs typeface="Calibri" pitchFamily="34" charset="-120"/>
              </a:rPr>
              <a:t> </a:t>
            </a:r>
            <a:r>
              <a:rPr lang="en-US" sz="1200" u="sng" dirty="0">
                <a:solidFill>
                  <a:srgbClr val="FFFFFF"/>
                </a:solidFill>
                <a:cs typeface="Calibri" pitchFamily="34" charset="-120"/>
              </a:rPr>
              <a:t>irrelevant</a:t>
            </a:r>
            <a:r>
              <a:rPr lang="en-US" sz="1200" dirty="0">
                <a:solidFill>
                  <a:srgbClr val="FFFFFF"/>
                </a:solidFill>
                <a:cs typeface="Calibri" pitchFamily="34" charset="-120"/>
              </a:rPr>
              <a:t> data.</a:t>
            </a:r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cs typeface="Calibri" pitchFamily="34" charset="-120"/>
              </a:rPr>
              <a:t>Content-dependent parameterization (content-based selection).</a:t>
            </a:r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200" b="1" dirty="0" err="1">
                <a:solidFill>
                  <a:srgbClr val="FFFFFF"/>
                </a:solidFill>
                <a:cs typeface="Calibri" pitchFamily="34" charset="-120"/>
              </a:rPr>
              <a:t>SegMamba</a:t>
            </a:r>
            <a:r>
              <a:rPr lang="en-US" sz="1200" b="1" dirty="0">
                <a:solidFill>
                  <a:srgbClr val="FFFFFF"/>
                </a:solidFill>
                <a:cs typeface="Calibri" pitchFamily="34" charset="-120"/>
              </a:rPr>
              <a:t>: </a:t>
            </a:r>
            <a:r>
              <a:rPr lang="en-US" sz="1200" dirty="0">
                <a:solidFill>
                  <a:srgbClr val="FFFFFF"/>
                </a:solidFill>
                <a:cs typeface="Calibri" pitchFamily="34" charset="-120"/>
              </a:rPr>
              <a:t>Mamba blocks in U-shape design for 3D segmentation.</a:t>
            </a:r>
            <a:endParaRPr lang="en-US" sz="1200" b="1" dirty="0">
              <a:solidFill>
                <a:srgbClr val="FFFFFF"/>
              </a:solidFill>
              <a:cs typeface="Calibri" pitchFamily="34" charset="-120"/>
            </a:endParaRPr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0438D165-06EA-37E3-E466-95DF15523069}"/>
              </a:ext>
            </a:extLst>
          </p:cNvPr>
          <p:cNvSpPr/>
          <p:nvPr/>
        </p:nvSpPr>
        <p:spPr>
          <a:xfrm>
            <a:off x="6537960" y="3130185"/>
            <a:ext cx="5394960" cy="2054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2000"/>
              </a:lnSpc>
              <a:buSzPct val="100000"/>
              <a:buChar char="•"/>
            </a:pPr>
            <a:endParaRPr lang="en-US" b="1" dirty="0">
              <a:solidFill>
                <a:srgbClr val="FFFFFF"/>
              </a:solidFill>
              <a:cs typeface="Calibri" pitchFamily="34" charset="-12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23D562C-D0D6-EAED-58B1-4FD099B7F4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799" y="4157253"/>
            <a:ext cx="2987440" cy="117075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C9F4247-47C4-BE86-778D-6B33B8BF5D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0589" y="4157253"/>
            <a:ext cx="2964263" cy="117075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83D7D98-8050-D3F8-B4A8-8B8C69270E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2202" y="2524224"/>
            <a:ext cx="3469715" cy="115295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6714D5E-7A27-EBF5-778E-058632B047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32202" y="3767331"/>
            <a:ext cx="3469714" cy="1139687"/>
          </a:xfrm>
          <a:prstGeom prst="rect">
            <a:avLst/>
          </a:prstGeom>
        </p:spPr>
      </p:pic>
      <p:pic>
        <p:nvPicPr>
          <p:cNvPr id="7170" name="Picture 2">
            <a:extLst>
              <a:ext uri="{FF2B5EF4-FFF2-40B4-BE49-F238E27FC236}">
                <a16:creationId xmlns:a16="http://schemas.microsoft.com/office/drawing/2014/main" id="{96D0634D-C2F0-15C2-368C-4877665341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2203" y="1781411"/>
            <a:ext cx="3469714" cy="65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EA47A2F-3323-FF4C-1329-52DD2C5C601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32202" y="4997168"/>
            <a:ext cx="3469714" cy="104590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E1A2E">
              <a:alpha val="95000"/>
            </a:srgbClr>
          </a:solidFill>
          <a:ln w="12700">
            <a:solidFill>
              <a:srgbClr val="0E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13232" y="82296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Encoder–decoder with skip connections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247120" y="39319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4937760" cy="507492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737360"/>
            <a:ext cx="4434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 in medical imaging.</a:t>
            </a:r>
            <a:endParaRPr lang="en-US" sz="1800" dirty="0"/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inductive bias for locality.</a:t>
            </a:r>
            <a:endParaRPr lang="en-US" sz="1800" dirty="0"/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to train compared to heavier models.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806440" y="1463040"/>
            <a:ext cx="5715000" cy="278892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p:spPr>
      </p:sp>
      <p:pic>
        <p:nvPicPr>
          <p:cNvPr id="10" name="Image 0" descr="/mnt/data/u-net-architectur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4793" y="1645920"/>
            <a:ext cx="3638293" cy="24231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806440" y="4434840"/>
            <a:ext cx="5715000" cy="210312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p:spPr>
      </p:sp>
      <p:pic>
        <p:nvPicPr>
          <p:cNvPr id="12" name="Image 1" descr="/mnt/data/segmentation_masks_UN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3842" y="4572000"/>
            <a:ext cx="3000195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E1A2E">
              <a:alpha val="95000"/>
            </a:srgbClr>
          </a:solidFill>
          <a:ln w="12700">
            <a:solidFill>
              <a:srgbClr val="0E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U-Net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13232" y="82296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gates refine skip connections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247120" y="39319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852160" cy="507492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737360"/>
            <a:ext cx="5394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suppresses irrelevant activations from the encoder.</a:t>
            </a:r>
            <a:endParaRPr lang="en-US" sz="1800" dirty="0"/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focus on placenta-like regions.</a:t>
            </a:r>
            <a:endParaRPr lang="en-US" sz="1800" dirty="0"/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improves boundary quality and reduces false positives.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3520440"/>
            <a:ext cx="5852160" cy="301752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p:spPr>
      </p:sp>
      <p:pic>
        <p:nvPicPr>
          <p:cNvPr id="10" name="Image 0" descr="/mnt/data/AttUNET attention g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226466"/>
            <a:ext cx="5486400" cy="1605467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903720" y="1463040"/>
            <a:ext cx="4617720" cy="507492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p:spPr>
      </p:sp>
      <p:pic>
        <p:nvPicPr>
          <p:cNvPr id="12" name="Image 1" descr="/mnt/data/segmentation_masks_AttentionUn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2712454"/>
            <a:ext cx="4251960" cy="257609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E1A2E">
              <a:alpha val="95000"/>
            </a:srgbClr>
          </a:solidFill>
          <a:ln w="12700">
            <a:solidFill>
              <a:srgbClr val="0E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DynUNet (MONAI)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13232" y="82296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Auto-configured U-Net style network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247120" y="39319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852160" cy="507492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737360"/>
            <a:ext cx="5394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adapts depth/strides/kernels to the data spacing.</a:t>
            </a:r>
            <a:endParaRPr lang="en-US" sz="1800" dirty="0"/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baseline for 3D segmentation.</a:t>
            </a:r>
            <a:endParaRPr lang="en-US" sz="1800" dirty="0"/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accuracy, moderate cost.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903720" y="1463040"/>
            <a:ext cx="4617720" cy="2377440"/>
          </a:xfrm>
          <a:prstGeom prst="roundRect">
            <a:avLst/>
          </a:prstGeom>
          <a:solidFill>
            <a:srgbClr val="0F223A">
              <a:alpha val="88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78040" y="169164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figure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78040" y="2103120"/>
            <a:ext cx="4069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 small DynUNet diagram or a block schematic (encoder/decoder + skip connections).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03720" y="4160520"/>
            <a:ext cx="4617720" cy="2377440"/>
          </a:xfrm>
          <a:prstGeom prst="roundRect">
            <a:avLst/>
          </a:prstGeom>
          <a:solidFill>
            <a:srgbClr val="0F223A">
              <a:alpha val="88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78040" y="438912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qualitative output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78040" y="4800600"/>
            <a:ext cx="4069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 representative DynUNet qualitative example (MRI | GT | Prediction).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E1A2E">
              <a:alpha val="95000"/>
            </a:srgbClr>
          </a:solidFill>
          <a:ln w="12700">
            <a:solidFill>
              <a:srgbClr val="0E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SegResNet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13232" y="82296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blocks for deeper 3D models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247120" y="39319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852160" cy="507492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737360"/>
            <a:ext cx="539496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connections stabilize optimization.</a:t>
            </a:r>
            <a:endParaRPr lang="en-US" sz="1800" dirty="0"/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variants: lighter vs heavier (filters).</a:t>
            </a:r>
            <a:endParaRPr lang="en-US" sz="1800" dirty="0"/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our runs: among top Dice performers.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903720" y="1463040"/>
            <a:ext cx="4617720" cy="2377440"/>
          </a:xfrm>
          <a:prstGeom prst="roundRect">
            <a:avLst/>
          </a:prstGeom>
          <a:solidFill>
            <a:srgbClr val="0F223A">
              <a:alpha val="88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78040" y="169164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figure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78040" y="2103120"/>
            <a:ext cx="4069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 residual block schematic + SegResNet encoder/decoder overview.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03720" y="4160520"/>
            <a:ext cx="4617720" cy="2377440"/>
          </a:xfrm>
          <a:prstGeom prst="roundRect">
            <a:avLst/>
          </a:prstGeom>
          <a:solidFill>
            <a:srgbClr val="0F223A">
              <a:alpha val="88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78040" y="438912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curves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78040" y="4800600"/>
            <a:ext cx="4069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SegResNet training curves (Dice &amp; Val loss per epoch).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E1A2E">
              <a:alpha val="95000"/>
            </a:srgbClr>
          </a:solidFill>
          <a:ln w="12700">
            <a:solidFill>
              <a:srgbClr val="0E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in vision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13232" y="82296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context, patch tokens, higher cost in 3D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247120" y="39319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852160" cy="507492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926080"/>
            <a:ext cx="5394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image/volume into patch tokens.</a:t>
            </a:r>
            <a:endParaRPr lang="en-US" sz="1800" dirty="0"/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models long-range dependencies.</a:t>
            </a:r>
            <a:endParaRPr lang="en-US" sz="1800" dirty="0"/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global context; expensive for large 3D volumes.</a:t>
            </a:r>
            <a:endParaRPr lang="en-US" sz="1800" dirty="0"/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Swin: hierarchical windows → better scaling than full ViT.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903720" y="1463040"/>
            <a:ext cx="4617720" cy="237744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p:spPr>
      </p:sp>
      <p:pic>
        <p:nvPicPr>
          <p:cNvPr id="10" name="Image 0" descr="/mnt/data/swin vs v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8842" y="1645920"/>
            <a:ext cx="3847475" cy="20116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903720" y="3749040"/>
            <a:ext cx="4617720" cy="278892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p:spPr>
      </p:sp>
      <p:pic>
        <p:nvPicPr>
          <p:cNvPr id="12" name="Image 1" descr="/mnt/data/attention-modu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7662" y="3931920"/>
            <a:ext cx="2709835" cy="24231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E1A2E">
              <a:alpha val="95000"/>
            </a:srgbClr>
          </a:solidFill>
          <a:ln w="12700">
            <a:solidFill>
              <a:srgbClr val="0E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UNETR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13232" y="82296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encoder + U-shaped decoder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247120" y="39319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852160" cy="507492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737360"/>
            <a:ext cx="5394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encoder provides global context.</a:t>
            </a:r>
            <a:endParaRPr lang="en-US" sz="1800" dirty="0"/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reconstructs voxel-level mask.</a:t>
            </a:r>
            <a:endParaRPr lang="en-US" sz="1800" dirty="0"/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underperform with limited data or heavy regularization needs.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903720" y="1463040"/>
            <a:ext cx="4617720" cy="507492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p:spPr>
      </p:sp>
      <p:pic>
        <p:nvPicPr>
          <p:cNvPr id="10" name="Image 0" descr="/mnt/data/segmentation_masks_unetR a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853844"/>
            <a:ext cx="4251960" cy="429331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E1A2E">
              <a:alpha val="95000"/>
            </a:srgbClr>
          </a:solidFill>
          <a:ln w="12700">
            <a:solidFill>
              <a:srgbClr val="0E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SwinUNETR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13232" y="82296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Swin encoder (windowed attention)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247120" y="39319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852160" cy="507492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737360"/>
            <a:ext cx="5394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 attention uses shifted windows → scalable context.</a:t>
            </a:r>
            <a:endParaRPr lang="en-US" sz="1800" dirty="0"/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strong segmentation performance.</a:t>
            </a:r>
            <a:endParaRPr lang="en-US" sz="1800" dirty="0"/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Heavier memory/time footprint in 3D.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903720" y="1463040"/>
            <a:ext cx="4617720" cy="2377440"/>
          </a:xfrm>
          <a:prstGeom prst="roundRect">
            <a:avLst/>
          </a:prstGeom>
          <a:solidFill>
            <a:srgbClr val="0F223A">
              <a:alpha val="88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78040" y="169164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figure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78040" y="2103120"/>
            <a:ext cx="4069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SwinUNETR architecture diagram or a block overview (stages + decoder).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03720" y="4160520"/>
            <a:ext cx="4617720" cy="2377440"/>
          </a:xfrm>
          <a:prstGeom prst="roundRect">
            <a:avLst/>
          </a:prstGeom>
          <a:solidFill>
            <a:srgbClr val="0F223A">
              <a:alpha val="88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78040" y="438912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qualitative output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78040" y="4800600"/>
            <a:ext cx="4069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 representative SwinUNETR qualitative example.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E1A2E">
              <a:alpha val="95000"/>
            </a:srgbClr>
          </a:solidFill>
          <a:ln w="12700">
            <a:solidFill>
              <a:srgbClr val="0E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SSM / Mamba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13232" y="82296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modeling without full self-attention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247120" y="39319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852160" cy="507492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737360"/>
            <a:ext cx="5394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Space Models capture long-range dependencies efficiently.</a:t>
            </a:r>
            <a:endParaRPr lang="en-US" sz="1800" dirty="0"/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Mamba-style selective scanning scales well.</a:t>
            </a:r>
            <a:endParaRPr lang="en-US" sz="1800" dirty="0"/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Promising for 3D where attention can be costly.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903720" y="1463040"/>
            <a:ext cx="4617720" cy="5074920"/>
          </a:xfrm>
          <a:prstGeom prst="roundRect">
            <a:avLst/>
          </a:prstGeom>
          <a:solidFill>
            <a:srgbClr val="0F223A">
              <a:alpha val="88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78040" y="169164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diagram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78040" y="2103120"/>
            <a:ext cx="406908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 simple SSM/Mamba block diagram (input → selective scan → output).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E1A2E">
              <a:alpha val="95000"/>
            </a:srgbClr>
          </a:solidFill>
          <a:ln w="12700">
            <a:solidFill>
              <a:srgbClr val="0E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SegMamba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13232" y="82296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SSM/Mamba blocks inside a segmentation backbone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247120" y="39319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852160" cy="507492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737360"/>
            <a:ext cx="5394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combine long-range modeling + efficient computation.</a:t>
            </a:r>
            <a:endParaRPr lang="en-US" sz="1800" dirty="0"/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our study: best Dice (Heavier variant).</a:t>
            </a:r>
            <a:endParaRPr lang="en-US" sz="1800" dirty="0"/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Qualitatively: stable masks with good overlap in many cases.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903720" y="1463040"/>
            <a:ext cx="4617720" cy="507492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p:spPr>
      </p:sp>
      <p:pic>
        <p:nvPicPr>
          <p:cNvPr id="10" name="Image 0" descr="/mnt/data/segmentation_masks_segmambaHE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2716411"/>
            <a:ext cx="4251960" cy="256817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E1A2E">
              <a:alpha val="95000"/>
            </a:srgbClr>
          </a:solidFill>
          <a:ln w="12700">
            <a:solidFill>
              <a:srgbClr val="0E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2514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3520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→ Pipeline → Training → Validation → Results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06640" y="1280160"/>
            <a:ext cx="4297680" cy="530352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p:spPr>
      </p:sp>
      <p:pic>
        <p:nvPicPr>
          <p:cNvPr id="7" name="Image 0" descr="/mnt/data/Third Slice along segmentation and 3D 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3217328"/>
            <a:ext cx="3931920" cy="142918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E1A2E">
              <a:alpha val="95000"/>
            </a:srgbClr>
          </a:solidFill>
          <a:ln w="12700">
            <a:solidFill>
              <a:srgbClr val="0E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13232" y="82296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NIfTI volumes (.nii) + binary masks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247120" y="39319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852160" cy="507492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737360"/>
            <a:ext cx="53949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case: MRI volume + segmentation mask.</a:t>
            </a:r>
            <a:endParaRPr lang="en-US" sz="1800" dirty="0"/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as NIfTI (.nii/.nii.gz).</a:t>
            </a:r>
            <a:endParaRPr lang="en-US" sz="1800" dirty="0"/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Train/Validation split: 80% / 20% (fixed seed).</a:t>
            </a:r>
            <a:endParaRPr lang="en-US" sz="1800" dirty="0"/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fair comparison across all models.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60120" y="4754880"/>
            <a:ext cx="5303520" cy="502920"/>
          </a:xfrm>
          <a:prstGeom prst="rect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4754880"/>
            <a:ext cx="4242816" cy="5029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48280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80%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482803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20%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903720" y="1463040"/>
            <a:ext cx="4617720" cy="507492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p:spPr>
      </p:sp>
      <p:pic>
        <p:nvPicPr>
          <p:cNvPr id="14" name="Image 0" descr="/mnt/data/Third Slice along segmentation and 3D 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3204883"/>
            <a:ext cx="4251960" cy="154551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E1A2E">
              <a:alpha val="95000"/>
            </a:srgbClr>
          </a:solidFill>
          <a:ln w="12700">
            <a:solidFill>
              <a:srgbClr val="0E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platform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13232" y="82296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Notebook + NVIDIA T4 GPU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247120" y="39319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852160" cy="507492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737360"/>
            <a:ext cx="53949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Environment: Kaggle (Python + MONAI + PyTorch).</a:t>
            </a:r>
            <a:endParaRPr lang="en-US" sz="1800" dirty="0"/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GPU: NVIDIA Tesla T4.</a:t>
            </a:r>
            <a:endParaRPr lang="en-US" sz="1800" dirty="0"/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Patch-based training to fit 3D volumes in memory.</a:t>
            </a:r>
            <a:endParaRPr lang="en-US" sz="1800" dirty="0"/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settings for fair model comparison.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903720" y="1463040"/>
            <a:ext cx="4617720" cy="507492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43800" y="1874520"/>
            <a:ext cx="3337560" cy="2148840"/>
          </a:xfrm>
          <a:prstGeom prst="roundRect">
            <a:avLst/>
          </a:prstGeom>
          <a:solidFill>
            <a:srgbClr val="1B2A44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43800" y="196596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543800" y="233172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T4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909560" y="2971800"/>
            <a:ext cx="2606040" cy="685800"/>
          </a:xfrm>
          <a:prstGeom prst="rect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09560" y="301752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training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SWI inference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E1A2E">
              <a:alpha val="95000"/>
            </a:srgbClr>
          </a:solidFill>
          <a:ln w="12700">
            <a:solidFill>
              <a:srgbClr val="0E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 pipeline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13232" y="82296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MONAI transforms (deterministic → cached)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247120" y="39319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2648" y="1514063"/>
            <a:ext cx="10972800" cy="507492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6424" y="1865376"/>
            <a:ext cx="1565910" cy="726948"/>
          </a:xfrm>
          <a:prstGeom prst="roundRect">
            <a:avLst/>
          </a:prstGeom>
          <a:solidFill>
            <a:srgbClr val="162642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16152" y="1980590"/>
            <a:ext cx="1398879" cy="6300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+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channel-first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70176" y="1865376"/>
            <a:ext cx="1565910" cy="726948"/>
          </a:xfrm>
          <a:prstGeom prst="roundRect">
            <a:avLst/>
          </a:prstGeom>
          <a:solidFill>
            <a:srgbClr val="13223A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79904" y="1980590"/>
            <a:ext cx="1398879" cy="6300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(RAS)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414419" y="1865376"/>
            <a:ext cx="1565910" cy="726948"/>
          </a:xfrm>
          <a:prstGeom prst="roundRect">
            <a:avLst/>
          </a:prstGeom>
          <a:solidFill>
            <a:srgbClr val="162642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4147" y="1980590"/>
            <a:ext cx="1398879" cy="6300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(spacing)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86552" y="1865376"/>
            <a:ext cx="1565910" cy="726948"/>
          </a:xfrm>
          <a:prstGeom prst="roundRect">
            <a:avLst/>
          </a:prstGeom>
          <a:solidFill>
            <a:srgbClr val="13223A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6280" y="1980590"/>
            <a:ext cx="1398879" cy="6300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758685" y="1873789"/>
            <a:ext cx="1565910" cy="726948"/>
          </a:xfrm>
          <a:prstGeom prst="roundRect">
            <a:avLst/>
          </a:prstGeom>
          <a:solidFill>
            <a:srgbClr val="162642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8413" y="1989003"/>
            <a:ext cx="1398879" cy="6300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Foreground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430818" y="1877322"/>
            <a:ext cx="1565910" cy="726948"/>
          </a:xfrm>
          <a:prstGeom prst="roundRect">
            <a:avLst/>
          </a:prstGeom>
          <a:solidFill>
            <a:srgbClr val="13223A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40546" y="1992536"/>
            <a:ext cx="1398879" cy="6300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sampling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augments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60120" y="2880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deterministic steps cached on disk, while augmentations are stochastic during training.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60120" y="3383280"/>
            <a:ext cx="10698480" cy="297180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p:spPr>
      </p:sp>
      <p:pic>
        <p:nvPicPr>
          <p:cNvPr id="27" name="Image 0" descr="/mnt/data/Third Slice along segmentation and 3D 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988403"/>
            <a:ext cx="4846320" cy="1761553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6172200" y="3703320"/>
            <a:ext cx="53035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reduce background, standardize geometry, improve sample efficiency.</a:t>
            </a:r>
            <a:endParaRPr lang="en-US" sz="1600" dirty="0"/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sampling addresses class imbalance and GPU limits.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74427" y="2095072"/>
            <a:ext cx="222707" cy="310165"/>
          </a:xfrm>
          <a:prstGeom prst="rightArrow">
            <a:avLst/>
          </a:prstGeom>
          <a:solidFill>
            <a:srgbClr val="2DD4BF">
              <a:alpha val="90000"/>
            </a:srgbClr>
          </a:solidFill>
          <a:ln w="12700">
            <a:solidFill>
              <a:srgbClr val="2DD4BF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20439" y="2082565"/>
            <a:ext cx="222707" cy="310165"/>
          </a:xfrm>
          <a:prstGeom prst="rightArrow">
            <a:avLst/>
          </a:prstGeom>
          <a:solidFill>
            <a:srgbClr val="2DD4BF">
              <a:alpha val="90000"/>
            </a:srgbClr>
          </a:solidFill>
          <a:ln w="12700">
            <a:solidFill>
              <a:srgbClr val="2DD4BF">
                <a:alpha val="9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23026" y="2078166"/>
            <a:ext cx="222707" cy="310165"/>
          </a:xfrm>
          <a:prstGeom prst="rightArrow">
            <a:avLst/>
          </a:prstGeom>
          <a:solidFill>
            <a:srgbClr val="2DD4BF">
              <a:alpha val="90000"/>
            </a:srgbClr>
          </a:solidFill>
          <a:ln w="12700">
            <a:solidFill>
              <a:srgbClr val="2DD4BF">
                <a:alpha val="9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7591" y="2076419"/>
            <a:ext cx="222707" cy="310165"/>
          </a:xfrm>
          <a:prstGeom prst="rightArrow">
            <a:avLst/>
          </a:prstGeom>
          <a:solidFill>
            <a:srgbClr val="2DD4BF">
              <a:alpha val="90000"/>
            </a:srgbClr>
          </a:solidFill>
          <a:ln w="12700">
            <a:solidFill>
              <a:srgbClr val="2DD4BF">
                <a:alpha val="9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65414" y="2044415"/>
            <a:ext cx="222707" cy="310165"/>
          </a:xfrm>
          <a:prstGeom prst="rightArrow">
            <a:avLst/>
          </a:prstGeom>
          <a:solidFill>
            <a:srgbClr val="2DD4BF">
              <a:alpha val="90000"/>
            </a:srgbClr>
          </a:solidFill>
          <a:ln w="12700">
            <a:solidFill>
              <a:srgbClr val="2DD4BF">
                <a:alpha val="9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E1A2E">
              <a:alpha val="95000"/>
            </a:srgbClr>
          </a:solidFill>
          <a:ln w="12700">
            <a:solidFill>
              <a:srgbClr val="0E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setup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13232" y="82296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• optimizer • scheduler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247120" y="39319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10972800" cy="507492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737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specifics from your code: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2240280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[e.g., DiceLoss + CrossEntropyLoss]  (insert exact config).</a:t>
            </a:r>
            <a:endParaRPr lang="en-US" sz="1800" dirty="0"/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 [e.g., AdamW]  (lr = …, weight decay = …).</a:t>
            </a:r>
            <a:endParaRPr lang="en-US" sz="1800" dirty="0"/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Scheduler: [e.g., CosineAnnealing / ReduceLROnPlateau]  (insert).</a:t>
            </a:r>
            <a:endParaRPr lang="en-US" sz="1800" dirty="0"/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Epochs: 120  •  best model selected by validation mean Dice.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E1A2E">
              <a:alpha val="95000"/>
            </a:srgbClr>
          </a:solidFill>
          <a:ln w="12700">
            <a:solidFill>
              <a:srgbClr val="0E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inference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13232" y="82296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 + Sliding Window Inference (SWI)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247120" y="39319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852160" cy="507492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737360"/>
            <a:ext cx="53949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EMA: smooths weights → more stable validation.</a:t>
            </a:r>
            <a:endParaRPr lang="en-US" sz="1800" dirty="0"/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SWI: run the model on overlapping 3D patches.</a:t>
            </a:r>
            <a:endParaRPr lang="en-US" sz="1800" dirty="0"/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predictions to reconstruct the full 3D mask.</a:t>
            </a:r>
            <a:endParaRPr lang="en-US" sz="1800" dirty="0"/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metrics on the reconstructed volume.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903720" y="1463040"/>
            <a:ext cx="4617720" cy="507492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23760" y="1874520"/>
            <a:ext cx="3977640" cy="777240"/>
          </a:xfrm>
          <a:prstGeom prst="roundRect">
            <a:avLst/>
          </a:prstGeom>
          <a:solidFill>
            <a:srgbClr val="162642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3760" y="205740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volume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098280" y="2697480"/>
            <a:ext cx="228600" cy="411480"/>
          </a:xfrm>
          <a:prstGeom prst="downArrow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23760" y="3154680"/>
            <a:ext cx="3977640" cy="868680"/>
          </a:xfrm>
          <a:prstGeom prst="roundRect">
            <a:avLst/>
          </a:prstGeom>
          <a:solidFill>
            <a:srgbClr val="13223A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23760" y="3246120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patches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(sliding window)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098280" y="4160520"/>
            <a:ext cx="228600" cy="411480"/>
          </a:xfrm>
          <a:prstGeom prst="downArrow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23760" y="4617720"/>
            <a:ext cx="3977640" cy="777240"/>
          </a:xfrm>
          <a:prstGeom prst="roundRect">
            <a:avLst/>
          </a:prstGeom>
          <a:solidFill>
            <a:srgbClr val="162642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4709160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mask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metrics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E1A2E">
              <a:alpha val="95000"/>
            </a:srgbClr>
          </a:solidFill>
          <a:ln w="12700">
            <a:solidFill>
              <a:srgbClr val="0E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13232" y="82296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+ training curves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247120" y="39319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943600" cy="507492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737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Dice (best epoch)</a:t>
            </a:r>
            <a:endParaRPr lang="en-US" sz="16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914400" y="2057400"/>
          <a:ext cx="562356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/>
          <p:nvPr/>
        </p:nvSpPr>
        <p:spPr>
          <a:xfrm>
            <a:off x="960120" y="461772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SegMamba (H) ≈ 0.8606  •  SegResNet (H) ≈ 0.8601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812280" y="1463040"/>
            <a:ext cx="4709160" cy="288036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086600" y="17373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curves (Dice &amp; Val loss)</a:t>
            </a:r>
            <a:endParaRPr lang="en-US" sz="1600" dirty="0"/>
          </a:p>
        </p:txBody>
      </p:sp>
      <p:pic>
        <p:nvPicPr>
          <p:cNvPr id="13" name="Image 0" descr="/mnt/data/curves_6_2_clean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2628" y="2057400"/>
            <a:ext cx="3239903" cy="214884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812280" y="4526280"/>
            <a:ext cx="4709160" cy="201168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086600" y="47548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(indicative)</a:t>
            </a:r>
            <a:endParaRPr lang="en-US" sz="1600" dirty="0"/>
          </a:p>
        </p:txBody>
      </p:sp>
      <p:graphicFrame>
        <p:nvGraphicFramePr>
          <p:cNvPr id="16" name="Chart 1"/>
          <p:cNvGraphicFramePr/>
          <p:nvPr/>
        </p:nvGraphicFramePr>
        <p:xfrm>
          <a:off x="7040880" y="5074920"/>
          <a:ext cx="4434840" cy="1417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E1A2E">
              <a:alpha val="95000"/>
            </a:srgbClr>
          </a:solidFill>
          <a:ln w="12700">
            <a:solidFill>
              <a:srgbClr val="0E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results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13232" y="82296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| Ground Truth | Prediction (examples)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247120" y="39319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10972800" cy="507492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737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</a:t>
            </a:r>
            <a:endParaRPr lang="en-US" sz="1400" dirty="0"/>
          </a:p>
        </p:txBody>
      </p:sp>
      <p:pic>
        <p:nvPicPr>
          <p:cNvPr id="9" name="Image 0" descr="/mnt/data/segmentation_masks_UN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4613" y="2011680"/>
            <a:ext cx="3300215" cy="20116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4160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U-Net</a:t>
            </a:r>
            <a:endParaRPr lang="en-US" sz="1400" dirty="0"/>
          </a:p>
        </p:txBody>
      </p:sp>
      <p:pic>
        <p:nvPicPr>
          <p:cNvPr id="11" name="Image 1" descr="/mnt/data/segmentation_masks_AttentionUn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4534" y="4434840"/>
            <a:ext cx="3320372" cy="20116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55080" y="1737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UNETR</a:t>
            </a:r>
            <a:endParaRPr lang="en-US" sz="1400" dirty="0"/>
          </a:p>
        </p:txBody>
      </p:sp>
      <p:pic>
        <p:nvPicPr>
          <p:cNvPr id="13" name="Image 2" descr="/mnt/data/segmentation_masks_unetR a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3528" y="2011680"/>
            <a:ext cx="1992304" cy="20116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355080" y="4160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SegMamba (Heavier)</a:t>
            </a:r>
            <a:endParaRPr lang="en-US" sz="1400" dirty="0"/>
          </a:p>
        </p:txBody>
      </p:sp>
      <p:pic>
        <p:nvPicPr>
          <p:cNvPr id="15" name="Image 3" descr="/mnt/data/segmentation_masks_segmambaHE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4378" y="4434840"/>
            <a:ext cx="3330604" cy="2011680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{22563137-1A4F-4B4C-8640-9787A24165A6}tf10001062</Template>
  <TotalTime>807</TotalTime>
  <Words>1523</Words>
  <Application>Microsoft Macintosh PowerPoint</Application>
  <PresentationFormat>Widescreen</PresentationFormat>
  <Paragraphs>272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Cambria Math</vt:lpstr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Εθνικό Μετσόβιο Πολυτεχνείο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Placenta segmentation in fetal MRI with Deep Learning</dc:subject>
  <dc:creator>Γρηγόριος Τσένος</dc:creator>
  <cp:lastModifiedBy>Γρηγόριος Τσένος</cp:lastModifiedBy>
  <cp:revision>137</cp:revision>
  <dcterms:created xsi:type="dcterms:W3CDTF">2026-02-13T14:48:51Z</dcterms:created>
  <dcterms:modified xsi:type="dcterms:W3CDTF">2026-02-20T13:37:40Z</dcterms:modified>
</cp:coreProperties>
</file>